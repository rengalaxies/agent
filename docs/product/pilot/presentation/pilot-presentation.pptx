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a89eb01f8ce4fd0" Type="http://schemas.openxmlformats.org/package/2006/relationships/metadata/core-properties" Target="docProps/core.xml"/><Relationship Id="R53eec2225a5d47b8" Type="http://schemas.openxmlformats.org/officeDocument/2006/relationships/extended-properties" Target="docProps/app.xml"/><Relationship Id="Ra508eee0961541d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2d9346511a43e3"/>
  </p:sldMasterIdLst>
  <p:notesMasterIdLst>
    <p:notesMasterId xmlns:r="http://schemas.openxmlformats.org/officeDocument/2006/relationships" r:id="Rcf61f0ec867847af"/>
  </p:notesMasterIdLst>
  <p:sldIdLst>
    <p:sldId xmlns:r="http://schemas.openxmlformats.org/officeDocument/2006/relationships" id="256" r:id="Ra0d75984c94747e1"/>
    <p:sldId xmlns:r="http://schemas.openxmlformats.org/officeDocument/2006/relationships" id="257" r:id="Rfb7a44c2b61a48ae"/>
    <p:sldId xmlns:r="http://schemas.openxmlformats.org/officeDocument/2006/relationships" id="258" r:id="Rfcebb8e69ee24db1"/>
    <p:sldId xmlns:r="http://schemas.openxmlformats.org/officeDocument/2006/relationships" id="259" r:id="R851a2484121a4822"/>
    <p:sldId xmlns:r="http://schemas.openxmlformats.org/officeDocument/2006/relationships" id="260" r:id="Rf3840e2df41b4764"/>
    <p:sldId xmlns:r="http://schemas.openxmlformats.org/officeDocument/2006/relationships" id="261" r:id="Rffb430b5fe5d46e1"/>
    <p:sldId xmlns:r="http://schemas.openxmlformats.org/officeDocument/2006/relationships" id="262" r:id="R8ffb009a50c44ed2"/>
    <p:sldId xmlns:r="http://schemas.openxmlformats.org/officeDocument/2006/relationships" id="263" r:id="Rf984cae06bf44f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318629314f8644d6" Type="http://schemas.openxmlformats.org/officeDocument/2006/relationships/theme" Target="theme/theme1.xml"/><Relationship Id="R432d9346511a43e3" Type="http://schemas.openxmlformats.org/officeDocument/2006/relationships/slideMaster" Target="slideMasters/slideMaster1.xml"/><Relationship Id="R851a2484121a4822" Type="http://schemas.openxmlformats.org/officeDocument/2006/relationships/slide" Target="slides/slide4.xml"/><Relationship Id="R8ffb009a50c44ed2" Type="http://schemas.openxmlformats.org/officeDocument/2006/relationships/slide" Target="slides/slide7.xml"/><Relationship Id="R94f800c1fae24884" Type="http://schemas.openxmlformats.org/officeDocument/2006/relationships/tableStyles" Target="tableStyles.xml"/><Relationship Id="R9d167c7d01e44e15" Type="http://schemas.openxmlformats.org/officeDocument/2006/relationships/presProps" Target="presProps.xml"/><Relationship Id="Ra0d75984c94747e1" Type="http://schemas.openxmlformats.org/officeDocument/2006/relationships/slide" Target="slides/slide1.xml"/><Relationship Id="Rcf61f0ec867847af" Type="http://schemas.openxmlformats.org/officeDocument/2006/relationships/notesMaster" Target="notesMasters/notesMaster1.xml"/><Relationship Id="Rf3840e2df41b4764" Type="http://schemas.openxmlformats.org/officeDocument/2006/relationships/slide" Target="slides/slide5.xml"/><Relationship Id="Rf984cae06bf44ffb" Type="http://schemas.openxmlformats.org/officeDocument/2006/relationships/slide" Target="slides/slide8.xml"/><Relationship Id="Rfb7a44c2b61a48ae" Type="http://schemas.openxmlformats.org/officeDocument/2006/relationships/slide" Target="slides/slide2.xml"/><Relationship Id="Rfcebb8e69ee24db1" Type="http://schemas.openxmlformats.org/officeDocument/2006/relationships/slide" Target="slides/slide3.xml"/><Relationship Id="Rffb430b5fe5d46e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62af7cd78fa34cc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8a5b5c32aba479c" Type="http://schemas.openxmlformats.org/officeDocument/2006/relationships/notesMaster" Target="../notesMasters/notesMaster1.xml"/><Relationship Id="Rd6384d88d36c4f7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316fb64d5714f30" Type="http://schemas.openxmlformats.org/officeDocument/2006/relationships/slide" Target="../slides/slide2.xml"/><Relationship Id="Rff82eeb273b341a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04ee1c9d564f4939" Type="http://schemas.openxmlformats.org/officeDocument/2006/relationships/slide" Target="../slides/slide3.xml"/><Relationship Id="R27074f93c58e4d7e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565f5ac9edd4939" Type="http://schemas.openxmlformats.org/officeDocument/2006/relationships/slide" Target="../slides/slide4.xml"/><Relationship Id="R7fa083f68bce4187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3fb30293e69047d8" Type="http://schemas.openxmlformats.org/officeDocument/2006/relationships/slide" Target="../slides/slide5.xml"/><Relationship Id="R6204f1d3bdba4df0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6814a0d4d1124f80" Type="http://schemas.openxmlformats.org/officeDocument/2006/relationships/slide" Target="../slides/slide6.xml"/><Relationship Id="R8702b862703f4db7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e3921c7c41504b60" Type="http://schemas.openxmlformats.org/officeDocument/2006/relationships/notesMaster" Target="../notesMasters/notesMaster1.xml"/><Relationship Id="Re3d821ea6be2455f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702caf302a34345" Type="http://schemas.openxmlformats.org/officeDocument/2006/relationships/notesMaster" Target="../notesMasters/notesMaster1.xml"/><Relationship Id="R89d2483e4e694251" Type="http://schemas.openxmlformats.org/officeDocument/2006/relationships/slide" Target="../slides/slide8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Сервис для команд, которые меняют внутренние HTTP API. Предлагаем закрытый технический пилот на поддерживаемом профиле HTTP/Python. Модель выключена. Спрос, экономия и польза для команды не измерены.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Иллюстрация: задача предлагает ограничить выдачу заказов. Граф связывает потребителя с операцией и основанием. Статическая связь и наблюдение вызова помогают выбрать проверку, но не доказывают будущую поломку. Пример не является клиентским кейсом.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Два входа в один анализ. Задача Jira даёт предварительную область влияния до кода. PR уточняет её по diff двух коммитов. Оба пути реализованы и проверены локально и в CI; на настоящих GitHub и Jira ещё не запускались. Один комментарий обновляется при каждом изменении, оператор на задачу не нужен.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Граф хранит связи с основаниями: источник, версия или окно наблюдения, свежесть. Код даёт объявленные вызовы в профиле HTTP/Python. Структурированные журналы доступа дают наблюдения; трассы пока не подключаются. Статическая находка, наблюдение и гипотеза показываются раздельно.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Сравнение задач по официальным источникам от 24.10.2026; общий эксперимент качества не проводился. Qwen-Agent поддерживает инструменты и MCP. Sourcegraph умеет точную навигацию SCIP. oasdiff сравнивает OpenAPI, Pact проверяет контракты. Tempo строит граф из трасс. Не утверждаем, что у альтернатив нет проверяемых оснований. Гипотеза сервиса — общий актуальный контекст кода и runtime для раннего Jira/PR-инсайта.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Релиз ставится на Linux-ВМ через systemd. Установка, обновление и откат проверены на CI-раннере, на целевой ВМ Cloud.ru ещё нет. Владелец один раз подключает GitHub App, при желании Jira, и репозитории. Модель выключена, анализ детерминированный. Секреты хранятся вне 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Проверено локально и в CI: webhook Jira и PR, один обновляемый комментарий, основания вида репозиторий@коммит:строка, установка и откат релиза, локальный показ изменение, исправление, нейтральный контроль. Не проверено: настоящие App и Jira, установка на целевой ВМ, незнакомый проект и польза. Модель не прошла транспортный допуск и выключена.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Пилот на одном HTTP/Python API и его потребителях, 2–5 репозиториях GitHub и проекте Jira, если он есть. Права: чтение кода и PR, запись только своих комментариев. До прогона согласуем критерии и правила остановки. Человеческие минуты считаем отдельно от машинного времени. Цена, срок и объём пока предложение с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d5e97ff5950d4f7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af71fbfb13f741d7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f9f9cefc771407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7e0909b57224eb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5365a63947945a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a9ed29d8ae12430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8B70CD-49AC-48CF-805F-D463F3611D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F7F087B-6CFF-4E12-B867-0BC46E0D1D2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FB7A1B5-35E3-491B-B6C6-945E40A67E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D4DF53-BF89-4CA9-882B-190067AA38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1718344-820E-4CF9-BC3B-F1FA6C19E9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2B82A9D-35EA-4D41-973D-E6812ED2B8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DBD7678-914A-4235-9D83-09D5121186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1C2B01F-8180-4055-BBEF-2A365BC6B9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CD64D6-A8EB-40CC-BC54-CDB53673F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E8D9A2-A2D7-41D2-B002-2302F45F01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173ae3d769894333" Type="http://schemas.openxmlformats.org/officeDocument/2006/relationships/slideLayout" Target="../slideLayouts/slideLayout2.xml"/><Relationship Id="Ra4c017504df146c8" Type="http://schemas.openxmlformats.org/officeDocument/2006/relationships/slideLayout" Target="../slideLayouts/slideLayout3.xml"/><Relationship Id="Raade9fa3bbd04590" Type="http://schemas.openxmlformats.org/officeDocument/2006/relationships/slideLayout" Target="../slideLayouts/slideLayout5.xml"/><Relationship Id="Rbd926e1bb88c49ce" Type="http://schemas.openxmlformats.org/officeDocument/2006/relationships/slideLayout" Target="../slideLayouts/slideLayout4.xml"/><Relationship Id="Rc4adff7efec8459f" Type="http://schemas.openxmlformats.org/officeDocument/2006/relationships/theme" Target="theme/theme2.xml"/><Relationship Id="Rc869aa6d7827402c" Type="http://schemas.openxmlformats.org/officeDocument/2006/relationships/slideLayout" Target="../slideLayouts/slideLayout6.xml"/><Relationship Id="Rdf7c83e13b824e27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7c83e13b824e27"/>
    <p:sldLayoutId xmlns:r="http://schemas.openxmlformats.org/officeDocument/2006/relationships" id="2147483650" r:id="R173ae3d769894333"/>
    <p:sldLayoutId xmlns:r="http://schemas.openxmlformats.org/officeDocument/2006/relationships" id="2147483651" r:id="Ra4c017504df146c8"/>
    <p:sldLayoutId xmlns:r="http://schemas.openxmlformats.org/officeDocument/2006/relationships" id="2147483652" r:id="Rbd926e1bb88c49ce"/>
    <p:sldLayoutId xmlns:r="http://schemas.openxmlformats.org/officeDocument/2006/relationships" id="2147483653" r:id="Raade9fa3bbd04590"/>
    <p:sldLayoutId xmlns:r="http://schemas.openxmlformats.org/officeDocument/2006/relationships" id="2147483654" r:id="Rc869aa6d782740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a0aecf5ec0a46fc" Type="http://schemas.openxmlformats.org/officeDocument/2006/relationships/slideLayout" Target="../slideLayouts/slideLayout6.xml"/><Relationship Id="R5a4a3efb5d994cc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76af30fbfa534ce3" Type="http://schemas.openxmlformats.org/officeDocument/2006/relationships/notesSlide" Target="../notesSlides/notesSlide2.xml"/><Relationship Id="Red05793148434ead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5e9fe92deeb74cf6" Type="http://schemas.openxmlformats.org/officeDocument/2006/relationships/slideLayout" Target="../slideLayouts/slideLayout6.xml"/><Relationship Id="Rc49d6ef66476434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338479afba144fc8" Type="http://schemas.openxmlformats.org/officeDocument/2006/relationships/slideLayout" Target="../slideLayouts/slideLayout6.xml"/><Relationship Id="Re69cf6efa9b7471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fbe71938e88244f7" Type="http://schemas.openxmlformats.org/officeDocument/2006/relationships/notesSlide" Target="../notesSlides/notesSlide5.xml"/><Relationship Id="Rfe834a7ec58f4010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8ac9b8e6ade54bf5" Type="http://schemas.openxmlformats.org/officeDocument/2006/relationships/slideLayout" Target="../slideLayouts/slideLayout6.xml"/><Relationship Id="Rf47f2d3e5b9d44ac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28f293839394e95" Type="http://schemas.openxmlformats.org/officeDocument/2006/relationships/slideLayout" Target="../slideLayouts/slideLayout6.xml"/><Relationship Id="R88901fc7a32e40ed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e99352f059643a0" Type="http://schemas.openxmlformats.org/officeDocument/2006/relationships/notesSlide" Target="../notesSlides/notesSlide8.xml"/><Relationship Id="R6539ff54f9324b3e" Type="http://schemas.openxmlformats.org/officeDocument/2006/relationships/slideLayout" Target="../slideLayouts/slideLayout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E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GENT GRAPH  ·  1/8">
            <a:extLst xmlns:a="http://schemas.openxmlformats.org/drawingml/2006/main">
              <a:ext uri="{FF2B5EF4-FFF2-40B4-BE49-F238E27FC236}">
                <a16:creationId xmlns:a16="http://schemas.microsoft.com/office/drawing/2014/main" id="{0CC60164-7A94-48E1-8D65-4EF1D43D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C9DA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9DAD3"/>
                </a:solidFill>
                <a:latin typeface="Arial"/>
                <a:ea typeface="Arial"/>
                <a:cs typeface="Arial"/>
              </a:rPr>
              <a:t>AGENT GRAPH  ·  1/8</a:t>
            </a:r>
          </a:p>
        </p:txBody>
      </p:sp>
      <p:sp>
        <p:nvSpPr>
          <p:cNvPr id="2" name="Cover title">
            <a:extLst xmlns:a="http://schemas.openxmlformats.org/drawingml/2006/main">
              <a:ext uri="{FF2B5EF4-FFF2-40B4-BE49-F238E27FC236}">
                <a16:creationId xmlns:a16="http://schemas.microsoft.com/office/drawing/2014/main" id="{D1DDC025-EC0A-4B1E-B3DE-4AA1834F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763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Кого затронет</a:t>
            </a:r>
          </a:p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следующее изменение?</a:t>
            </a:r>
          </a:p>
        </p:txBody>
      </p:sp>
      <p:sp>
        <p:nvSpPr>
          <p:cNvPr id="3" name="Автономный сервис для команд,&#10;которые меняют внутр">
            <a:extLst xmlns:a="http://schemas.openxmlformats.org/drawingml/2006/main">
              <a:ext uri="{FF2B5EF4-FFF2-40B4-BE49-F238E27FC236}">
                <a16:creationId xmlns:a16="http://schemas.microsoft.com/office/drawing/2014/main" id="{45125175-9228-41DF-ABDE-ED8722C4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1000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DCE7E0"/>
                </a:solidFill>
                <a:latin typeface="Arial"/>
                <a:ea typeface="Arial"/>
                <a:cs typeface="Arial"/>
              </a:rPr>
              <a:t>Автономный сервис для команд,</a:t>
            </a:r>
          </a:p>
          <a:p xmlns:a="http://schemas.openxmlformats.org/drawingml/2006/main">
            <a:pPr algn="l">
              <a:defRPr sz="2550" b="0">
                <a:solidFill>
                  <a:srgbClr val="DCE7E0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DCE7E0"/>
                </a:solidFill>
                <a:latin typeface="Arial"/>
                <a:ea typeface="Arial"/>
                <a:cs typeface="Arial"/>
              </a:rPr>
              <a:t>которые меняют внутренние API</a:t>
            </a:r>
          </a:p>
        </p:txBody>
      </p:sp>
      <p:sp>
        <p:nvSpPr>
          <p:cNvPr id="4" name="Задача Jira  →  граф связей  →  уточнение в PR">
            <a:extLst xmlns:a="http://schemas.openxmlformats.org/drawingml/2006/main">
              <a:ext uri="{FF2B5EF4-FFF2-40B4-BE49-F238E27FC236}">
                <a16:creationId xmlns:a16="http://schemas.microsoft.com/office/drawing/2014/main" id="{4D04A815-15C6-4D7C-99F3-573DB567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72100"/>
            <a:ext cx="1047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7AD4B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7AD4B7"/>
                </a:solidFill>
                <a:latin typeface="Arial"/>
                <a:ea typeface="Arial"/>
                <a:cs typeface="Arial"/>
              </a:rPr>
              <a:t>Задача Jira  →  граф связей  →  уточнение в PR</a:t>
            </a:r>
          </a:p>
        </p:txBody>
      </p:sp>
      <p:sp>
        <p:nvSpPr>
          <p:cNvPr id="5" name="Концепция автономного MVP · 24 октября 2026">
            <a:extLst xmlns:a="http://schemas.openxmlformats.org/drawingml/2006/main">
              <a:ext uri="{FF2B5EF4-FFF2-40B4-BE49-F238E27FC236}">
                <a16:creationId xmlns:a16="http://schemas.microsoft.com/office/drawing/2014/main" id="{399F6BFE-8915-4A7F-95DD-E0608B21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15025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B7CFC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7CFC2"/>
                </a:solidFill>
                <a:latin typeface="Arial"/>
                <a:ea typeface="Arial"/>
                <a:cs typeface="Arial"/>
              </a:rPr>
              <a:t>Закрытый технический пилот · 29 октября 2026</a:t>
            </a:r>
          </a:p>
        </p:txBody>
      </p:sp>
    </p:spTree>
    <p:extLst>
      <p:ext uri="{BB962C8B-B14F-4D97-AF65-F5344CB8AC3E}">
        <p14:creationId xmlns:p14="http://schemas.microsoft.com/office/powerpoint/2010/main" val="10288622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E8BEC1-28DC-475F-9E4D-8ED827100BF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609975" y="3267075"/>
            <a:ext cx="1247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sp>
        <p:nvSpPr>
          <p:cNvPr id="12" name="Slide title">
            <a:extLst xmlns:a="http://schemas.openxmlformats.org/drawingml/2006/main">
              <a:ext uri="{FF2B5EF4-FFF2-40B4-BE49-F238E27FC236}">
                <a16:creationId xmlns:a16="http://schemas.microsoft.com/office/drawing/2014/main" id="{8C8C1BD9-A15B-47D7-B31A-E692C0FB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Изменение API затрагивает соседнюю команду</a:t>
            </a:r>
          </a:p>
        </p:txBody>
      </p:sp>
      <p:sp>
        <p:nvSpPr>
          <p:cNvPr id="2" name="AGENT GRAPH  ·  2/8">
            <a:extLst xmlns:a="http://schemas.openxmlformats.org/drawingml/2006/main">
              <a:ext uri="{FF2B5EF4-FFF2-40B4-BE49-F238E27FC236}">
                <a16:creationId xmlns:a16="http://schemas.microsoft.com/office/drawing/2014/main" id="{575CB09E-485A-4029-9728-BD677131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2/8</a:t>
            </a:r>
          </a:p>
        </p:txBody>
      </p:sp>
      <p:sp>
        <p:nvSpPr>
          <p:cNvPr id="3" name="Задача: «Ограничить выдачу заказов одной страницей">
            <a:extLst xmlns:a="http://schemas.openxmlformats.org/drawingml/2006/main">
              <a:ext uri="{FF2B5EF4-FFF2-40B4-BE49-F238E27FC236}">
                <a16:creationId xmlns:a16="http://schemas.microsoft.com/office/drawing/2014/main" id="{AAA9843D-1CDB-47B1-A680-DD8DDB25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Задача: «Ограничить выдачу заказов одной страницей»</a:t>
            </a:r>
          </a:p>
        </p:txBody>
      </p:sp>
      <p:sp>
        <p:nvSpPr>
          <p:cNvPr id="4" name="Reporting&#10;отчёт соседней команды">
            <a:extLst xmlns:a="http://schemas.openxmlformats.org/drawingml/2006/main">
              <a:ext uri="{FF2B5EF4-FFF2-40B4-BE49-F238E27FC236}">
                <a16:creationId xmlns:a16="http://schemas.microsoft.com/office/drawing/2014/main" id="{034E1A19-4D79-4BC2-88AA-86A20919F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000375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Reporting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отчёт соседней команды</a:t>
            </a:r>
          </a:p>
        </p:txBody>
      </p:sp>
      <p:sp>
        <p:nvSpPr>
          <p:cNvPr id="5" name="Orders&#10;GET /orders">
            <a:extLst xmlns:a="http://schemas.openxmlformats.org/drawingml/2006/main">
              <a:ext uri="{FF2B5EF4-FFF2-40B4-BE49-F238E27FC236}">
                <a16:creationId xmlns:a16="http://schemas.microsoft.com/office/drawing/2014/main" id="{85B10477-EBEA-460F-A402-7995064A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24150"/>
            <a:ext cx="2571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E8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Orders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GET /orders</a:t>
            </a:r>
          </a:p>
        </p:txBody>
      </p:sp>
      <p:sp>
        <p:nvSpPr>
          <p:cNvPr id="7" name="вызывает">
            <a:extLst xmlns:a="http://schemas.openxmlformats.org/drawingml/2006/main">
              <a:ext uri="{FF2B5EF4-FFF2-40B4-BE49-F238E27FC236}">
                <a16:creationId xmlns:a16="http://schemas.microsoft.com/office/drawing/2014/main" id="{BBED5D8E-FBBF-466D-83AB-30A55235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028950"/>
            <a:ext cx="102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87F72"/>
                </a:solidFill>
                <a:latin typeface="Arial"/>
                <a:ea typeface="Arial"/>
                <a:cs typeface="Arial"/>
              </a:rPr>
              <a:t>вызывает</a:t>
            </a:r>
          </a:p>
        </p:txBody>
      </p:sp>
      <p:sp>
        <p:nvSpPr>
          <p:cNvPr id="8" name="Что видит команда">
            <a:extLst xmlns:a="http://schemas.openxmlformats.org/drawingml/2006/main">
              <a:ext uri="{FF2B5EF4-FFF2-40B4-BE49-F238E27FC236}">
                <a16:creationId xmlns:a16="http://schemas.microsoft.com/office/drawing/2014/main" id="{7F2F773B-E60F-47F3-B433-52EDAF9E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86050"/>
            <a:ext cx="3190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Что видит команда</a:t>
            </a:r>
          </a:p>
        </p:txBody>
      </p:sp>
      <p:sp>
        <p:nvSpPr>
          <p:cNvPr id="9" name="Потребитель: Reporting&#10;Основание: файл и строка&#10;Пр">
            <a:extLst xmlns:a="http://schemas.openxmlformats.org/drawingml/2006/main">
              <a:ext uri="{FF2B5EF4-FFF2-40B4-BE49-F238E27FC236}">
                <a16:creationId xmlns:a16="http://schemas.microsoft.com/office/drawing/2014/main" id="{FD9248C1-EC6E-4C84-8D09-2D479D48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333375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Потребитель: Reporting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Основание: файл и строка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Проверка: полнота отчёта</a:t>
            </a:r>
          </a:p>
        </p:txBody>
      </p:sp>
      <p:sp>
        <p:nvSpPr>
          <p:cNvPr id="10" name="Инсайт появляется до того, как потерю данных замет">
            <a:extLst xmlns:a="http://schemas.openxmlformats.org/drawingml/2006/main">
              <a:ext uri="{FF2B5EF4-FFF2-40B4-BE49-F238E27FC236}">
                <a16:creationId xmlns:a16="http://schemas.microsoft.com/office/drawing/2014/main" id="{9233D47C-AFDD-4DFD-94BD-EB4BCFEC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676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Инсайт появляется до того, как потерю данных заметит пользователь отчёта</a:t>
            </a:r>
          </a:p>
        </p:txBody>
      </p:sp>
      <p:sp>
        <p:nvSpPr>
          <p:cNvPr id="11" name="Иллюстрация сценария. Влияние подтверждается прове">
            <a:extLst xmlns:a="http://schemas.openxmlformats.org/drawingml/2006/main">
              <a:ext uri="{FF2B5EF4-FFF2-40B4-BE49-F238E27FC236}">
                <a16:creationId xmlns:a16="http://schemas.microsoft.com/office/drawing/2014/main" id="{E5089451-2956-43EA-8CF6-298363B6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Иллюстрация сценария. Влияние подтверждается проверкой, а не наличием ребра.</a:t>
            </a:r>
          </a:p>
        </p:txBody>
      </p:sp>
    </p:spTree>
    <p:extLst>
      <p:ext uri="{BB962C8B-B14F-4D97-AF65-F5344CB8AC3E}">
        <p14:creationId xmlns:p14="http://schemas.microsoft.com/office/powerpoint/2010/main" val="14006659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3029E6C8-78F0-4711-B454-146808F8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Jira предупреждает раньше. PR уточняет.</a:t>
            </a:r>
          </a:p>
        </p:txBody>
      </p:sp>
      <p:sp>
        <p:nvSpPr>
          <p:cNvPr id="2" name="AGENT GRAPH  ·  3/8">
            <a:extLst xmlns:a="http://schemas.openxmlformats.org/drawingml/2006/main">
              <a:ext uri="{FF2B5EF4-FFF2-40B4-BE49-F238E27FC236}">
                <a16:creationId xmlns:a16="http://schemas.microsoft.com/office/drawing/2014/main" id="{769B9968-28F2-4FF8-BF6A-6F9DAF91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3/8</a:t>
            </a:r>
          </a:p>
        </p:txBody>
      </p:sp>
      <p:sp>
        <p:nvSpPr>
          <p:cNvPr id="3" name="Когда создаётся задача">
            <a:extLst xmlns:a="http://schemas.openxmlformats.org/drawingml/2006/main">
              <a:ext uri="{FF2B5EF4-FFF2-40B4-BE49-F238E27FC236}">
                <a16:creationId xmlns:a16="http://schemas.microsoft.com/office/drawing/2014/main" id="{87D38125-4AEF-4A94-A710-30549873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Когда создаётся задача</a:t>
            </a:r>
          </a:p>
        </p:txBody>
      </p:sp>
      <p:sp>
        <p:nvSpPr>
          <p:cNvPr id="4" name="Намерение из текста Jira&#10;Возможные сервисы и коман">
            <a:extLst xmlns:a="http://schemas.openxmlformats.org/drawingml/2006/main">
              <a:ext uri="{FF2B5EF4-FFF2-40B4-BE49-F238E27FC236}">
                <a16:creationId xmlns:a16="http://schemas.microsoft.com/office/drawing/2014/main" id="{82365672-4A00-4597-B4FF-E14AE0F00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4857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Намерение из текста Jira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Возможные сервисы и команды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Основания и открытые вопросы</a:t>
            </a:r>
          </a:p>
        </p:txBody>
      </p:sp>
      <p:sp>
        <p:nvSpPr>
          <p:cNvPr id="5" name="Когда появляется код">
            <a:extLst xmlns:a="http://schemas.openxmlformats.org/drawingml/2006/main">
              <a:ext uri="{FF2B5EF4-FFF2-40B4-BE49-F238E27FC236}">
                <a16:creationId xmlns:a16="http://schemas.microsoft.com/office/drawing/2014/main" id="{BB897763-FC5E-427D-9368-398C1548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145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Когда появляется код</a:t>
            </a:r>
          </a:p>
        </p:txBody>
      </p:sp>
      <p:sp>
        <p:nvSpPr>
          <p:cNvPr id="6" name="Изменение по двум версиям&#10;Конкретные места вызова&#10;">
            <a:extLst xmlns:a="http://schemas.openxmlformats.org/drawingml/2006/main">
              <a:ext uri="{FF2B5EF4-FFF2-40B4-BE49-F238E27FC236}">
                <a16:creationId xmlns:a16="http://schemas.microsoft.com/office/drawing/2014/main" id="{EEC89A14-9770-4782-B282-83E68DA6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90825"/>
            <a:ext cx="48577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Изменение по двум версиям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Конкретные места вызова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Что проверить до merge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182BA-A67B-46C0-9D51-34771062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8" name="Один граф. Один обновляемый результат.&#10;Без ручного">
            <a:extLst xmlns:a="http://schemas.openxmlformats.org/drawingml/2006/main">
              <a:ext uri="{FF2B5EF4-FFF2-40B4-BE49-F238E27FC236}">
                <a16:creationId xmlns:a16="http://schemas.microsoft.com/office/drawing/2014/main" id="{95F1756D-A2F3-462E-88D6-D40F6155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Один граф. Один обновляемый результат.</a:t>
            </a:r>
          </a:p>
          <a:p xmlns:a="http://schemas.openxmlformats.org/drawingml/2006/main">
            <a:pPr algn="l">
              <a:defRPr sz="25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Без ручного запуска анализа.</a:t>
            </a:r>
          </a:p>
        </p:txBody>
      </p:sp>
    </p:spTree>
    <p:extLst>
      <p:ext uri="{BB962C8B-B14F-4D97-AF65-F5344CB8AC3E}">
        <p14:creationId xmlns:p14="http://schemas.microsoft.com/office/powerpoint/2010/main" val="1545325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6D796-3DB0-40C7-8362-399A5CAE5250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391400" y="3643313"/>
            <a:ext cx="1428750" cy="9763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5E898-1066-4B20-99F7-CCCDCCAA9271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7391400" y="2809875"/>
            <a:ext cx="1428750" cy="8334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9FDA40-FD65-47F5-965B-3A6745A9CE9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228975" y="3643313"/>
            <a:ext cx="1495425" cy="9286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73BF7-C1F2-47D5-8896-732D05292940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228975" y="2762250"/>
            <a:ext cx="1495425" cy="8810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87F72"/>
            </a:solidFill>
            <a:prstDash val="solid"/>
            <a:tailEnd type="triangle" w="med" len="med"/>
          </a:ln>
        </p:spPr>
      </p:cxnSp>
      <p:sp>
        <p:nvSpPr>
          <p:cNvPr id="14" name="Slide title">
            <a:extLst xmlns:a="http://schemas.openxmlformats.org/drawingml/2006/main">
              <a:ext uri="{FF2B5EF4-FFF2-40B4-BE49-F238E27FC236}">
                <a16:creationId xmlns:a16="http://schemas.microsoft.com/office/drawing/2014/main" id="{046694BA-9EBC-425A-8A1F-58351CB4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Граф связывает код с работой сервисов</a:t>
            </a:r>
          </a:p>
        </p:txBody>
      </p:sp>
      <p:sp>
        <p:nvSpPr>
          <p:cNvPr id="2" name="AGENT GRAPH  ·  4/8">
            <a:extLst xmlns:a="http://schemas.openxmlformats.org/drawingml/2006/main">
              <a:ext uri="{FF2B5EF4-FFF2-40B4-BE49-F238E27FC236}">
                <a16:creationId xmlns:a16="http://schemas.microsoft.com/office/drawing/2014/main" id="{A82FB668-5289-4430-A176-F61D551D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4/8</a:t>
            </a:r>
          </a:p>
        </p:txBody>
      </p:sp>
      <p:sp>
        <p:nvSpPr>
          <p:cNvPr id="3" name="Код и контракты">
            <a:extLst xmlns:a="http://schemas.openxmlformats.org/drawingml/2006/main">
              <a:ext uri="{FF2B5EF4-FFF2-40B4-BE49-F238E27FC236}">
                <a16:creationId xmlns:a16="http://schemas.microsoft.com/office/drawing/2014/main" id="{9C313737-412B-4CAB-8C6B-030B4C23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619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Код и контракты</a:t>
            </a:r>
          </a:p>
        </p:txBody>
      </p:sp>
      <p:sp>
        <p:nvSpPr>
          <p:cNvPr id="4" name="Трассы и журналы">
            <a:extLst xmlns:a="http://schemas.openxmlformats.org/drawingml/2006/main">
              <a:ext uri="{FF2B5EF4-FFF2-40B4-BE49-F238E27FC236}">
                <a16:creationId xmlns:a16="http://schemas.microsoft.com/office/drawing/2014/main" id="{4DA52717-9AB4-46FC-AFF3-FB8B4B45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2619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Журналы доступа</a:t>
            </a:r>
          </a:p>
        </p:txBody>
      </p:sp>
      <p:sp>
        <p:nvSpPr>
          <p:cNvPr id="5" name="Граф связей&#10;с основаниями">
            <a:extLst xmlns:a="http://schemas.openxmlformats.org/drawingml/2006/main">
              <a:ext uri="{FF2B5EF4-FFF2-40B4-BE49-F238E27FC236}">
                <a16:creationId xmlns:a16="http://schemas.microsoft.com/office/drawing/2014/main" id="{AC5583A8-BAA5-42FD-99DA-463F841E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48000"/>
            <a:ext cx="26670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EE8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Граф связей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с основаниями</a:t>
            </a:r>
          </a:p>
        </p:txBody>
      </p:sp>
      <p:sp>
        <p:nvSpPr>
          <p:cNvPr id="6" name="Агент&#10;анализ Jira и PR">
            <a:extLst xmlns:a="http://schemas.openxmlformats.org/drawingml/2006/main">
              <a:ext uri="{FF2B5EF4-FFF2-40B4-BE49-F238E27FC236}">
                <a16:creationId xmlns:a16="http://schemas.microsoft.com/office/drawing/2014/main" id="{5923C477-CAC7-4883-B667-C9FACA48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33625"/>
            <a:ext cx="2762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Агент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анализ Jira и PR</a:t>
            </a:r>
          </a:p>
        </p:txBody>
      </p:sp>
      <p:sp>
        <p:nvSpPr>
          <p:cNvPr id="7" name="Команда&#10;просмотр связей">
            <a:extLst xmlns:a="http://schemas.openxmlformats.org/drawingml/2006/main">
              <a:ext uri="{FF2B5EF4-FFF2-40B4-BE49-F238E27FC236}">
                <a16:creationId xmlns:a16="http://schemas.microsoft.com/office/drawing/2014/main" id="{9CDB2451-93CB-44F4-87DB-3EADD1CE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43375"/>
            <a:ext cx="2762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87F72"/>
            </a:solidFill>
          </a:ln>
        </p:spPr>
        <p:txBody>
          <a:bodyPr xmlns:a="http://schemas.openxmlformats.org/drawingml/2006/main" lIns="152400" tIns="161925" rIns="152400" bIns="95250" anchor="ctr"/>
          <a:lstStyle xmlns:a="http://schemas.openxmlformats.org/drawingml/2006/main">
            <a:def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Команда</a:t>
            </a:r>
          </a:p>
          <a:p xmlns:a="http://schemas.openxmlformats.org/drawingml/2006/main">
            <a:pPr algn="ctr">
              <a:defRPr sz="202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просмотр связей</a:t>
            </a:r>
          </a:p>
        </p:txBody>
      </p:sp>
      <p:sp>
        <p:nvSpPr>
          <p:cNvPr id="12" name="Источник · версия или окно · свежесть">
            <a:extLst xmlns:a="http://schemas.openxmlformats.org/drawingml/2006/main">
              <a:ext uri="{FF2B5EF4-FFF2-40B4-BE49-F238E27FC236}">
                <a16:creationId xmlns:a16="http://schemas.microsoft.com/office/drawing/2014/main" id="{C2BC219B-C7C1-4A18-9F2F-B4B4C565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1924050"/>
            <a:ext cx="4953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Источник · версия или окно · свежесть</a:t>
            </a:r>
          </a:p>
        </p:txBody>
      </p:sp>
      <p:sp>
        <p:nvSpPr>
          <p:cNvPr id="13" name="Факт, наблюдение и гипотеза имеют разные статусы.&#10;">
            <a:extLst xmlns:a="http://schemas.openxmlformats.org/drawingml/2006/main">
              <a:ext uri="{FF2B5EF4-FFF2-40B4-BE49-F238E27FC236}">
                <a16:creationId xmlns:a16="http://schemas.microsoft.com/office/drawing/2014/main" id="{B2ED050E-1765-4B2D-8539-9BE7D5B3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Факт, наблюдение и гипотеза имеют разные статусы.</a:t>
            </a:r>
          </a:p>
          <a:p xmlns:a="http://schemas.openxmlformats.org/drawingml/2006/main">
            <a:pPr algn="l">
              <a:defRPr sz="202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Отсутствие трафика не доказывает отсутствия потребителя.</a:t>
            </a:r>
          </a:p>
        </p:txBody>
      </p:sp>
    </p:spTree>
    <p:extLst>
      <p:ext uri="{BB962C8B-B14F-4D97-AF65-F5344CB8AC3E}">
        <p14:creationId xmlns:p14="http://schemas.microsoft.com/office/powerpoint/2010/main" val="13676621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title">
            <a:extLst xmlns:a="http://schemas.openxmlformats.org/drawingml/2006/main">
              <a:ext uri="{FF2B5EF4-FFF2-40B4-BE49-F238E27FC236}">
                <a16:creationId xmlns:a16="http://schemas.microsoft.com/office/drawing/2014/main" id="{2B9EAF9D-5C63-4495-A8CC-7345D49D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Альтернативы и наша гипотеза преимущества</a:t>
            </a:r>
          </a:p>
        </p:txBody>
      </p:sp>
      <p:sp>
        <p:nvSpPr>
          <p:cNvPr id="2" name="AGENT GRAPH  ·  5/8">
            <a:extLst xmlns:a="http://schemas.openxmlformats.org/drawingml/2006/main">
              <a:ext uri="{FF2B5EF4-FFF2-40B4-BE49-F238E27FC236}">
                <a16:creationId xmlns:a16="http://schemas.microsoft.com/office/drawing/2014/main" id="{3BBEA47D-279C-4A41-8388-0ADF8ADD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5/8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50F32-7B40-4C71-9152-EDD501BFD8E8}"/>
              </a:ext>
            </a:extLst>
          </p:cNvPr>
          <p:cNvGraphicFramePr/>
          <p:nvPr/>
        </p:nvGraphicFramePr>
        <p:xfrm>
          <a:off xmlns:a="http://schemas.openxmlformats.org/drawingml/2006/main" x="609600" y="182880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19350"/>
                <a:gridCol w="3619500"/>
                <a:gridCol w="4933950"/>
              </a:tblGrid>
              <a:tr h="6953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Подход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T w="9525">
                      <a:solidFill>
                        <a:srgbClr val="C6D1C9"/>
                      </a:solidFill>
                      <a:prstDash val="solid"/>
                    </a:lnT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102E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Сильная сторона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T w="9525">
                      <a:solidFill>
                        <a:srgbClr val="C6D1C9"/>
                      </a:solidFill>
                      <a:prstDash val="solid"/>
                    </a:lnT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102E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Что проверяем в нашем сценарии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T w="9525">
                      <a:solidFill>
                        <a:srgbClr val="C6D1C9"/>
                      </a:solidFill>
                      <a:prstDash val="solid"/>
                    </a:lnT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102E2C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Агент + поиск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Гибкий разбор задачи и кода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Актуальность контекста и труд поддержки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Sourcegraph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Точная навигация по коду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Межсервисные связи и наблюдаемые вызовы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oasdiff / Pact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Изменения API и контракты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Поиск потребителей за пределами контракта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F5F4EE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Tempo / Grafana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6D1C9"/>
                      </a:solidFill>
                      <a:prstDash val="solid"/>
                    </a:lnL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Наблюдаемые вызовы и нагрузка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E2C"/>
                          </a:solidFill>
                          <a:latin typeface="Arial"/>
                          <a:ea typeface="Arial"/>
                          <a:cs typeface="Arial"/>
                        </a:rPr>
                        <a:t>Связь наблюдения с будущим изменением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6D1C9"/>
                      </a:solidFill>
                      <a:prstDash val="solid"/>
                    </a:lnR>
                    <a:lnB w="9525">
                      <a:solidFill>
                        <a:srgbClr val="C6D1C9"/>
                      </a:solidFill>
                      <a:prstDash val="solid"/>
                    </a:lnB>
                    <a:solidFill>
                      <a:srgbClr val="E7EEE8"/>
                    </a:solidFill>
                  </a:tcPr>
                </a:tc>
              </a:tr>
            </a:tbl>
          </a:graphicData>
        </a:graphic>
      </p:graphicFrame>
      <p:sp>
        <p:nvSpPr>
          <p:cNvPr id="4" name="Наша гипотеза: актуальный граф кода и вызовов&#10;даёт">
            <a:extLst xmlns:a="http://schemas.openxmlformats.org/drawingml/2006/main">
              <a:ext uri="{FF2B5EF4-FFF2-40B4-BE49-F238E27FC236}">
                <a16:creationId xmlns:a16="http://schemas.microsoft.com/office/drawing/2014/main" id="{0AD38912-5F87-4B57-8D13-A55D221C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76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Наша гипотеза: актуальный граф кода и вызовов</a:t>
            </a:r>
          </a:p>
          <a:p xmlns:a="http://schemas.openxmlformats.org/drawingml/2006/main">
            <a:pPr algn="l">
              <a:defRPr sz="2175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даёт полезный инсайт раньше — в Jira и PR.</a:t>
            </a:r>
          </a:p>
        </p:txBody>
      </p:sp>
    </p:spTree>
    <p:extLst>
      <p:ext uri="{BB962C8B-B14F-4D97-AF65-F5344CB8AC3E}">
        <p14:creationId xmlns:p14="http://schemas.microsoft.com/office/powerpoint/2010/main" val="13499932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 title">
            <a:extLst xmlns:a="http://schemas.openxmlformats.org/drawingml/2006/main">
              <a:ext uri="{FF2B5EF4-FFF2-40B4-BE49-F238E27FC236}">
                <a16:creationId xmlns:a16="http://schemas.microsoft.com/office/drawing/2014/main" id="{38A910CE-B173-49ED-9771-AA93108E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Подключение один раз — работа по событиям</a:t>
            </a:r>
          </a:p>
        </p:txBody>
      </p:sp>
      <p:sp>
        <p:nvSpPr>
          <p:cNvPr id="2" name="AGENT GRAPH  ·  6/8">
            <a:extLst xmlns:a="http://schemas.openxmlformats.org/drawingml/2006/main">
              <a:ext uri="{FF2B5EF4-FFF2-40B4-BE49-F238E27FC236}">
                <a16:creationId xmlns:a16="http://schemas.microsoft.com/office/drawing/2014/main" id="{77AA23BB-5606-4D1F-A80F-4088BB6B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6/8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9B982DFF-5A47-419B-9E4E-65DB31A9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25A19-D1BB-46AC-8F16-CA534934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5" name="Установить релиз">
            <a:extLst xmlns:a="http://schemas.openxmlformats.org/drawingml/2006/main">
              <a:ext uri="{FF2B5EF4-FFF2-40B4-BE49-F238E27FC236}">
                <a16:creationId xmlns:a16="http://schemas.microsoft.com/office/drawing/2014/main" id="{20E6271C-3F1C-40F5-93BB-9A3452B7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2400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Установить релиз</a:t>
            </a:r>
          </a:p>
        </p:txBody>
      </p:sp>
      <p:sp>
        <p:nvSpPr>
          <p:cNvPr id="6" name="Готовый образ&#10;Linux-ВМ">
            <a:extLst xmlns:a="http://schemas.openxmlformats.org/drawingml/2006/main">
              <a:ext uri="{FF2B5EF4-FFF2-40B4-BE49-F238E27FC236}">
                <a16:creationId xmlns:a16="http://schemas.microsoft.com/office/drawing/2014/main" id="{C1313B80-DF00-4DBD-8454-1C088C96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2400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Релиз и systemd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на Linux-ВМ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E2E6C0F0-1A85-494B-84A1-DA8A774C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03835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01155-2635-46B9-90C9-50899307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94322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9" name="Подключить данные">
            <a:extLst xmlns:a="http://schemas.openxmlformats.org/drawingml/2006/main">
              <a:ext uri="{FF2B5EF4-FFF2-40B4-BE49-F238E27FC236}">
                <a16:creationId xmlns:a16="http://schemas.microsoft.com/office/drawing/2014/main" id="{971052C2-D8EE-4705-A284-1D39B995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209925"/>
            <a:ext cx="2400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Подключить данные</a:t>
            </a:r>
          </a:p>
        </p:txBody>
      </p:sp>
      <p:sp>
        <p:nvSpPr>
          <p:cNvPr id="10" name="Код, вызовы&#10;Jira и Git">
            <a:extLst xmlns:a="http://schemas.openxmlformats.org/drawingml/2006/main">
              <a:ext uri="{FF2B5EF4-FFF2-40B4-BE49-F238E27FC236}">
                <a16:creationId xmlns:a16="http://schemas.microsoft.com/office/drawing/2014/main" id="{163E12D3-4E12-4F62-AFDB-E6A506FC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143375"/>
            <a:ext cx="2400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GitHub App, Jira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HTTP/Python-код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92B3EFD6-5D6A-4832-941B-1ECFDEB4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3835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D47B17-3CF8-4E61-883B-39B20170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4322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13" name="Задать правила">
            <a:extLst xmlns:a="http://schemas.openxmlformats.org/drawingml/2006/main">
              <a:ext uri="{FF2B5EF4-FFF2-40B4-BE49-F238E27FC236}">
                <a16:creationId xmlns:a16="http://schemas.microsoft.com/office/drawing/2014/main" id="{232BDA31-991F-4CBA-891A-FF9207CA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09925"/>
            <a:ext cx="2400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Задать правила</a:t>
            </a:r>
          </a:p>
        </p:txBody>
      </p:sp>
      <p:sp>
        <p:nvSpPr>
          <p:cNvPr id="14" name="Модель, доступы&#10;конституция, лимиты">
            <a:extLst xmlns:a="http://schemas.openxmlformats.org/drawingml/2006/main">
              <a:ext uri="{FF2B5EF4-FFF2-40B4-BE49-F238E27FC236}">
                <a16:creationId xmlns:a16="http://schemas.microsoft.com/office/drawing/2014/main" id="{3AB99B47-7EEC-45FD-B9F0-971A6E44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43375"/>
            <a:ext cx="2400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Доступы и лимиты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модель выключена</a:t>
            </a:r>
          </a:p>
        </p:txBody>
      </p:sp>
      <p:sp>
        <p:nvSpPr>
          <p:cNvPr id="15" name="04">
            <a:extLst xmlns:a="http://schemas.openxmlformats.org/drawingml/2006/main">
              <a:ext uri="{FF2B5EF4-FFF2-40B4-BE49-F238E27FC236}">
                <a16:creationId xmlns:a16="http://schemas.microsoft.com/office/drawing/2014/main" id="{49BF17B5-1476-4C65-AE62-DE9DF438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038350"/>
            <a:ext cx="219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942BC8-1E69-4CBC-A9C4-57AD140C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43225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17" name="Получать инсайты">
            <a:extLst xmlns:a="http://schemas.openxmlformats.org/drawingml/2006/main">
              <a:ext uri="{FF2B5EF4-FFF2-40B4-BE49-F238E27FC236}">
                <a16:creationId xmlns:a16="http://schemas.microsoft.com/office/drawing/2014/main" id="{BA3C1C4D-4F33-4B86-9E79-9C24CD9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209925"/>
            <a:ext cx="2400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Получать инсайты</a:t>
            </a:r>
          </a:p>
        </p:txBody>
      </p:sp>
      <p:sp>
        <p:nvSpPr>
          <p:cNvPr id="18" name="Автоматически&#10;по событиям">
            <a:extLst xmlns:a="http://schemas.openxmlformats.org/drawingml/2006/main">
              <a:ext uri="{FF2B5EF4-FFF2-40B4-BE49-F238E27FC236}">
                <a16:creationId xmlns:a16="http://schemas.microsoft.com/office/drawing/2014/main" id="{03A70C78-7747-43F0-A12D-D80A7EBB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143375"/>
            <a:ext cx="24003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Автоматически</a:t>
            </a:r>
          </a:p>
          <a:p xmlns:a="http://schemas.openxmlformats.org/drawingml/2006/main">
            <a:pPr algn="l">
              <a:defRPr sz="195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 событиям</a:t>
            </a:r>
          </a:p>
        </p:txBody>
      </p:sp>
      <p:sp>
        <p:nvSpPr>
          <p:cNvPr id="19" name="В штатном потоке оператор не нужен.&#10;Сбои, актуальн">
            <a:extLst xmlns:a="http://schemas.openxmlformats.org/drawingml/2006/main">
              <a:ext uri="{FF2B5EF4-FFF2-40B4-BE49-F238E27FC236}">
                <a16:creationId xmlns:a16="http://schemas.microsoft.com/office/drawing/2014/main" id="{AACFCC1F-A95F-4B48-8B5B-BAA24F51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7632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В штатном потоке оператор не нужен.</a:t>
            </a:r>
          </a:p>
          <a:p xmlns:a="http://schemas.openxmlformats.org/drawingml/2006/main">
            <a:pPr algn="l">
              <a:defRPr sz="22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Сбои, свежесть и пределы анализа видны в комментарии.</a:t>
            </a:r>
          </a:p>
        </p:txBody>
      </p:sp>
    </p:spTree>
    <p:extLst>
      <p:ext uri="{BB962C8B-B14F-4D97-AF65-F5344CB8AC3E}">
        <p14:creationId xmlns:p14="http://schemas.microsoft.com/office/powerpoint/2010/main" val="460847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80409810-878E-488D-BC90-4606D331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Что проверено и что ещё нет</a:t>
            </a:r>
          </a:p>
        </p:txBody>
      </p:sp>
      <p:sp>
        <p:nvSpPr>
          <p:cNvPr id="2" name="AGENT GRAPH  ·  7/8">
            <a:extLst xmlns:a="http://schemas.openxmlformats.org/drawingml/2006/main">
              <a:ext uri="{FF2B5EF4-FFF2-40B4-BE49-F238E27FC236}">
                <a16:creationId xmlns:a16="http://schemas.microsoft.com/office/drawing/2014/main" id="{B2D9DD9C-0E86-492E-810A-EFFAEBEE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7/8</a:t>
            </a:r>
          </a:p>
        </p:txBody>
      </p:sp>
      <p:sp>
        <p:nvSpPr>
          <p:cNvPr id="3" name="Работает в прототипе">
            <a:extLst xmlns:a="http://schemas.openxmlformats.org/drawingml/2006/main">
              <a:ext uri="{FF2B5EF4-FFF2-40B4-BE49-F238E27FC236}">
                <a16:creationId xmlns:a16="http://schemas.microsoft.com/office/drawing/2014/main" id="{D653EDC4-776A-4776-A4D7-AE664333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Проверено локально и в CI</a:t>
            </a:r>
          </a:p>
        </p:txBody>
      </p:sp>
      <p:sp>
        <p:nvSpPr>
          <p:cNvPr id="4" name="Узкий статический анализ API&#10;Проверяемые ссылки на">
            <a:extLst xmlns:a="http://schemas.openxmlformats.org/drawingml/2006/main">
              <a:ext uri="{FF2B5EF4-FFF2-40B4-BE49-F238E27FC236}">
                <a16:creationId xmlns:a16="http://schemas.microsoft.com/office/drawing/2014/main" id="{F7DF3E05-3BA4-4A73-AC12-ED03DD3C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Jira и PR → один комментарий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Основание: репо@коммит:строка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Установка и откат релиза (CI systemd)</a:t>
            </a:r>
          </a:p>
          <a:p xmlns:a="http://schemas.openxmlformats.org/drawingml/2006/main">
            <a:pPr algn="l">
              <a:defRPr sz="2175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Показ: изменение → исправление</a:t>
            </a:r>
          </a:p>
        </p:txBody>
      </p:sp>
      <p:sp>
        <p:nvSpPr>
          <p:cNvPr id="5" name="Следующий автономный выпуск">
            <a:extLst xmlns:a="http://schemas.openxmlformats.org/drawingml/2006/main">
              <a:ext uri="{FF2B5EF4-FFF2-40B4-BE49-F238E27FC236}">
                <a16:creationId xmlns:a16="http://schemas.microsoft.com/office/drawing/2014/main" id="{B67969E4-4F17-4D58-8D53-46A84AB0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0500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Ещё не проверено</a:t>
            </a:r>
          </a:p>
        </p:txBody>
      </p:sp>
      <p:sp>
        <p:nvSpPr>
          <p:cNvPr id="6" name="Jira и PR без ручного запуска&#10;Обновляемый граф и д">
            <a:extLst xmlns:a="http://schemas.openxmlformats.org/drawingml/2006/main">
              <a:ext uri="{FF2B5EF4-FFF2-40B4-BE49-F238E27FC236}">
                <a16:creationId xmlns:a16="http://schemas.microsoft.com/office/drawing/2014/main" id="{468FBF1E-91BC-403B-8F8C-2B5F7502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953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Настоящие GitHub App и Jira (LIVE)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Установка на ВМ Cloud.ru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Незнакомый проект и польза команды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Модель: допуск не пройден, OFF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AE391-C1E2-41F0-BAEF-45A72317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1C9"/>
          </a:solidFill>
          <a:ln xmlns:a="http://schemas.openxmlformats.org/drawingml/2006/main" w="0">
            <a:noFill/>
          </a:ln>
        </p:spPr>
      </p:sp>
      <p:sp>
        <p:nvSpPr>
          <p:cNvPr id="8" name="Преимущество, экономия и работа на коде клиента ещ">
            <a:extLst xmlns:a="http://schemas.openxmlformats.org/drawingml/2006/main">
              <a:ext uri="{FF2B5EF4-FFF2-40B4-BE49-F238E27FC236}">
                <a16:creationId xmlns:a16="http://schemas.microsoft.com/office/drawing/2014/main" id="{8BF8974D-FC62-40AD-8224-C0EEBA76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Профиль пилота: HTTP API на Python. Экономия и преимущество не измерены.</a:t>
            </a:r>
          </a:p>
        </p:txBody>
      </p:sp>
    </p:spTree>
    <p:extLst>
      <p:ext uri="{BB962C8B-B14F-4D97-AF65-F5344CB8AC3E}">
        <p14:creationId xmlns:p14="http://schemas.microsoft.com/office/powerpoint/2010/main" val="14533773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D6E8477A-2EBF-4F3E-9E45-12ACB8C8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109061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Закрытый пилот: один сквозной сценарий</a:t>
            </a:r>
          </a:p>
        </p:txBody>
      </p:sp>
      <p:sp>
        <p:nvSpPr>
          <p:cNvPr id="2" name="AGENT GRAPH  ·  8/8">
            <a:extLst xmlns:a="http://schemas.openxmlformats.org/drawingml/2006/main">
              <a:ext uri="{FF2B5EF4-FFF2-40B4-BE49-F238E27FC236}">
                <a16:creationId xmlns:a16="http://schemas.microsoft.com/office/drawing/2014/main" id="{3E8E1C14-6A8A-44C1-9460-DBA24CF1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defPPr>
            <a:lvl1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1pPr>
            <a:lvl2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2pPr>
            <a:lvl3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3pPr>
            <a:lvl4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4pPr>
            <a:lvl5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5pPr>
            <a:lvl6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6pPr>
            <a:lvl7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7pPr>
            <a:lvl8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8pPr>
            <a:lvl9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3635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35E"/>
                </a:solidFill>
                <a:latin typeface="Arial"/>
                <a:ea typeface="Arial"/>
                <a:cs typeface="Arial"/>
              </a:rPr>
              <a:t>AGENT GRAPH  ·  8/8</a:t>
            </a:r>
          </a:p>
        </p:txBody>
      </p:sp>
      <p:sp>
        <p:nvSpPr>
          <p:cNvPr id="3" name="Выбираем контур">
            <a:extLst xmlns:a="http://schemas.openxmlformats.org/drawingml/2006/main">
              <a:ext uri="{FF2B5EF4-FFF2-40B4-BE49-F238E27FC236}">
                <a16:creationId xmlns:a16="http://schemas.microsoft.com/office/drawing/2014/main" id="{81A079C9-EC6A-4665-B50A-A4E5D44B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Выбираем контур</a:t>
            </a:r>
          </a:p>
        </p:txBody>
      </p:sp>
      <p:sp>
        <p:nvSpPr>
          <p:cNvPr id="4" name="Один API и его потребители&#10;Код + источник наблюдае">
            <a:extLst xmlns:a="http://schemas.openxmlformats.org/drawingml/2006/main">
              <a:ext uri="{FF2B5EF4-FFF2-40B4-BE49-F238E27FC236}">
                <a16:creationId xmlns:a16="http://schemas.microsoft.com/office/drawing/2014/main" id="{2A1E1D71-4B48-47A5-91A1-C33517A6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5143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Один HTTP/Python API и потребители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2–5 репозиториев GitHub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Проект Jira, если он есть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Права: чтение и свой комментарий</a:t>
            </a:r>
          </a:p>
        </p:txBody>
      </p:sp>
      <p:sp>
        <p:nvSpPr>
          <p:cNvPr id="5" name="Проверяем результат">
            <a:extLst xmlns:a="http://schemas.openxmlformats.org/drawingml/2006/main">
              <a:ext uri="{FF2B5EF4-FFF2-40B4-BE49-F238E27FC236}">
                <a16:creationId xmlns:a16="http://schemas.microsoft.com/office/drawing/2014/main" id="{5122382F-77D0-45D4-843C-6B2961B8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471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87F72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2"/>
                </a:solidFill>
                <a:latin typeface="Arial"/>
                <a:ea typeface="Arial"/>
                <a:cs typeface="Arial"/>
              </a:rPr>
              <a:t>Проверяем результат</a:t>
            </a:r>
          </a:p>
        </p:txBody>
      </p:sp>
      <p:sp>
        <p:nvSpPr>
          <p:cNvPr id="6" name="Время до полезного инсайта&#10;Основания, пропуски и л">
            <a:extLst xmlns:a="http://schemas.openxmlformats.org/drawingml/2006/main">
              <a:ext uri="{FF2B5EF4-FFF2-40B4-BE49-F238E27FC236}">
                <a16:creationId xmlns:a16="http://schemas.microsoft.com/office/drawing/2014/main" id="{79E9D303-2EE4-4A24-8179-181A41E6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00350"/>
            <a:ext cx="4714875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Время до полезного вывода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Пропуски и ложные сигналы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Ручные минуты подключения</a:t>
            </a:r>
          </a:p>
          <a:p xmlns:a="http://schemas.openxmlformats.org/drawingml/2006/main">
            <a:pPr algn="l">
              <a:defRPr sz="2100" b="0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02E2C"/>
                </a:solidFill>
                <a:latin typeface="Arial"/>
                <a:ea typeface="Arial"/>
                <a:cs typeface="Arial"/>
              </a:rPr>
              <a:t>Сравнение с обычным процессом</a:t>
            </a:r>
          </a:p>
        </p:txBody>
      </p:sp>
      <p:sp>
        <p:nvSpPr>
          <p:cNvPr id="7" name="Цель — полезный ответ раньше,&#10;с минимальным участи">
            <a:extLst xmlns:a="http://schemas.openxmlformats.org/drawingml/2006/main">
              <a:ext uri="{FF2B5EF4-FFF2-40B4-BE49-F238E27FC236}">
                <a16:creationId xmlns:a16="http://schemas.microsoft.com/office/drawing/2014/main" id="{D3B227D0-DF80-4223-9C32-9DB88E3F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06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Условия пилота: предложение с допущениями,</a:t>
            </a:r>
          </a:p>
          <a:p xmlns:a="http://schemas.openxmlformats.org/drawingml/2006/main">
            <a:pPr algn="l">
              <a:defRPr sz="2850" b="1">
                <a:solidFill>
                  <a:srgbClr val="102E2C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2E2C"/>
                </a:solidFill>
                <a:latin typeface="Arial"/>
                <a:ea typeface="Arial"/>
                <a:cs typeface="Arial"/>
              </a:rPr>
              <a:t>а не утверждённая сделка.</a:t>
            </a:r>
          </a:p>
        </p:txBody>
      </p:sp>
    </p:spTree>
    <p:extLst>
      <p:ext uri="{BB962C8B-B14F-4D97-AF65-F5344CB8AC3E}">
        <p14:creationId xmlns:p14="http://schemas.microsoft.com/office/powerpoint/2010/main" val="1747878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2026-10-24T13:27:46.1400000Z</dcterms:created>
  <dcterms:modified xsi:type="dcterms:W3CDTF">2026-10-24T13:27:46.1400000Z</dcterms:modified>
</coreProperties>
</file>