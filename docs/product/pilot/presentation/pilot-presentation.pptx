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Предложение" id="{39363670-0031-3d17-826a-4f60802e24dd}">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 name="Приложение" id="{df74d350-461c-b92f-4950-a9d4e0c9160d}">
          <p14:sldIdLst>
            <p14:sldId id="272"/>
            <p14:sldId id="273"/>
            <p14:sldId id="274"/>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2E"/>
                </a:solidFill>
                <a:latin typeface="+mn-lt"/>
              </a:defRPr>
            </a:pPr>
            <a:r>
              <a:rPr sz="1400" b="0" i="0" u="none" strike="noStrike">
                <a:solidFill>
                  <a:srgbClr val="12352E"/>
                </a:solidFill>
                <a:latin typeface="+mn-lt"/>
              </a:rPr>
              <a:t>Сколько из 250 записей получил Reporting</a:t>
            </a:r>
          </a:p>
        </c:rich>
      </c:tx>
      <c:layout/>
      <c:overlay val="0"/>
    </c:title>
    <c:autoTitleDeleted val="0"/>
    <c:plotArea>
      <c:layout/>
      <c:barChart>
        <c:barDir val="col"/>
        <c:grouping val="clustered"/>
        <c:varyColors val="0"/>
        <c:ser>
          <c:idx val="0"/>
          <c:order val="0"/>
          <c:tx>
            <c:strRef>
              <c:f>Sheet1!$B$1</c:f>
              <c:strCache>
                <c:ptCount val="1"/>
                <c:pt idx="0">
                  <c:v>Reporting получил записей</c:v>
                </c:pt>
              </c:strCache>
            </c:strRef>
          </c:tx>
          <c:spPr>
            <a:solidFill>
              <a:srgbClr val="1F6B57"/>
            </a:solidFill>
            <a:effectLst/>
          </c:spPr>
          <c:invertIfNegative val="0"/>
          <c:dLbls>
            <c:numFmt formatCode="#,##0" sourceLinked="0"/>
            <c:txPr>
              <a:bodyPr/>
              <a:lstStyle/>
              <a:p>
                <a:pPr>
                  <a:defRPr b="1" i="0" strike="noStrike" sz="1600" u="none">
                    <a:solidFill>
                      <a:srgbClr val="1E2B28"/>
                    </a:solidFill>
                    <a:latin typeface="+mn-lt"/>
                  </a:defRPr>
                </a:pPr>
              </a:p>
            </c:txPr>
            <c:showLegendKey val="0"/>
            <c:showVal val="1"/>
            <c:showCatName val="0"/>
            <c:showSerName val="0"/>
            <c:showPercent val="0"/>
            <c:showBubbleSize val="0"/>
            <c:showLeaderLines val="0"/>
          </c:dLbls>
          <c:dPt>
            <c:idx val="0"/>
            <c:invertIfNegative val="0"/>
            <c:bubble3D val="0"/>
            <c:spPr>
              <a:solidFill>
                <a:srgbClr val="1F6B57"/>
              </a:solidFill>
              <a:effectLst/>
            </c:spPr>
          </c:dPt>
          <c:dPt>
            <c:idx val="1"/>
            <c:invertIfNegative val="0"/>
            <c:bubble3D val="0"/>
            <c:spPr>
              <a:solidFill>
                <a:srgbClr val="B42318"/>
              </a:solidFill>
              <a:effectLst/>
            </c:spPr>
          </c:dPt>
          <c:dPt>
            <c:idx val="2"/>
            <c:invertIfNegative val="0"/>
            <c:bubble3D val="0"/>
            <c:spPr>
              <a:solidFill>
                <a:srgbClr val="1F6B57"/>
              </a:solidFill>
              <a:effectLst/>
            </c:spPr>
          </c:dPt>
          <c:dPt>
            <c:idx val="3"/>
            <c:invertIfNegative val="0"/>
            <c:bubble3D val="0"/>
            <c:spPr>
              <a:solidFill>
                <a:srgbClr val="1F6B57"/>
              </a:solidFill>
              <a:effectLst/>
            </c:spPr>
          </c:dPt>
          <c:cat>
            <c:multiLvlStrRef>
              <c:f>Sheet1!$A$2:$A$5</c:f>
              <c:multiLvlStrCache>
                <c:ptCount val="4"/>
                <c:lvl>
                  <c:pt idx="0">
                    <c:v>A · исходно</c:v>
                  </c:pt>
                  <c:pt idx="1">
                    <c:v>B · лимит 100</c:v>
                  </c:pt>
                  <c:pt idx="2">
                    <c:v>D · исправлен</c:v>
                  </c:pt>
                  <c:pt idx="3">
                    <c:v>E · + Export</c:v>
                  </c:pt>
                </c:lvl>
              </c:multiLvlStrCache>
            </c:multiLvlStrRef>
          </c:cat>
          <c:val>
            <c:numRef>
              <c:f>Sheet1!$B$2:$B$5</c:f>
              <c:numCache>
                <c:formatCode>General</c:formatCode>
                <c:ptCount val="4"/>
                <c:pt idx="0">
                  <c:v>250</c:v>
                </c:pt>
                <c:pt idx="1">
                  <c:v>100</c:v>
                </c:pt>
                <c:pt idx="2">
                  <c:v>250</c:v>
                </c:pt>
                <c:pt idx="3">
                  <c:v>250</c:v>
                </c:pt>
              </c:numCache>
            </c:numRef>
          </c:val>
        </c:ser>
        <c:dLbls>
          <c:numFmt formatCode="#,##0" sourceLinked="0"/>
          <c:txPr>
            <a:bodyPr/>
            <a:lstStyle/>
            <a:p>
              <a:pPr>
                <a:defRPr b="1" i="0" strike="noStrike" sz="1600" u="none">
                  <a:solidFill>
                    <a:srgbClr val="1E2B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E6A"/>
                </a:solidFill>
                <a:latin typeface="+mn-lt"/>
              </a:defRPr>
            </a:pPr>
            <a:endParaRPr lang="en-US"/>
          </a:p>
        </c:txPr>
        <c:crossAx val="2094734552"/>
        <c:crosses val="autoZero"/>
        <c:auto val="1"/>
        <c:lblAlgn val="ctr"/>
        <c:noMultiLvlLbl val="1"/>
      </c:catAx>
      <c:valAx>
        <c:axId val="2094734552"/>
        <c:scaling>
          <c:orientation val="minMax"/>
          <c:max val="2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2E"/>
                </a:solidFill>
                <a:latin typeface="+mn-lt"/>
              </a:defRPr>
            </a:pPr>
            <a:r>
              <a:rPr sz="1400" b="0" i="0" u="none" strike="noStrike">
                <a:solidFill>
                  <a:srgbClr val="12352E"/>
                </a:solidFill>
                <a:latin typeface="+mn-lt"/>
              </a:rPr>
              <a:t>Случаи по модели, из 3</a:t>
            </a:r>
          </a:p>
        </c:rich>
      </c:tx>
      <c:layout/>
      <c:overlay val="0"/>
    </c:title>
    <c:autoTitleDeleted val="0"/>
    <c:plotArea>
      <c:layout/>
      <c:barChart>
        <c:barDir val="bar"/>
        <c:grouping val="stacked"/>
        <c:varyColors val="0"/>
        <c:ser>
          <c:idx val="0"/>
          <c:order val="0"/>
          <c:tx>
            <c:strRef>
              <c:f>Sheet1!$B$1</c:f>
              <c:strCache>
                <c:ptCount val="1"/>
                <c:pt idx="0">
                  <c:v>Полный цикл пройден</c:v>
                </c:pt>
              </c:strCache>
            </c:strRef>
          </c:tx>
          <c:spPr>
            <a:solidFill>
              <a:srgbClr val="1F6B57"/>
            </a:solidFill>
            <a:effectLst/>
          </c:spPr>
          <c:invertIfNegative val="0"/>
          <c:dLbls>
            <c:numFmt formatCode="#,##0" sourceLinked="0"/>
            <c:txPr>
              <a:bodyPr/>
              <a:lstStyle/>
              <a:p>
                <a:pPr>
                  <a:defRPr b="1" i="0" strike="noStrike" sz="1400" u="none">
                    <a:solidFill>
                      <a:srgbClr val="1E2B28"/>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Qwen3-Coder-Next</c:v>
                  </c:pt>
                  <c:pt idx="1">
                    <c:v>GPT OSS 120B</c:v>
                  </c:pt>
                </c:lvl>
              </c:multiLvlStrCache>
            </c:multiLvlStrRef>
          </c:cat>
          <c:val>
            <c:numRef>
              <c:f>Sheet1!$B$2:$B$3</c:f>
              <c:numCache>
                <c:formatCode>General</c:formatCode>
                <c:ptCount val="2"/>
                <c:pt idx="0">
                  <c:v>0</c:v>
                </c:pt>
                <c:pt idx="1">
                  <c:v>2</c:v>
                </c:pt>
              </c:numCache>
            </c:numRef>
          </c:val>
        </c:ser>
        <c:ser>
          <c:idx val="1"/>
          <c:order val="1"/>
          <c:tx>
            <c:strRef>
              <c:f>Sheet1!$C$1</c:f>
              <c:strCache>
                <c:ptCount val="1"/>
                <c:pt idx="0">
                  <c:v>Остановились на проверке ответа</c:v>
                </c:pt>
              </c:strCache>
            </c:strRef>
          </c:tx>
          <c:spPr>
            <a:solidFill>
              <a:srgbClr val="C9D6D1"/>
            </a:solidFill>
            <a:effectLst/>
          </c:spPr>
          <c:invertIfNegative val="0"/>
          <c:dLbls>
            <c:numFmt formatCode="#,##0" sourceLinked="0"/>
            <c:txPr>
              <a:bodyPr/>
              <a:lstStyle/>
              <a:p>
                <a:pPr>
                  <a:defRPr b="1" i="0" strike="noStrike" sz="1400" u="none">
                    <a:solidFill>
                      <a:srgbClr val="1E2B28"/>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Qwen3-Coder-Next</c:v>
                  </c:pt>
                  <c:pt idx="1">
                    <c:v>GPT OSS 120B</c:v>
                  </c:pt>
                </c:lvl>
              </c:multiLvlStrCache>
            </c:multiLvlStrRef>
          </c:cat>
          <c:val>
            <c:numRef>
              <c:f>Sheet1!$C$2:$C$3</c:f>
              <c:numCache>
                <c:formatCode>General</c:formatCode>
                <c:ptCount val="2"/>
                <c:pt idx="0">
                  <c:v>3</c:v>
                </c:pt>
                <c:pt idx="1">
                  <c:v>1</c:v>
                </c:pt>
              </c:numCache>
            </c:numRef>
          </c:val>
        </c:ser>
        <c:dLbls>
          <c:numFmt formatCode="#,##0" sourceLinked="0"/>
          <c:txPr>
            <a:bodyPr/>
            <a:lstStyle/>
            <a:p>
              <a:pPr>
                <a:defRPr b="1" i="0" strike="noStrike" sz="1400" u="none">
                  <a:solidFill>
                    <a:srgbClr val="1E2B28"/>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E2B28"/>
                </a:solidFill>
                <a:latin typeface="+mn-lt"/>
              </a:defRPr>
            </a:pPr>
            <a:endParaRPr lang="en-US"/>
          </a:p>
        </c:txPr>
        <c:crossAx val="2094734552"/>
        <c:crosses val="autoZero"/>
        <c:auto val="1"/>
        <c:lblAlgn val="ctr"/>
        <c:noMultiLvlLbl val="1"/>
      </c:catAx>
      <c:valAx>
        <c:axId val="2094734552"/>
        <c:scaling>
          <c:orientation val="minMax"/>
          <c:max val="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6E6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встречи одна: договориться о предметном пилоте, его владельце, исходных материалах и следующей встрече. Скажите это сразу.
Представьте предложение как сопровождаемый пилот: анализ делает наш инженер с инструментом. Не называйте это готовым продуктом.
Переход: "Начну с того, как мы представляем вашу ситуацию. Поправьте, где мы ошибаемся."
Опора: C38.
Время: 1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слайд не утверждение, а вопрос. Картина составлена по нашим материалам, интервью с клиентами ещё не было (C01, C32).
Спросите: "Когда вы последний раз меняли API, у которого потребители в других командах? Как искали, кого это заденет? Что случилось потом?" Нужен конкретный случай за последние 90 дней.
Если такого случая нет, дальше предложение пилота не показываем: переходим к разговору о том, где у них болит, и договариваемся только о следующем контакте (C52, правило OFFER.md).
Пример 100 из 250 взят с синтетического стенда, подробности на слайде 5. Цифр стоимости инцидента у нас нет: асимметрию "часы против минут" называйте рабочей гипотезой (C04).
Переход: "Как вы сейчас собираете этот список? Мы видели вот такие способы."
Опора: C01, C03, C04, C05. Не говорить: что такие поломки случаются часто (C05 не проверена).
Время: 4 мин, большая часть на вопросы.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Спросите, какие из шести способов у них в ходу, и отметьте ответы для протокола интервью.
Два пробела формулируйте как устройство ответа, а не как чужую ошибку: основание, которое ревьюер может проверить, и граница у "не найдено".
Про coding agent скажите прямо: он ищет шире нас, в любом стеке (C06). Его недостатки на этом слайде это наша гипотеза, сравнения не было (C07). Если агент у них разрешён, это хорошо: пилот сравнивает именно с ним.
Переход: "Вот что мы предлагаем сделать с вашим изменением."
Опора: C02, C06, C07.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поток слева направо: вход, работа инструмента вместе с нашим инженером, отчёт для PR.
Обязательно скажите, что форма "отчёт автору изменения в PR" это рабочая гипотеза. Другие формы, например интерфейс для разработчика или вызов из coding agent, пока не проверены, и мы сознательно начинаем с отчёта: ошибка бьёт по человеку, и решение принимает человек (CLAIMS.md, "Рабочая гипотеза продукта").
Отчёт на правой карточке нарисован на данных стенда. Markdown-отчёт и ссылки на коммиты Git делаем до старта пилота, сегодня выход это JSON и экран демо (C35, C36).
Подчеркните: инструмент ничего не блокирует и никому не пишет, решение о выпуске остаётся у команды (C18).
Переход: "Покажу, как это работает, на стенде с искусственными данными."
Опора: C13, C14, C18, C35, C36, C38.
Время: 2-3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Первым делом скажите: это синтетический стенд, 250 искусственных записей. Это иллюстрация механизма, а не результат на чьём-то коде (C10).
Пройдите четыре шага справа. Ключевой момент: инструмент указал на Reporting по коду до запуска, а запуск подтвердил 100 из 250. Основание это условный прогноз, а не вердикт.
Столбцы: A исходно 250, B после ограничения страницы 100, D после исправления Reporting снова 250, E после добавления Export тоже 250.
Проверку запускает оператор стенда, это наблюдение, а не независимая проверка (C11).
Переход: "Вот как это выглядит на экране."
Опора: C03, C10, C11, C12. Не говорить: "мы предотвратили потерю данных" или "инструмент находит все потребители".
Время: 3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фрагмента одного экрана с ВМ демо от 22.10.2026. Пройдите по номерам: последствие, основание, результат запуска.
Обратите внимание на формулировки самого интерфейса: "возможна потеря", "тест не выполнялся", "допуск к выпуску не выдавался". Мы не выдаём находку за подтверждённое влияние (C13).
Строку интерфейса о "независимой проверке" мы вырезали из кадра: аудит признал её неверной, запуск делает оператор (C11, FINDINGS F2).
Если спросят про интерфейс: в пилоте его не используем, результат приходит отчётом в PR; понятность интерфейса на людях не проверялась (C31).
Переход: "После исправления картина такая."
Опора: C10, C11, C12, C13.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после исправления обходит страницы и получает 250 из 250. Добавлен потребитель Export, тоже 250.
Сразу назовите ограничение: появление нового потребителя анализ изменения пока не считает изменением (C19). Это честная граница, её видно на этом же стенде.
Кадр версии D на ВМ не сохранён, результат D взят из отчёта приёмки. Скажите это, если кто-то спросит, где D.
Переход: "Что из этого мы считаем подтверждённым."
Опора: C10, C19.
Время: 1-2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Четыре факта, каждый с условием: стенд, код и тесты, замер на синтетике под Windows, отсутствие вызовов модели.
Главное отличие продукта сегодня: основание с файлом, строками и хешем и ограниченный ответ "не найдено" (C13, C14). Его ценность для покупателя не проверена: это вопрос пилота.
Нижнюю плашку прочитайте вслух: на коде клиента инструмент ещё не запускался (C29, C32). Лучше сказать это самим, чем услышать вопрос.
Переход: "Часто спрашивают про ИИ. Модель мы проверяли."
Опора: C10, C13, C15, C17, C29.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Модельный эксперимент показывайте как есть: 2 полных цикла из 6, только у GPT OSS; контроль с ложной подсказкой не завершила ни одна модель (C20).
Важнее другое: в текущем протоколе принятый кандидат модели по построению совпадает со связью, которую уже нашёл статический анализ. Модель не добавляет связей (C21). Плюс клиент модели не работает через корпоративный прокси (C23).
Вывод для собеседника: в пилоте их код не уходит ни в какую модель (C24). Для службы безопасности это обычно плюс.
Переход: "Теперь о границах: где инструмент сегодня не работает."
Опора: C20, C21, C23, C24. Не говорить: "модель неплохо справилась" или "с моделью будет лучше".
Время: 1-2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Таблицу читайте по строкам. Подчеркните, что самые обычные формы вызова, f-строки и адреса из настроек, сегодня не распознаются (C26). Поэтому первый шаг это проба покрытия на их коде.
Справа три факта: 0 связей на реальных репозиториях, шум в пробелах, интерфейс не проверен на людях (C28, C29, C31).
Синяя плашка это план до старта: "перепроверить" для любого изменения, меньше шума, не больше двух новых форм вызова и только по данным пробы (C37, BACKLOG B1, B2, B6).
Спросите: "Как у вас в коде задают адрес сервиса?" Ответ сразу показывает шанс пройти пробу.
Переход: "Чем это отличается от того, что у вас уже есть."
Опора: C25, C26, C27, C28, C29, C30, C31, C37.
Время: 2-3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Красные ячейки в нашей колонке оставлены нарочно: по охвату и цене старта агент и поиск сильнее.
Наша колонка выигрывает в двух строках: основание, которое можно проверить, и граница "не найдено". Привязка к коммиту появится до старта (C36).
Причина попробовать формулируйте через пользу при любом исходе: отчёты по своим изменениям и измеренная доля пропусков своего агента (C47).
Переход: "Чтобы не было путаницы, разделю: что есть, что проверяем, что план."
Опора: C06, C07, C08, C09, C13, C47.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слайд-резюме для руководителя. Прочитайте заголовки колонок и по одному пункту из каждой.
"Есть сейчас" заканчивается фразой: на клиентском коде ещё не запускался (C32).
"Проверяем в пилоте" это четыре вопроса, на которые ответят их числа.
"Делаем до старта" это около 2-2,5 недель разработки, которые начинаются после согласия на пробу.
Нижнюю строку "не обещаем" прочитайте полностью (C48).
Переход: "Как устроен сам пилот."
Опора: C09, C13, C14, C29, C32, C35-C37, C41, C42, C48.
Время: 1-2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Пять фаз по неделям. Неделя 0 это ворота: если проба не пройдена, пилот не начинаем и честно говорим почему.
12 изменений: 6 из истории за полгода, 6 живых PR. Минимум 8 для решения (C39).
Три ветки на одних задачах: их текущий процесс, их coding agent без модуля, агент с модулем у нашего инженера (C40). Эталон собирает их сотрудник вслепую.
Если coding agent у них не разрешён, скажите заранее: пилот ответит только на вопрос "лучше ли текущего процесса" (C50).
Переход: "Кто что делает."
Опора: C39, C40, C41, C50.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Наша сторона делает основную работу, это часть предложения.
Их сторона: около 12-16 часов на 2-3 человека за 6 недель. Это оценка до замера, в пилоте мы записываем каждую минуту (C44).
Роль оператора агента может взять второй человек с нашей стороны, если они разрешат: тогда их нагрузка ниже.
Гарантии: код не покидает контур, модель выключена, публикуем только обезличенные итоги с их согласия, пилот бесплатный (C24, C46, C51).
Переход: "По каким правилам примем решение."
Опора: C24, C38, C44, C46, C51.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мысль: критерии записаны до данных и не меняются после (C42).
"Продолжить" требует трёх вещей сразу: пропусков не больше, труд не больше 80% с подключением, и их собственный следующий шаг. Похвала без действия не считается.
"Остановить" скажите спокойно: если модуль пропустит больше серьёзных потребителей, чем их агент, мы прямо скажем, что инструмент им не нужен.
12 задач это диагностика, а не статистика (C43).
Переход: "Что мы предлагаем решить сегодня."
Опора: C04, C42, C43, C47, C48.
Время: 2 мин.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Четыре договорённости. Заполните поля прямо на встрече или в письме после неё.
1. Предмет: какой API подходит под условия входа (C49). Если не подходит ни один, это тоже результат.
2. Владелец: техлид API и человек, который согласует доступ.
3. Материалы для пробы: доступ на чтение, адреса, список изменений за полгода, CODEOWNERS, машина Linux или WSL2.
4. Следующая встреча: разбор их последнего изменения и запуск пробы. Назовите конкретную дату.
Закройте фразой со слайда: после пробы скажем, применим ли инструмент, и если нет, не начинаем.
Опора: C41, C49, C52. Не обещать сроки старта: они зависят от выдачи доступа.
Время: 5 мин и больше.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Приложение не показывается подряд. Открывайте нужный слайд в ответ на вопрос: методика (П1-П3), стенд и эксперименты (П4-П6), работа до старта и экономика (П7-П8), реестр утверждений и источники (П9-П11).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Когда спрашивают "а как вы поймёте, что лучше": три ветки, правила изоляции, слепой эталон. Подчеркните общий недостаток: потребителя, которого не нашёл никто, в эталоне не будет.
Опора: C40; PROTOCOL.md §4-§5.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Формулы для техлида: FN это серьёзные пропуски по слепому эталону, T это полный активный труд обеих сторон. Порог 20% выбран заранее как ориентир.
Опора: C42, C43; PROTOCOL.md §1, §6, §8.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Порог 0,5 предложен и утверждается до пробы. Покрытие на пробе это верхняя оценка. Если проба не пройдена, клиент получает распределение форм вызова в своём коде.
Опора: C41; PROTOCOL.md §2.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Таблица результатов приёмки на ВМ и два кадра, где экран честно показывает отсутствие проверки и остановленный сервис.
Если спросят, почему "неполные данные" на всех экранах: ярлык всегда такой из-за декораторов FastAPI и сигнала не несёт (FINDINGS L1).
Опора: C10, C11.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Шесть строк как в отчёте. "Ответ отклонён при предложении" значит, что действие модели не прошло проверку формата до оценки по существу; это не доказанная ошибка модели в выборе связи.
Стоимость около 2,58 ₽ это оценка по опубликованным ставкам, не биллинг.
Опора: C20, C21, C22.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Числа сняты под Windows через shim, Linux не замерен. Отношения между фазами от ОС почти не зависят. Связей на публичных репозиториях 0, потому что адреса в настройках не совпадали: это замер стоимости и шума, а не качества.
Опора: C17, C28, C29.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Каждый пункт закрывает известный дефект, который иначе испортил бы измерение. B8 и B7 делаем сразу, остальное после согласия на пробу.
Опора: C16, C33, C34, C35-C37.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Цены нет. Если спросят "сколько будет стоить", ответ: посчитаем из измерений пилота, единица для проверки "API под наблюдением в месяц" с инженером. Прежние 100-150 тыс. руб. отозваны, не называйте их.
Опора: C45, C46; ECONOMICS.md.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Сжатая выдержка из CLAIMS.md: только подтверждённые утверждения, на которые опирается основной рассказ.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Гипотезы и план из CLAIMS.md. Полезно показать, если собеседник спрашивает, что из сказанного проверено.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Где лежит каждый источник и в каком он состоянии. Два источника, UX-аудит и исследование Ontonet, в удалённом репозитории отсутствуют: их выводы мы используем только в пересказе EVIDENCE.md.
Время: по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Предложение пилота · рабочая версия от 24.10.2026</a:t>
            </a:r>
            <a:endParaRPr lang="en-US" sz="1000" dirty="0"/>
          </a:p>
        </p:txBody>
      </p:sp>
      <p:sp>
        <p:nvSpPr>
          <p:cNvPr id="3" name="Text 1"/>
          <p:cNvSpPr/>
          <p:nvPr>
            <p:ph idx="101" type="title" hasCustomPrompt="1"/>
          </p:nvPr>
        </p:nvSpPr>
        <p:spPr>
          <a:xfrm>
            <a:off x="548640" y="347472"/>
            <a:ext cx="11094415" cy="10058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PPENDIX">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Приложение · предложение пилота, рабочая версия от 24.10.2026</a:t>
            </a:r>
            <a:endParaRPr lang="en-US" sz="1000" dirty="0"/>
          </a:p>
        </p:txBody>
      </p:sp>
      <p:sp>
        <p:nvSpPr>
          <p:cNvPr id="3" name="Text 1"/>
          <p:cNvSpPr/>
          <p:nvPr>
            <p:ph idx="101" type="title" hasCustomPrompt="1"/>
          </p:nvPr>
        </p:nvSpPr>
        <p:spPr>
          <a:xfrm>
            <a:off x="548640" y="347472"/>
            <a:ext cx="11094415" cy="10058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O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7863840" cy="2377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85800"/>
            <a:ext cx="7863840" cy="365760"/>
          </a:xfrm>
          <a:prstGeom prst="rect">
            <a:avLst/>
          </a:prstGeom>
          <a:noFill/>
          <a:ln/>
        </p:spPr>
        <p:txBody>
          <a:bodyPr wrap="square" lIns="0" tIns="0" rIns="0" bIns="0" rtlCol="0" anchor="ctr"/>
          <a:lstStyle/>
          <a:p>
            <a:pPr indent="0" marL="0">
              <a:buNone/>
            </a:pPr>
            <a:r>
              <a:rPr lang="en-US" sz="1400" b="1" spc="100" kern="0" dirty="0">
                <a:solidFill>
                  <a:schemeClr val="accent6"/>
                </a:solidFill>
              </a:rPr>
              <a:t>ПРЕДЛОЖЕНИЕ СОПРОВОЖДАЕМОГО ПИЛОТА</a:t>
            </a:r>
            <a:endParaRPr lang="en-US" sz="1400" dirty="0"/>
          </a:p>
        </p:txBody>
      </p:sp>
      <p:sp>
        <p:nvSpPr>
          <p:cNvPr id="3" name="Text 0"/>
          <p:cNvSpPr/>
          <p:nvPr>
            <p:ph idx="100" type="title" hasCustomPrompt="1"/>
          </p:nvPr>
        </p:nvSpPr>
        <p:spPr>
          <a:xfrm>
            <a:off x="548640" y="1417320"/>
            <a:ext cx="7863840" cy="2377440"/>
          </a:xfrm>
          <a:prstGeom prst="rect">
            <a:avLst/>
          </a:prstGeom>
          <a:noFill/>
          <a:ln/>
        </p:spPr>
        <p:txBody>
          <a:bodyPr wrap="square" lIns="0" tIns="0" rIns="0" bIns="0" rtlCol="0" anchor="t"/>
          <a:lstStyle/>
          <a:p>
            <a:pPr algn="l" indent="0" marL="0">
              <a:buNone/>
            </a:pPr>
            <a:r>
              <a:rPr lang="en-US" sz="4000" b="1" dirty="0">
                <a:solidFill>
                  <a:schemeClr val="bg1"/>
                </a:solidFill>
              </a:rPr>
              <a:t>Кого заденет изменение вашего API: список потребителей с основанием и проверкой</a:t>
            </a:r>
            <a:endParaRPr lang="en-US" sz="4000" dirty="0"/>
          </a:p>
        </p:txBody>
      </p:sp>
      <p:sp>
        <p:nvSpPr>
          <p:cNvPr id="4" name="Text 2"/>
          <p:cNvSpPr txBox="1"/>
          <p:nvPr/>
        </p:nvSpPr>
        <p:spPr>
          <a:xfrm>
            <a:off x="548640" y="3977640"/>
            <a:ext cx="7498080" cy="822960"/>
          </a:xfrm>
          <a:prstGeom prst="rect">
            <a:avLst/>
          </a:prstGeom>
          <a:noFill/>
          <a:ln/>
        </p:spPr>
        <p:txBody>
          <a:bodyPr wrap="square" lIns="0" tIns="0" rIns="0" bIns="0" rtlCol="0" anchor="t"/>
          <a:lstStyle/>
          <a:p>
            <a:pPr indent="0" marL="0">
              <a:spcAft>
                <a:spcPts val="400"/>
              </a:spcAft>
              <a:buNone/>
            </a:pPr>
            <a:r>
              <a:rPr lang="en-US" sz="1800" dirty="0">
                <a:solidFill>
                  <a:schemeClr val="bg2"/>
                </a:solidFill>
              </a:rPr>
              <a:t>Для команд, которые владеют внутренним HTTP API, а его потребители живут в репозиториях других команд</a:t>
            </a:r>
            <a:endParaRPr lang="en-US" sz="1800" dirty="0"/>
          </a:p>
        </p:txBody>
      </p:sp>
      <p:sp>
        <p:nvSpPr>
          <p:cNvPr id="5" name="Text 3"/>
          <p:cNvSpPr txBox="1"/>
          <p:nvPr/>
        </p:nvSpPr>
        <p:spPr>
          <a:xfrm>
            <a:off x="548640" y="5989320"/>
            <a:ext cx="7863840" cy="32004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Встреча с техлидом и руководителем направления · рабочая версия от 24.10.2026</a:t>
            </a:r>
            <a:endParaRPr lang="en-US" sz="1200" dirty="0"/>
          </a:p>
        </p:txBody>
      </p:sp>
      <p:sp>
        <p:nvSpPr>
          <p:cNvPr id="6" name="Shape 4"/>
          <p:cNvSpPr/>
          <p:nvPr/>
        </p:nvSpPr>
        <p:spPr>
          <a:xfrm>
            <a:off x="9052560" y="1737360"/>
            <a:ext cx="1325880" cy="1783080"/>
          </a:xfrm>
          <a:prstGeom prst="line">
            <a:avLst/>
          </a:prstGeom>
          <a:noFill/>
          <a:ln w="19050">
            <a:solidFill>
              <a:schemeClr val="accent6"/>
            </a:solidFill>
            <a:prstDash val="solid"/>
          </a:ln>
        </p:spPr>
      </p:sp>
      <p:sp>
        <p:nvSpPr>
          <p:cNvPr id="7" name="Shape 5"/>
          <p:cNvSpPr/>
          <p:nvPr/>
        </p:nvSpPr>
        <p:spPr>
          <a:xfrm flipH="1">
            <a:off x="10378440" y="1920240"/>
            <a:ext cx="868680" cy="1600200"/>
          </a:xfrm>
          <a:prstGeom prst="line">
            <a:avLst/>
          </a:prstGeom>
          <a:noFill/>
          <a:ln w="19050">
            <a:solidFill>
              <a:schemeClr val="accent6"/>
            </a:solidFill>
            <a:prstDash val="solid"/>
          </a:ln>
        </p:spPr>
      </p:sp>
      <p:sp>
        <p:nvSpPr>
          <p:cNvPr id="8" name="Shape 6"/>
          <p:cNvSpPr/>
          <p:nvPr/>
        </p:nvSpPr>
        <p:spPr>
          <a:xfrm flipH="1">
            <a:off x="8869680" y="3520440"/>
            <a:ext cx="1508760" cy="1325880"/>
          </a:xfrm>
          <a:prstGeom prst="line">
            <a:avLst/>
          </a:prstGeom>
          <a:noFill/>
          <a:ln w="19050">
            <a:solidFill>
              <a:schemeClr val="accent6"/>
            </a:solidFill>
            <a:prstDash val="solid"/>
          </a:ln>
        </p:spPr>
      </p:sp>
      <p:sp>
        <p:nvSpPr>
          <p:cNvPr id="9" name="Shape 7"/>
          <p:cNvSpPr/>
          <p:nvPr/>
        </p:nvSpPr>
        <p:spPr>
          <a:xfrm>
            <a:off x="10378440" y="3520440"/>
            <a:ext cx="960120" cy="1234440"/>
          </a:xfrm>
          <a:prstGeom prst="line">
            <a:avLst/>
          </a:prstGeom>
          <a:noFill/>
          <a:ln w="19050">
            <a:solidFill>
              <a:schemeClr val="accent6"/>
            </a:solidFill>
            <a:prstDash val="dash"/>
          </a:ln>
        </p:spPr>
      </p:sp>
      <p:sp>
        <p:nvSpPr>
          <p:cNvPr id="10" name="Shape 8"/>
          <p:cNvSpPr/>
          <p:nvPr/>
        </p:nvSpPr>
        <p:spPr>
          <a:xfrm>
            <a:off x="9921240" y="3063240"/>
            <a:ext cx="914400" cy="914400"/>
          </a:xfrm>
          <a:prstGeom prst="ellipse">
            <a:avLst/>
          </a:prstGeom>
          <a:solidFill>
            <a:schemeClr val="accent6"/>
          </a:solidFill>
          <a:ln w="12700">
            <a:solidFill>
              <a:schemeClr val="accent6"/>
            </a:solidFill>
            <a:prstDash val="solid"/>
          </a:ln>
        </p:spPr>
      </p:sp>
      <p:sp>
        <p:nvSpPr>
          <p:cNvPr id="11" name="Text 9"/>
          <p:cNvSpPr txBox="1"/>
          <p:nvPr/>
        </p:nvSpPr>
        <p:spPr>
          <a:xfrm>
            <a:off x="9921240" y="3063240"/>
            <a:ext cx="914400" cy="914400"/>
          </a:xfrm>
          <a:prstGeom prst="rect">
            <a:avLst/>
          </a:prstGeom>
          <a:noFill/>
          <a:ln/>
        </p:spPr>
        <p:txBody>
          <a:bodyPr wrap="square" lIns="0" tIns="0" rIns="0" bIns="0" rtlCol="0" anchor="ctr"/>
          <a:lstStyle/>
          <a:p>
            <a:pPr algn="ctr" indent="0" marL="0">
              <a:buNone/>
            </a:pPr>
            <a:r>
              <a:rPr lang="en-US" sz="1600" b="1" dirty="0">
                <a:solidFill>
                  <a:schemeClr val="tx2"/>
                </a:solidFill>
              </a:rPr>
              <a:t>API</a:t>
            </a:r>
            <a:endParaRPr lang="en-US" sz="1600" dirty="0"/>
          </a:p>
        </p:txBody>
      </p:sp>
      <p:sp>
        <p:nvSpPr>
          <p:cNvPr id="12" name="Shape 10"/>
          <p:cNvSpPr/>
          <p:nvPr/>
        </p:nvSpPr>
        <p:spPr>
          <a:xfrm>
            <a:off x="8732520" y="1417320"/>
            <a:ext cx="640080" cy="640080"/>
          </a:xfrm>
          <a:prstGeom prst="ellipse">
            <a:avLst/>
          </a:prstGeom>
          <a:solidFill>
            <a:schemeClr val="accent1"/>
          </a:solidFill>
          <a:ln w="19050">
            <a:solidFill>
              <a:schemeClr val="accent6"/>
            </a:solidFill>
            <a:prstDash val="solid"/>
          </a:ln>
        </p:spPr>
      </p:sp>
      <p:sp>
        <p:nvSpPr>
          <p:cNvPr id="13" name="Text 11"/>
          <p:cNvSpPr txBox="1"/>
          <p:nvPr/>
        </p:nvSpPr>
        <p:spPr>
          <a:xfrm>
            <a:off x="8458200" y="1417320"/>
            <a:ext cx="1188720" cy="640080"/>
          </a:xfrm>
          <a:prstGeom prst="rect">
            <a:avLst/>
          </a:prstGeom>
          <a:noFill/>
          <a:ln/>
        </p:spPr>
        <p:txBody>
          <a:bodyPr wrap="square" lIns="0" tIns="0" rIns="0" bIns="0" rtlCol="0" anchor="ctr"/>
          <a:lstStyle/>
          <a:p>
            <a:pPr algn="ctr" indent="0" marL="0">
              <a:buNone/>
            </a:pPr>
            <a:r>
              <a:rPr lang="en-US" sz="1100" b="1" dirty="0">
                <a:solidFill>
                  <a:schemeClr val="bg1"/>
                </a:solidFill>
              </a:rPr>
              <a:t>DAG</a:t>
            </a:r>
            <a:endParaRPr lang="en-US" sz="1100" dirty="0"/>
          </a:p>
        </p:txBody>
      </p:sp>
      <p:sp>
        <p:nvSpPr>
          <p:cNvPr id="14" name="Shape 12"/>
          <p:cNvSpPr/>
          <p:nvPr/>
        </p:nvSpPr>
        <p:spPr>
          <a:xfrm>
            <a:off x="10927080" y="1600200"/>
            <a:ext cx="640080" cy="640080"/>
          </a:xfrm>
          <a:prstGeom prst="ellipse">
            <a:avLst/>
          </a:prstGeom>
          <a:solidFill>
            <a:schemeClr val="accent1"/>
          </a:solidFill>
          <a:ln w="19050">
            <a:solidFill>
              <a:schemeClr val="accent6"/>
            </a:solidFill>
            <a:prstDash val="solid"/>
          </a:ln>
        </p:spPr>
      </p:sp>
      <p:sp>
        <p:nvSpPr>
          <p:cNvPr id="15" name="Text 13"/>
          <p:cNvSpPr txBox="1"/>
          <p:nvPr/>
        </p:nvSpPr>
        <p:spPr>
          <a:xfrm>
            <a:off x="10652760" y="1600200"/>
            <a:ext cx="1188720" cy="640080"/>
          </a:xfrm>
          <a:prstGeom prst="rect">
            <a:avLst/>
          </a:prstGeom>
          <a:noFill/>
          <a:ln/>
        </p:spPr>
        <p:txBody>
          <a:bodyPr wrap="square" lIns="0" tIns="0" rIns="0" bIns="0" rtlCol="0" anchor="ctr"/>
          <a:lstStyle/>
          <a:p>
            <a:pPr algn="ctr" indent="0" marL="0">
              <a:buNone/>
            </a:pPr>
            <a:r>
              <a:rPr lang="en-US" sz="1100" b="1" dirty="0">
                <a:solidFill>
                  <a:schemeClr val="bg1"/>
                </a:solidFill>
              </a:rPr>
              <a:t>Отчёты</a:t>
            </a:r>
            <a:endParaRPr lang="en-US" sz="1100" dirty="0"/>
          </a:p>
        </p:txBody>
      </p:sp>
      <p:sp>
        <p:nvSpPr>
          <p:cNvPr id="16" name="Shape 14"/>
          <p:cNvSpPr/>
          <p:nvPr/>
        </p:nvSpPr>
        <p:spPr>
          <a:xfrm>
            <a:off x="8549640" y="4526280"/>
            <a:ext cx="640080" cy="640080"/>
          </a:xfrm>
          <a:prstGeom prst="ellipse">
            <a:avLst/>
          </a:prstGeom>
          <a:solidFill>
            <a:schemeClr val="accent1"/>
          </a:solidFill>
          <a:ln w="19050">
            <a:solidFill>
              <a:schemeClr val="accent6"/>
            </a:solidFill>
            <a:prstDash val="solid"/>
          </a:ln>
        </p:spPr>
      </p:sp>
      <p:sp>
        <p:nvSpPr>
          <p:cNvPr id="17" name="Text 15"/>
          <p:cNvSpPr txBox="1"/>
          <p:nvPr/>
        </p:nvSpPr>
        <p:spPr>
          <a:xfrm>
            <a:off x="8275320" y="4526280"/>
            <a:ext cx="1188720" cy="640080"/>
          </a:xfrm>
          <a:prstGeom prst="rect">
            <a:avLst/>
          </a:prstGeom>
          <a:noFill/>
          <a:ln/>
        </p:spPr>
        <p:txBody>
          <a:bodyPr wrap="square" lIns="0" tIns="0" rIns="0" bIns="0" rtlCol="0" anchor="ctr"/>
          <a:lstStyle/>
          <a:p>
            <a:pPr algn="ctr" indent="0" marL="0">
              <a:buNone/>
            </a:pPr>
            <a:r>
              <a:rPr lang="en-US" sz="1100" b="1" dirty="0">
                <a:solidFill>
                  <a:schemeClr val="bg1"/>
                </a:solidFill>
              </a:rPr>
              <a:t>ML</a:t>
            </a:r>
            <a:endParaRPr lang="en-US" sz="1100" dirty="0"/>
          </a:p>
        </p:txBody>
      </p:sp>
      <p:sp>
        <p:nvSpPr>
          <p:cNvPr id="18" name="Shape 16"/>
          <p:cNvSpPr/>
          <p:nvPr/>
        </p:nvSpPr>
        <p:spPr>
          <a:xfrm>
            <a:off x="11018520" y="4434840"/>
            <a:ext cx="640080" cy="640080"/>
          </a:xfrm>
          <a:prstGeom prst="ellipse">
            <a:avLst/>
          </a:prstGeom>
          <a:solidFill>
            <a:schemeClr val="tx2"/>
          </a:solidFill>
          <a:ln w="19050">
            <a:solidFill>
              <a:schemeClr val="accent6"/>
            </a:solidFill>
            <a:prstDash val="dash"/>
          </a:ln>
        </p:spPr>
      </p:sp>
      <p:sp>
        <p:nvSpPr>
          <p:cNvPr id="19" name="Text 17"/>
          <p:cNvSpPr txBox="1"/>
          <p:nvPr/>
        </p:nvSpPr>
        <p:spPr>
          <a:xfrm>
            <a:off x="10744200" y="4434840"/>
            <a:ext cx="1188720" cy="64008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Перед изменением API трудно с основаниями ответить, кого оно заденет</a:t>
            </a:r>
            <a:endParaRPr lang="en-US" sz="2800" dirty="0"/>
          </a:p>
        </p:txBody>
      </p:sp>
      <p:sp>
        <p:nvSpPr>
          <p:cNvPr id="3" name="chip-hyp"/>
          <p:cNvSpPr/>
          <p:nvPr/>
        </p:nvSpPr>
        <p:spPr>
          <a:xfrm>
            <a:off x="548640" y="1463040"/>
            <a:ext cx="4332427"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4332427"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ГИПОТЕЗА · так мы видим ситуацию; проверим в разговоре</a:t>
            </a:r>
            <a:endParaRPr lang="en-US" sz="1050" dirty="0"/>
          </a:p>
        </p:txBody>
      </p:sp>
      <p:sp>
        <p:nvSpPr>
          <p:cNvPr id="5" name="diagram-bg"/>
          <p:cNvSpPr/>
          <p:nvPr/>
        </p:nvSpPr>
        <p:spPr>
          <a:xfrm>
            <a:off x="548640" y="2057400"/>
            <a:ext cx="5760720" cy="4069080"/>
          </a:xfrm>
          <a:prstGeom prst="roundRect">
            <a:avLst>
              <a:gd name="adj" fmla="val 2247"/>
            </a:avLst>
          </a:prstGeom>
          <a:solidFill>
            <a:schemeClr val="bg2"/>
          </a:solidFill>
          <a:ln w="6350">
            <a:solidFill>
              <a:schemeClr val="bg2"/>
            </a:solidFill>
            <a:prstDash val="solid"/>
          </a:ln>
        </p:spPr>
      </p:sp>
      <p:sp>
        <p:nvSpPr>
          <p:cNvPr id="6" name="Shape 4"/>
          <p:cNvSpPr/>
          <p:nvPr/>
        </p:nvSpPr>
        <p:spPr>
          <a:xfrm>
            <a:off x="822960" y="3474720"/>
            <a:ext cx="2103120" cy="1234440"/>
          </a:xfrm>
          <a:prstGeom prst="roundRect">
            <a:avLst>
              <a:gd name="adj" fmla="val 7407"/>
            </a:avLst>
          </a:prstGeom>
          <a:solidFill>
            <a:schemeClr val="accent1"/>
          </a:solidFill>
          <a:ln w="12700">
            <a:solidFill>
              <a:schemeClr val="accent1"/>
            </a:solidFill>
            <a:prstDash val="solid"/>
          </a:ln>
        </p:spPr>
      </p:sp>
      <p:sp>
        <p:nvSpPr>
          <p:cNvPr id="7" name="Text 5"/>
          <p:cNvSpPr txBox="1"/>
          <p:nvPr/>
        </p:nvSpPr>
        <p:spPr>
          <a:xfrm>
            <a:off x="960120" y="3611880"/>
            <a:ext cx="1828800" cy="91440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Ваш API</a:t>
            </a:r>
            <a:endParaRPr lang="en-US" sz="1500" dirty="0"/>
          </a:p>
          <a:p>
            <a:pPr indent="0" marL="0">
              <a:spcAft>
                <a:spcPts val="400"/>
              </a:spcAft>
              <a:buNone/>
            </a:pPr>
            <a:r>
              <a:rPr lang="en-US" sz="1200" dirty="0">
                <a:solidFill>
                  <a:schemeClr val="bg1"/>
                </a:solidFill>
              </a:rPr>
              <a:t>FastAPI или OpenAPI</a:t>
            </a:r>
            <a:endParaRPr lang="en-US" sz="1500" dirty="0"/>
          </a:p>
        </p:txBody>
      </p:sp>
      <p:sp>
        <p:nvSpPr>
          <p:cNvPr id="8" name="Shape 6"/>
          <p:cNvSpPr/>
          <p:nvPr/>
        </p:nvSpPr>
        <p:spPr>
          <a:xfrm>
            <a:off x="822960" y="4937760"/>
            <a:ext cx="2103120" cy="822960"/>
          </a:xfrm>
          <a:prstGeom prst="roundRect">
            <a:avLst>
              <a:gd name="adj" fmla="val 8889"/>
            </a:avLst>
          </a:prstGeom>
          <a:solidFill>
            <a:schemeClr val="bg1"/>
          </a:solidFill>
          <a:ln w="12700">
            <a:solidFill>
              <a:schemeClr val="accent2"/>
            </a:solidFill>
            <a:prstDash val="dash"/>
          </a:ln>
        </p:spPr>
      </p:sp>
      <p:sp>
        <p:nvSpPr>
          <p:cNvPr id="9" name="Text 7"/>
          <p:cNvSpPr txBox="1"/>
          <p:nvPr/>
        </p:nvSpPr>
        <p:spPr>
          <a:xfrm>
            <a:off x="932688" y="5001768"/>
            <a:ext cx="1920240" cy="73152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PR: размер страницы по умолчанию 100</a:t>
            </a:r>
            <a:endParaRPr lang="en-US" sz="1200" dirty="0"/>
          </a:p>
        </p:txBody>
      </p:sp>
      <p:sp>
        <p:nvSpPr>
          <p:cNvPr id="10" name="Shape 8"/>
          <p:cNvSpPr/>
          <p:nvPr/>
        </p:nvSpPr>
        <p:spPr>
          <a:xfrm flipH="1">
            <a:off x="2926080" y="2670048"/>
            <a:ext cx="685800" cy="1417320"/>
          </a:xfrm>
          <a:prstGeom prst="line">
            <a:avLst/>
          </a:prstGeom>
          <a:noFill/>
          <a:ln w="15875">
            <a:solidFill>
              <a:schemeClr val="accent1"/>
            </a:solidFill>
            <a:prstDash val="solid"/>
          </a:ln>
        </p:spPr>
      </p:sp>
      <p:sp>
        <p:nvSpPr>
          <p:cNvPr id="11" name="Shape 9"/>
          <p:cNvSpPr/>
          <p:nvPr/>
        </p:nvSpPr>
        <p:spPr>
          <a:xfrm>
            <a:off x="3611880" y="2377440"/>
            <a:ext cx="2514600" cy="594360"/>
          </a:xfrm>
          <a:prstGeom prst="roundRect">
            <a:avLst>
              <a:gd name="adj" fmla="val 12308"/>
            </a:avLst>
          </a:prstGeom>
          <a:solidFill>
            <a:schemeClr val="bg1"/>
          </a:solidFill>
          <a:ln w="12700">
            <a:solidFill>
              <a:schemeClr val="accent1"/>
            </a:solidFill>
            <a:prstDash val="solid"/>
          </a:ln>
        </p:spPr>
      </p:sp>
      <p:sp>
        <p:nvSpPr>
          <p:cNvPr id="12" name="Text 10"/>
          <p:cNvSpPr txBox="1"/>
          <p:nvPr/>
        </p:nvSpPr>
        <p:spPr>
          <a:xfrm>
            <a:off x="3730752" y="2450592"/>
            <a:ext cx="2331720" cy="457200"/>
          </a:xfrm>
          <a:prstGeom prst="rect">
            <a:avLst/>
          </a:prstGeom>
          <a:noFill/>
          <a:ln/>
        </p:spPr>
        <p:txBody>
          <a:bodyPr wrap="square" lIns="0" tIns="0" rIns="0" bIns="0" rtlCol="0" anchor="ctr"/>
          <a:lstStyle/>
          <a:p>
            <a:pPr indent="0" marL="0">
              <a:spcAft>
                <a:spcPts val="400"/>
              </a:spcAft>
              <a:buNone/>
            </a:pPr>
            <a:r>
              <a:rPr lang="en-US" sz="1300" dirty="0">
                <a:solidFill>
                  <a:schemeClr val="tx1"/>
                </a:solidFill>
              </a:rPr>
              <a:t>Airflow DAG · команда данных</a:t>
            </a:r>
            <a:endParaRPr lang="en-US" sz="1300" dirty="0"/>
          </a:p>
        </p:txBody>
      </p:sp>
      <p:sp>
        <p:nvSpPr>
          <p:cNvPr id="13" name="Shape 11"/>
          <p:cNvSpPr/>
          <p:nvPr/>
        </p:nvSpPr>
        <p:spPr>
          <a:xfrm flipH="1">
            <a:off x="2926080" y="3584448"/>
            <a:ext cx="685800" cy="502920"/>
          </a:xfrm>
          <a:prstGeom prst="line">
            <a:avLst/>
          </a:prstGeom>
          <a:noFill/>
          <a:ln w="15875">
            <a:solidFill>
              <a:schemeClr val="accent1"/>
            </a:solidFill>
            <a:prstDash val="solid"/>
          </a:ln>
        </p:spPr>
      </p:sp>
      <p:sp>
        <p:nvSpPr>
          <p:cNvPr id="14" name="Shape 12"/>
          <p:cNvSpPr/>
          <p:nvPr/>
        </p:nvSpPr>
        <p:spPr>
          <a:xfrm>
            <a:off x="3611880" y="3291840"/>
            <a:ext cx="2514600" cy="594360"/>
          </a:xfrm>
          <a:prstGeom prst="roundRect">
            <a:avLst>
              <a:gd name="adj" fmla="val 12308"/>
            </a:avLst>
          </a:prstGeom>
          <a:solidFill>
            <a:schemeClr val="bg1"/>
          </a:solidFill>
          <a:ln w="12700">
            <a:solidFill>
              <a:schemeClr val="accent1"/>
            </a:solidFill>
            <a:prstDash val="solid"/>
          </a:ln>
        </p:spPr>
      </p:sp>
      <p:sp>
        <p:nvSpPr>
          <p:cNvPr id="15" name="Text 13"/>
          <p:cNvSpPr txBox="1"/>
          <p:nvPr/>
        </p:nvSpPr>
        <p:spPr>
          <a:xfrm>
            <a:off x="3730752" y="3364992"/>
            <a:ext cx="2331720" cy="457200"/>
          </a:xfrm>
          <a:prstGeom prst="rect">
            <a:avLst/>
          </a:prstGeom>
          <a:noFill/>
          <a:ln/>
        </p:spPr>
        <p:txBody>
          <a:bodyPr wrap="square" lIns="0" tIns="0" rIns="0" bIns="0" rtlCol="0" anchor="ctr"/>
          <a:lstStyle/>
          <a:p>
            <a:pPr indent="0" marL="0">
              <a:spcAft>
                <a:spcPts val="400"/>
              </a:spcAft>
              <a:buNone/>
            </a:pPr>
            <a:r>
              <a:rPr lang="en-US" sz="1300" dirty="0">
                <a:solidFill>
                  <a:schemeClr val="tx1"/>
                </a:solidFill>
              </a:rPr>
              <a:t>Отчётность · другая команда</a:t>
            </a:r>
            <a:endParaRPr lang="en-US" sz="1300" dirty="0"/>
          </a:p>
        </p:txBody>
      </p:sp>
      <p:sp>
        <p:nvSpPr>
          <p:cNvPr id="16" name="Shape 14"/>
          <p:cNvSpPr/>
          <p:nvPr/>
        </p:nvSpPr>
        <p:spPr>
          <a:xfrm>
            <a:off x="2926080" y="4087368"/>
            <a:ext cx="685800" cy="411480"/>
          </a:xfrm>
          <a:prstGeom prst="line">
            <a:avLst/>
          </a:prstGeom>
          <a:noFill/>
          <a:ln w="15875">
            <a:solidFill>
              <a:schemeClr val="accent1"/>
            </a:solidFill>
            <a:prstDash val="solid"/>
          </a:ln>
        </p:spPr>
      </p:sp>
      <p:sp>
        <p:nvSpPr>
          <p:cNvPr id="17" name="Shape 15"/>
          <p:cNvSpPr/>
          <p:nvPr/>
        </p:nvSpPr>
        <p:spPr>
          <a:xfrm>
            <a:off x="3611880" y="4206240"/>
            <a:ext cx="2514600" cy="594360"/>
          </a:xfrm>
          <a:prstGeom prst="roundRect">
            <a:avLst>
              <a:gd name="adj" fmla="val 12308"/>
            </a:avLst>
          </a:prstGeom>
          <a:solidFill>
            <a:schemeClr val="bg1"/>
          </a:solidFill>
          <a:ln w="12700">
            <a:solidFill>
              <a:schemeClr val="accent1"/>
            </a:solidFill>
            <a:prstDash val="solid"/>
          </a:ln>
        </p:spPr>
      </p:sp>
      <p:sp>
        <p:nvSpPr>
          <p:cNvPr id="18" name="Text 16"/>
          <p:cNvSpPr txBox="1"/>
          <p:nvPr/>
        </p:nvSpPr>
        <p:spPr>
          <a:xfrm>
            <a:off x="3730752" y="4279392"/>
            <a:ext cx="2331720" cy="457200"/>
          </a:xfrm>
          <a:prstGeom prst="rect">
            <a:avLst/>
          </a:prstGeom>
          <a:noFill/>
          <a:ln/>
        </p:spPr>
        <p:txBody>
          <a:bodyPr wrap="square" lIns="0" tIns="0" rIns="0" bIns="0" rtlCol="0" anchor="ctr"/>
          <a:lstStyle/>
          <a:p>
            <a:pPr indent="0" marL="0">
              <a:spcAft>
                <a:spcPts val="400"/>
              </a:spcAft>
              <a:buNone/>
            </a:pPr>
            <a:r>
              <a:rPr lang="en-US" sz="1300" dirty="0">
                <a:solidFill>
                  <a:schemeClr val="tx1"/>
                </a:solidFill>
              </a:rPr>
              <a:t>ML-пайплайн · другая команда</a:t>
            </a:r>
            <a:endParaRPr lang="en-US" sz="1300" dirty="0"/>
          </a:p>
        </p:txBody>
      </p:sp>
      <p:sp>
        <p:nvSpPr>
          <p:cNvPr id="19" name="Shape 17"/>
          <p:cNvSpPr/>
          <p:nvPr/>
        </p:nvSpPr>
        <p:spPr>
          <a:xfrm>
            <a:off x="2926080" y="4087368"/>
            <a:ext cx="685800" cy="1325880"/>
          </a:xfrm>
          <a:prstGeom prst="line">
            <a:avLst/>
          </a:prstGeom>
          <a:noFill/>
          <a:ln w="15875">
            <a:solidFill>
              <a:schemeClr val="accent5"/>
            </a:solidFill>
            <a:prstDash val="dash"/>
          </a:ln>
        </p:spPr>
      </p:sp>
      <p:sp>
        <p:nvSpPr>
          <p:cNvPr id="20" name="Shape 18"/>
          <p:cNvSpPr/>
          <p:nvPr/>
        </p:nvSpPr>
        <p:spPr>
          <a:xfrm>
            <a:off x="3611880" y="5120640"/>
            <a:ext cx="2514600" cy="594360"/>
          </a:xfrm>
          <a:prstGeom prst="roundRect">
            <a:avLst>
              <a:gd name="adj" fmla="val 12308"/>
            </a:avLst>
          </a:prstGeom>
          <a:solidFill>
            <a:schemeClr val="bg1"/>
          </a:solidFill>
          <a:ln w="12700">
            <a:solidFill>
              <a:schemeClr val="accent5"/>
            </a:solidFill>
            <a:prstDash val="dash"/>
          </a:ln>
        </p:spPr>
      </p:sp>
      <p:sp>
        <p:nvSpPr>
          <p:cNvPr id="21" name="Text 19"/>
          <p:cNvSpPr txBox="1"/>
          <p:nvPr/>
        </p:nvSpPr>
        <p:spPr>
          <a:xfrm>
            <a:off x="3730752" y="5193792"/>
            <a:ext cx="2331720" cy="457200"/>
          </a:xfrm>
          <a:prstGeom prst="rect">
            <a:avLst/>
          </a:prstGeom>
          <a:noFill/>
          <a:ln/>
        </p:spPr>
        <p:txBody>
          <a:bodyPr wrap="square" lIns="0" tIns="0" rIns="0" bIns="0" rtlCol="0" anchor="ctr"/>
          <a:lstStyle/>
          <a:p>
            <a:pPr indent="0" marL="0">
              <a:spcAft>
                <a:spcPts val="400"/>
              </a:spcAft>
              <a:buNone/>
            </a:pPr>
            <a:r>
              <a:rPr lang="en-US" sz="1300" dirty="0">
                <a:solidFill>
                  <a:schemeClr val="accent5"/>
                </a:solidFill>
              </a:rPr>
              <a:t>Скрипт сверки · ?</a:t>
            </a:r>
            <a:endParaRPr lang="en-US" sz="1300" dirty="0"/>
          </a:p>
        </p:txBody>
      </p:sp>
      <p:sp>
        <p:nvSpPr>
          <p:cNvPr id="22" name="Text 20"/>
          <p:cNvSpPr txBox="1"/>
          <p:nvPr/>
        </p:nvSpPr>
        <p:spPr>
          <a:xfrm>
            <a:off x="822960" y="5852160"/>
            <a:ext cx="5303520" cy="274320"/>
          </a:xfrm>
          <a:prstGeom prst="rect">
            <a:avLst/>
          </a:prstGeom>
          <a:noFill/>
          <a:ln/>
        </p:spPr>
        <p:txBody>
          <a:bodyPr wrap="square" lIns="0" tIns="0" rIns="0" bIns="0" rtlCol="0" anchor="t"/>
          <a:lstStyle/>
          <a:p>
            <a:pPr indent="0" marL="0">
              <a:buNone/>
            </a:pPr>
            <a:r>
              <a:rPr lang="en-US" sz="1100" dirty="0">
                <a:solidFill>
                  <a:schemeClr val="accent5"/>
                </a:solidFill>
              </a:rPr>
              <a:t>Потребители живут в чужих репозиториях. Кого-то помнят, кого-то нет.</a:t>
            </a:r>
            <a:endParaRPr lang="en-US" sz="1100" dirty="0"/>
          </a:p>
        </p:txBody>
      </p:sp>
      <p:sp>
        <p:nvSpPr>
          <p:cNvPr id="23" name="Text 21"/>
          <p:cNvSpPr txBox="1"/>
          <p:nvPr/>
        </p:nvSpPr>
        <p:spPr>
          <a:xfrm>
            <a:off x="6675120" y="2057400"/>
            <a:ext cx="4967935" cy="3200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Когда возникает вопрос</a:t>
            </a:r>
            <a:endParaRPr lang="en-US" sz="1800" dirty="0"/>
          </a:p>
        </p:txBody>
      </p:sp>
      <p:sp>
        <p:nvSpPr>
          <p:cNvPr id="24" name="Text 22"/>
          <p:cNvSpPr txBox="1"/>
          <p:nvPr/>
        </p:nvSpPr>
        <p:spPr>
          <a:xfrm>
            <a:off x="6675120" y="2468880"/>
            <a:ext cx="4967935" cy="10972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При планировании: кого это заденет?</a:t>
            </a:r>
            <a:endParaRPr lang="en-US" sz="1500" dirty="0"/>
          </a:p>
          <a:p>
            <a:pPr marL="203200" indent="-203200">
              <a:spcAft>
                <a:spcPts val="600"/>
              </a:spcAft>
              <a:buSzPct val="100000"/>
              <a:buChar char="•"/>
            </a:pPr>
            <a:r>
              <a:rPr lang="en-US" sz="1500" dirty="0">
                <a:solidFill>
                  <a:schemeClr val="tx1"/>
                </a:solidFill>
              </a:rPr>
              <a:t>На ревью PR: все ли потребители учтены, кого позвать, что проверить?</a:t>
            </a:r>
            <a:endParaRPr lang="en-US" sz="1500" dirty="0"/>
          </a:p>
        </p:txBody>
      </p:sp>
      <p:sp>
        <p:nvSpPr>
          <p:cNvPr id="25" name="Text 23"/>
          <p:cNvSpPr txBox="1"/>
          <p:nvPr/>
        </p:nvSpPr>
        <p:spPr>
          <a:xfrm>
            <a:off x="6675120" y="3657600"/>
            <a:ext cx="4967935" cy="3200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Кто платит за ошибку</a:t>
            </a:r>
            <a:endParaRPr lang="en-US" sz="1800" dirty="0"/>
          </a:p>
        </p:txBody>
      </p:sp>
      <p:sp>
        <p:nvSpPr>
          <p:cNvPr id="26" name="Text 24"/>
          <p:cNvSpPr txBox="1"/>
          <p:nvPr/>
        </p:nvSpPr>
        <p:spPr>
          <a:xfrm>
            <a:off x="6675120" y="4069080"/>
            <a:ext cx="4967935" cy="15087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Команда-потребитель: упавшая задача видна сразу</a:t>
            </a:r>
            <a:endParaRPr lang="en-US" sz="1500" dirty="0"/>
          </a:p>
          <a:p>
            <a:pPr marL="203200" indent="-203200">
              <a:spcAft>
                <a:spcPts val="600"/>
              </a:spcAft>
              <a:buSzPct val="100000"/>
              <a:buChar char="•"/>
            </a:pPr>
            <a:r>
              <a:rPr lang="en-US" sz="1500" b="1" dirty="0">
                <a:solidFill>
                  <a:schemeClr val="tx1"/>
                </a:solidFill>
              </a:rPr>
              <a:t>Хуже молчаливая потеря: отчёт получает 100 записей из 250 и выглядит нормально</a:t>
            </a:r>
            <a:endParaRPr lang="en-US" sz="1500" dirty="0"/>
          </a:p>
          <a:p>
            <a:pPr marL="203200" indent="-203200">
              <a:spcAft>
                <a:spcPts val="600"/>
              </a:spcAft>
              <a:buSzPct val="100000"/>
              <a:buChar char="•"/>
            </a:pPr>
            <a:r>
              <a:rPr lang="en-US" sz="1500" dirty="0">
                <a:solidFill>
                  <a:schemeClr val="tx1"/>
                </a:solidFill>
              </a:rPr>
              <a:t>Команда API откатывает изменение и разбирает инцидент</a:t>
            </a:r>
            <a:endParaRPr lang="en-US" sz="1500" dirty="0"/>
          </a:p>
        </p:txBody>
      </p:sp>
      <p:sp>
        <p:nvSpPr>
          <p:cNvPr id="27" name="Text 25"/>
          <p:cNvSpPr txBox="1"/>
          <p:nvPr/>
        </p:nvSpPr>
        <p:spPr>
          <a:xfrm>
            <a:off x="6675120" y="5669280"/>
            <a:ext cx="4967935" cy="457200"/>
          </a:xfrm>
          <a:prstGeom prst="rect">
            <a:avLst/>
          </a:prstGeom>
          <a:noFill/>
          <a:ln/>
        </p:spPr>
        <p:txBody>
          <a:bodyPr wrap="square" lIns="0" tIns="0" rIns="0" bIns="0" rtlCol="0" anchor="t"/>
          <a:lstStyle/>
          <a:p>
            <a:pPr indent="0" marL="0">
              <a:buNone/>
            </a:pPr>
            <a:r>
              <a:rPr lang="en-US" sz="1100" dirty="0">
                <a:solidFill>
                  <a:schemeClr val="accent5"/>
                </a:solidFill>
              </a:rPr>
              <a:t>Рабочая гипотеза: молчаливый пропуск стоит часы и дни, ложное предупреждение минуты. Пилот это измеряет.</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Текущие способы дают ответ, но не дают основания и границы "не найдено"</a:t>
            </a:r>
            <a:endParaRPr lang="en-US" sz="2800" dirty="0"/>
          </a:p>
        </p:txBody>
      </p:sp>
      <p:sp>
        <p:nvSpPr>
          <p:cNvPr id="3" name="chip-hyp"/>
          <p:cNvSpPr/>
          <p:nvPr/>
        </p:nvSpPr>
        <p:spPr>
          <a:xfrm>
            <a:off x="548640" y="1463040"/>
            <a:ext cx="4475074"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4475074"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ГИПОТЕЗА · по нашим материалам, без интервью с клиентами</a:t>
            </a:r>
            <a:endParaRPr lang="en-US" sz="1050" dirty="0"/>
          </a:p>
        </p:txBody>
      </p:sp>
      <p:sp>
        <p:nvSpPr>
          <p:cNvPr id="5" name="Text 3"/>
          <p:cNvSpPr txBox="1"/>
          <p:nvPr/>
        </p:nvSpPr>
        <p:spPr>
          <a:xfrm>
            <a:off x="548640" y="2011680"/>
            <a:ext cx="4937760" cy="3200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Как ищут потребителей сейчас</a:t>
            </a:r>
            <a:endParaRPr lang="en-US" sz="1800" dirty="0"/>
          </a:p>
        </p:txBody>
      </p:sp>
      <p:sp>
        <p:nvSpPr>
          <p:cNvPr id="6" name="way"/>
          <p:cNvSpPr/>
          <p:nvPr/>
        </p:nvSpPr>
        <p:spPr>
          <a:xfrm>
            <a:off x="548640" y="2468880"/>
            <a:ext cx="4937760" cy="512064"/>
          </a:xfrm>
          <a:prstGeom prst="roundRect">
            <a:avLst>
              <a:gd name="adj" fmla="val 17857"/>
            </a:avLst>
          </a:prstGeom>
          <a:solidFill>
            <a:schemeClr val="bg1"/>
          </a:solidFill>
          <a:ln w="6350">
            <a:solidFill>
              <a:schemeClr val="bg2"/>
            </a:solidFill>
            <a:prstDash val="solid"/>
          </a:ln>
        </p:spPr>
      </p:sp>
      <p:sp>
        <p:nvSpPr>
          <p:cNvPr id="7" name="Shape 5"/>
          <p:cNvSpPr/>
          <p:nvPr/>
        </p:nvSpPr>
        <p:spPr>
          <a:xfrm>
            <a:off x="548640" y="2468880"/>
            <a:ext cx="4937760" cy="512064"/>
          </a:xfrm>
          <a:prstGeom prst="roundRect">
            <a:avLst>
              <a:gd name="adj" fmla="val 14286"/>
            </a:avLst>
          </a:prstGeom>
          <a:solidFill>
            <a:schemeClr val="bg1">
              <a:alpha val="0"/>
            </a:schemeClr>
          </a:solidFill>
          <a:ln w="9525">
            <a:solidFill>
              <a:srgbClr val="C9D6D1"/>
            </a:solidFill>
            <a:prstDash val="solid"/>
          </a:ln>
        </p:spPr>
      </p:sp>
      <p:sp>
        <p:nvSpPr>
          <p:cNvPr id="8" name="Text 6"/>
          <p:cNvSpPr txBox="1"/>
          <p:nvPr/>
        </p:nvSpPr>
        <p:spPr>
          <a:xfrm>
            <a:off x="731520" y="2542032"/>
            <a:ext cx="4572000" cy="36576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Поиск по коду</a:t>
            </a:r>
            <a:pPr indent="0" marL="0">
              <a:spcAft>
                <a:spcPts val="400"/>
              </a:spcAft>
              <a:buNone/>
            </a:pPr>
            <a:r>
              <a:rPr lang="en-US" sz="1400" dirty="0">
                <a:solidFill>
                  <a:schemeClr val="accent5"/>
                </a:solidFill>
              </a:rPr>
              <a:t>  по строке пути или имени хоста</a:t>
            </a:r>
            <a:endParaRPr lang="en-US" sz="1500" dirty="0"/>
          </a:p>
        </p:txBody>
      </p:sp>
      <p:sp>
        <p:nvSpPr>
          <p:cNvPr id="9" name="way"/>
          <p:cNvSpPr/>
          <p:nvPr/>
        </p:nvSpPr>
        <p:spPr>
          <a:xfrm>
            <a:off x="548640" y="3072384"/>
            <a:ext cx="4937760" cy="512064"/>
          </a:xfrm>
          <a:prstGeom prst="roundRect">
            <a:avLst>
              <a:gd name="adj" fmla="val 17857"/>
            </a:avLst>
          </a:prstGeom>
          <a:solidFill>
            <a:schemeClr val="bg1"/>
          </a:solidFill>
          <a:ln w="6350">
            <a:solidFill>
              <a:schemeClr val="bg2"/>
            </a:solidFill>
            <a:prstDash val="solid"/>
          </a:ln>
        </p:spPr>
      </p:sp>
      <p:sp>
        <p:nvSpPr>
          <p:cNvPr id="10" name="Shape 8"/>
          <p:cNvSpPr/>
          <p:nvPr/>
        </p:nvSpPr>
        <p:spPr>
          <a:xfrm>
            <a:off x="548640" y="3072384"/>
            <a:ext cx="4937760" cy="512064"/>
          </a:xfrm>
          <a:prstGeom prst="roundRect">
            <a:avLst>
              <a:gd name="adj" fmla="val 14286"/>
            </a:avLst>
          </a:prstGeom>
          <a:solidFill>
            <a:schemeClr val="bg1">
              <a:alpha val="0"/>
            </a:schemeClr>
          </a:solidFill>
          <a:ln w="9525">
            <a:solidFill>
              <a:srgbClr val="C9D6D1"/>
            </a:solidFill>
            <a:prstDash val="solid"/>
          </a:ln>
        </p:spPr>
      </p:sp>
      <p:sp>
        <p:nvSpPr>
          <p:cNvPr id="11" name="Text 9"/>
          <p:cNvSpPr txBox="1"/>
          <p:nvPr/>
        </p:nvSpPr>
        <p:spPr>
          <a:xfrm>
            <a:off x="731520" y="3145536"/>
            <a:ext cx="4572000" cy="36576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Вопрос в чат</a:t>
            </a:r>
            <a:pPr indent="0" marL="0">
              <a:spcAft>
                <a:spcPts val="400"/>
              </a:spcAft>
              <a:buNone/>
            </a:pPr>
            <a:r>
              <a:rPr lang="en-US" sz="1400" dirty="0">
                <a:solidFill>
                  <a:schemeClr val="accent5"/>
                </a:solidFill>
              </a:rPr>
              <a:t>  "кто использует /v1/orders?"</a:t>
            </a:r>
            <a:endParaRPr lang="en-US" sz="1500" dirty="0"/>
          </a:p>
        </p:txBody>
      </p:sp>
      <p:sp>
        <p:nvSpPr>
          <p:cNvPr id="12" name="way"/>
          <p:cNvSpPr/>
          <p:nvPr/>
        </p:nvSpPr>
        <p:spPr>
          <a:xfrm>
            <a:off x="548640" y="3675888"/>
            <a:ext cx="4937760" cy="512064"/>
          </a:xfrm>
          <a:prstGeom prst="roundRect">
            <a:avLst>
              <a:gd name="adj" fmla="val 17857"/>
            </a:avLst>
          </a:prstGeom>
          <a:solidFill>
            <a:schemeClr val="bg1"/>
          </a:solidFill>
          <a:ln w="6350">
            <a:solidFill>
              <a:schemeClr val="bg2"/>
            </a:solidFill>
            <a:prstDash val="solid"/>
          </a:ln>
        </p:spPr>
      </p:sp>
      <p:sp>
        <p:nvSpPr>
          <p:cNvPr id="13" name="Shape 11"/>
          <p:cNvSpPr/>
          <p:nvPr/>
        </p:nvSpPr>
        <p:spPr>
          <a:xfrm>
            <a:off x="548640" y="3675888"/>
            <a:ext cx="4937760" cy="512064"/>
          </a:xfrm>
          <a:prstGeom prst="roundRect">
            <a:avLst>
              <a:gd name="adj" fmla="val 14286"/>
            </a:avLst>
          </a:prstGeom>
          <a:solidFill>
            <a:schemeClr val="bg1">
              <a:alpha val="0"/>
            </a:schemeClr>
          </a:solidFill>
          <a:ln w="9525">
            <a:solidFill>
              <a:srgbClr val="C9D6D1"/>
            </a:solidFill>
            <a:prstDash val="solid"/>
          </a:ln>
        </p:spPr>
      </p:sp>
      <p:sp>
        <p:nvSpPr>
          <p:cNvPr id="14" name="Text 12"/>
          <p:cNvSpPr txBox="1"/>
          <p:nvPr/>
        </p:nvSpPr>
        <p:spPr>
          <a:xfrm>
            <a:off x="731520" y="3749040"/>
            <a:ext cx="4572000" cy="36576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Wiki или каталог</a:t>
            </a:r>
            <a:pPr indent="0" marL="0">
              <a:spcAft>
                <a:spcPts val="400"/>
              </a:spcAft>
              <a:buNone/>
            </a:pPr>
            <a:r>
              <a:rPr lang="en-US" sz="1400" dirty="0">
                <a:solidFill>
                  <a:schemeClr val="accent5"/>
                </a:solidFill>
              </a:rPr>
              <a:t>  страница, которая могла устареть</a:t>
            </a:r>
            <a:endParaRPr lang="en-US" sz="1500" dirty="0"/>
          </a:p>
        </p:txBody>
      </p:sp>
      <p:sp>
        <p:nvSpPr>
          <p:cNvPr id="15" name="way"/>
          <p:cNvSpPr/>
          <p:nvPr/>
        </p:nvSpPr>
        <p:spPr>
          <a:xfrm>
            <a:off x="548640" y="4279392"/>
            <a:ext cx="4937760" cy="512064"/>
          </a:xfrm>
          <a:prstGeom prst="roundRect">
            <a:avLst>
              <a:gd name="adj" fmla="val 17857"/>
            </a:avLst>
          </a:prstGeom>
          <a:solidFill>
            <a:schemeClr val="bg1"/>
          </a:solidFill>
          <a:ln w="6350">
            <a:solidFill>
              <a:schemeClr val="bg2"/>
            </a:solidFill>
            <a:prstDash val="solid"/>
          </a:ln>
        </p:spPr>
      </p:sp>
      <p:sp>
        <p:nvSpPr>
          <p:cNvPr id="16" name="Shape 14"/>
          <p:cNvSpPr/>
          <p:nvPr/>
        </p:nvSpPr>
        <p:spPr>
          <a:xfrm>
            <a:off x="548640" y="4279392"/>
            <a:ext cx="4937760" cy="512064"/>
          </a:xfrm>
          <a:prstGeom prst="roundRect">
            <a:avLst>
              <a:gd name="adj" fmla="val 14286"/>
            </a:avLst>
          </a:prstGeom>
          <a:solidFill>
            <a:schemeClr val="bg1">
              <a:alpha val="0"/>
            </a:schemeClr>
          </a:solidFill>
          <a:ln w="9525">
            <a:solidFill>
              <a:srgbClr val="C9D6D1"/>
            </a:solidFill>
            <a:prstDash val="solid"/>
          </a:ln>
        </p:spPr>
      </p:sp>
      <p:sp>
        <p:nvSpPr>
          <p:cNvPr id="17" name="Text 15"/>
          <p:cNvSpPr txBox="1"/>
          <p:nvPr/>
        </p:nvSpPr>
        <p:spPr>
          <a:xfrm>
            <a:off x="731520" y="4352544"/>
            <a:ext cx="4572000" cy="36576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Память старших</a:t>
            </a:r>
            <a:pPr indent="0" marL="0">
              <a:spcAft>
                <a:spcPts val="400"/>
              </a:spcAft>
              <a:buNone/>
            </a:pPr>
            <a:r>
              <a:rPr lang="en-US" sz="1400" dirty="0">
                <a:solidFill>
                  <a:schemeClr val="accent5"/>
                </a:solidFill>
              </a:rPr>
              <a:t>  кто давно в команде</a:t>
            </a:r>
            <a:endParaRPr lang="en-US" sz="1500" dirty="0"/>
          </a:p>
        </p:txBody>
      </p:sp>
      <p:sp>
        <p:nvSpPr>
          <p:cNvPr id="18" name="way"/>
          <p:cNvSpPr/>
          <p:nvPr/>
        </p:nvSpPr>
        <p:spPr>
          <a:xfrm>
            <a:off x="548640" y="4882896"/>
            <a:ext cx="4937760" cy="512064"/>
          </a:xfrm>
          <a:prstGeom prst="roundRect">
            <a:avLst>
              <a:gd name="adj" fmla="val 17857"/>
            </a:avLst>
          </a:prstGeom>
          <a:solidFill>
            <a:schemeClr val="bg1"/>
          </a:solidFill>
          <a:ln w="6350">
            <a:solidFill>
              <a:schemeClr val="bg2"/>
            </a:solidFill>
            <a:prstDash val="solid"/>
          </a:ln>
        </p:spPr>
      </p:sp>
      <p:sp>
        <p:nvSpPr>
          <p:cNvPr id="19" name="Shape 17"/>
          <p:cNvSpPr/>
          <p:nvPr/>
        </p:nvSpPr>
        <p:spPr>
          <a:xfrm>
            <a:off x="548640" y="4882896"/>
            <a:ext cx="4937760" cy="512064"/>
          </a:xfrm>
          <a:prstGeom prst="roundRect">
            <a:avLst>
              <a:gd name="adj" fmla="val 14286"/>
            </a:avLst>
          </a:prstGeom>
          <a:solidFill>
            <a:schemeClr val="bg1">
              <a:alpha val="0"/>
            </a:schemeClr>
          </a:solidFill>
          <a:ln w="9525">
            <a:solidFill>
              <a:srgbClr val="C9D6D1"/>
            </a:solidFill>
            <a:prstDash val="solid"/>
          </a:ln>
        </p:spPr>
      </p:sp>
      <p:sp>
        <p:nvSpPr>
          <p:cNvPr id="20" name="Text 18"/>
          <p:cNvSpPr txBox="1"/>
          <p:nvPr/>
        </p:nvSpPr>
        <p:spPr>
          <a:xfrm>
            <a:off x="731520" y="4956048"/>
            <a:ext cx="4572000" cy="36576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Журналы доступа</a:t>
            </a:r>
            <a:pPr indent="0" marL="0">
              <a:spcAft>
                <a:spcPts val="400"/>
              </a:spcAft>
              <a:buNone/>
            </a:pPr>
            <a:r>
              <a:rPr lang="en-US" sz="1400" dirty="0">
                <a:solidFill>
                  <a:schemeClr val="accent5"/>
                </a:solidFill>
              </a:rPr>
              <a:t>  по сервисным учётным записям</a:t>
            </a:r>
            <a:endParaRPr lang="en-US" sz="1500" dirty="0"/>
          </a:p>
        </p:txBody>
      </p:sp>
      <p:sp>
        <p:nvSpPr>
          <p:cNvPr id="21" name="way"/>
          <p:cNvSpPr/>
          <p:nvPr/>
        </p:nvSpPr>
        <p:spPr>
          <a:xfrm>
            <a:off x="548640" y="5486400"/>
            <a:ext cx="4937760" cy="512064"/>
          </a:xfrm>
          <a:prstGeom prst="roundRect">
            <a:avLst>
              <a:gd name="adj" fmla="val 17857"/>
            </a:avLst>
          </a:prstGeom>
          <a:solidFill>
            <a:schemeClr val="bg2"/>
          </a:solidFill>
          <a:ln w="6350">
            <a:solidFill>
              <a:schemeClr val="bg2"/>
            </a:solidFill>
            <a:prstDash val="solid"/>
          </a:ln>
        </p:spPr>
      </p:sp>
      <p:sp>
        <p:nvSpPr>
          <p:cNvPr id="22" name="Shape 20"/>
          <p:cNvSpPr/>
          <p:nvPr/>
        </p:nvSpPr>
        <p:spPr>
          <a:xfrm>
            <a:off x="548640" y="5486400"/>
            <a:ext cx="4937760" cy="512064"/>
          </a:xfrm>
          <a:prstGeom prst="roundRect">
            <a:avLst>
              <a:gd name="adj" fmla="val 14286"/>
            </a:avLst>
          </a:prstGeom>
          <a:solidFill>
            <a:schemeClr val="bg1">
              <a:alpha val="0"/>
            </a:schemeClr>
          </a:solidFill>
          <a:ln w="9525">
            <a:solidFill>
              <a:srgbClr val="C9D6D1"/>
            </a:solidFill>
            <a:prstDash val="solid"/>
          </a:ln>
        </p:spPr>
      </p:sp>
      <p:sp>
        <p:nvSpPr>
          <p:cNvPr id="23" name="Text 21"/>
          <p:cNvSpPr txBox="1"/>
          <p:nvPr/>
        </p:nvSpPr>
        <p:spPr>
          <a:xfrm>
            <a:off x="731520" y="5559552"/>
            <a:ext cx="4572000" cy="36576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Coding agent</a:t>
            </a:r>
            <a:pPr indent="0" marL="0">
              <a:spcAft>
                <a:spcPts val="400"/>
              </a:spcAft>
              <a:buNone/>
            </a:pPr>
            <a:r>
              <a:rPr lang="en-US" sz="1400" dirty="0">
                <a:solidFill>
                  <a:schemeClr val="accent5"/>
                </a:solidFill>
              </a:rPr>
              <a:t>  если разрешён в компании</a:t>
            </a:r>
            <a:endParaRPr lang="en-US" sz="1500" dirty="0"/>
          </a:p>
        </p:txBody>
      </p:sp>
      <p:sp>
        <p:nvSpPr>
          <p:cNvPr id="24" name="gap"/>
          <p:cNvSpPr/>
          <p:nvPr/>
        </p:nvSpPr>
        <p:spPr>
          <a:xfrm>
            <a:off x="5989320" y="2011680"/>
            <a:ext cx="5653735" cy="1417320"/>
          </a:xfrm>
          <a:prstGeom prst="roundRect">
            <a:avLst>
              <a:gd name="adj" fmla="val 6452"/>
            </a:avLst>
          </a:prstGeom>
          <a:solidFill>
            <a:schemeClr val="bg2"/>
          </a:solidFill>
          <a:ln w="6350">
            <a:solidFill>
              <a:schemeClr val="bg2"/>
            </a:solidFill>
            <a:prstDash val="solid"/>
          </a:ln>
        </p:spPr>
      </p:sp>
      <p:sp>
        <p:nvSpPr>
          <p:cNvPr id="25" name="num-1"/>
          <p:cNvSpPr/>
          <p:nvPr/>
        </p:nvSpPr>
        <p:spPr>
          <a:xfrm>
            <a:off x="6217920" y="2240280"/>
            <a:ext cx="347472" cy="347472"/>
          </a:xfrm>
          <a:prstGeom prst="ellipse">
            <a:avLst/>
          </a:prstGeom>
          <a:solidFill>
            <a:schemeClr val="accent4"/>
          </a:solidFill>
          <a:ln w="19050">
            <a:solidFill>
              <a:schemeClr val="bg1"/>
            </a:solidFill>
            <a:prstDash val="solid"/>
          </a:ln>
        </p:spPr>
      </p:sp>
      <p:sp>
        <p:nvSpPr>
          <p:cNvPr id="26" name="Text 24"/>
          <p:cNvSpPr txBox="1"/>
          <p:nvPr/>
        </p:nvSpPr>
        <p:spPr>
          <a:xfrm>
            <a:off x="6217920" y="22402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7" name="Text 25"/>
          <p:cNvSpPr txBox="1"/>
          <p:nvPr/>
        </p:nvSpPr>
        <p:spPr>
          <a:xfrm>
            <a:off x="6720840" y="2212848"/>
            <a:ext cx="4739335" cy="3657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Нет основания, которое проверит ревьюер</a:t>
            </a:r>
            <a:endParaRPr lang="en-US" sz="1700" dirty="0"/>
          </a:p>
        </p:txBody>
      </p:sp>
      <p:sp>
        <p:nvSpPr>
          <p:cNvPr id="28" name="Text 26"/>
          <p:cNvSpPr txBox="1"/>
          <p:nvPr/>
        </p:nvSpPr>
        <p:spPr>
          <a:xfrm>
            <a:off x="6720840" y="2633472"/>
            <a:ext cx="4739335"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Список потребителей собран, но где именно вызов, в каком коммите и почему он затронут, сказать нечем.</a:t>
            </a:r>
            <a:endParaRPr lang="en-US" sz="1400" dirty="0"/>
          </a:p>
        </p:txBody>
      </p:sp>
      <p:sp>
        <p:nvSpPr>
          <p:cNvPr id="29" name="gap"/>
          <p:cNvSpPr/>
          <p:nvPr/>
        </p:nvSpPr>
        <p:spPr>
          <a:xfrm>
            <a:off x="5989320" y="3611880"/>
            <a:ext cx="5653735" cy="1417320"/>
          </a:xfrm>
          <a:prstGeom prst="roundRect">
            <a:avLst>
              <a:gd name="adj" fmla="val 6452"/>
            </a:avLst>
          </a:prstGeom>
          <a:solidFill>
            <a:schemeClr val="bg2"/>
          </a:solidFill>
          <a:ln w="6350">
            <a:solidFill>
              <a:schemeClr val="bg2"/>
            </a:solidFill>
            <a:prstDash val="solid"/>
          </a:ln>
        </p:spPr>
      </p:sp>
      <p:sp>
        <p:nvSpPr>
          <p:cNvPr id="30" name="num-2"/>
          <p:cNvSpPr/>
          <p:nvPr/>
        </p:nvSpPr>
        <p:spPr>
          <a:xfrm>
            <a:off x="6217920" y="3840480"/>
            <a:ext cx="347472" cy="347472"/>
          </a:xfrm>
          <a:prstGeom prst="ellipse">
            <a:avLst/>
          </a:prstGeom>
          <a:solidFill>
            <a:schemeClr val="accent4"/>
          </a:solidFill>
          <a:ln w="19050">
            <a:solidFill>
              <a:schemeClr val="bg1"/>
            </a:solidFill>
            <a:prstDash val="solid"/>
          </a:ln>
        </p:spPr>
      </p:sp>
      <p:sp>
        <p:nvSpPr>
          <p:cNvPr id="31" name="Text 29"/>
          <p:cNvSpPr txBox="1"/>
          <p:nvPr/>
        </p:nvSpPr>
        <p:spPr>
          <a:xfrm>
            <a:off x="6217920" y="38404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2" name="Text 30"/>
          <p:cNvSpPr txBox="1"/>
          <p:nvPr/>
        </p:nvSpPr>
        <p:spPr>
          <a:xfrm>
            <a:off x="6720840" y="3813048"/>
            <a:ext cx="4739335" cy="3657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"Не найдено" ничем не ограничено</a:t>
            </a:r>
            <a:endParaRPr lang="en-US" sz="1700" dirty="0"/>
          </a:p>
        </p:txBody>
      </p:sp>
      <p:sp>
        <p:nvSpPr>
          <p:cNvPr id="33" name="Text 31"/>
          <p:cNvSpPr txBox="1"/>
          <p:nvPr/>
        </p:nvSpPr>
        <p:spPr>
          <a:xfrm>
            <a:off x="6720840" y="4233672"/>
            <a:ext cx="4739335"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Если поиск ничего не дал, неясно: потребителей нет или их не увидели. Где не смотрели, не записано.</a:t>
            </a:r>
            <a:endParaRPr lang="en-US" sz="1400" dirty="0"/>
          </a:p>
        </p:txBody>
      </p:sp>
      <p:sp>
        <p:nvSpPr>
          <p:cNvPr id="34" name="agent-note"/>
          <p:cNvSpPr/>
          <p:nvPr/>
        </p:nvSpPr>
        <p:spPr>
          <a:xfrm>
            <a:off x="5989320" y="5257800"/>
            <a:ext cx="5653735" cy="868680"/>
          </a:xfrm>
          <a:prstGeom prst="roundRect">
            <a:avLst>
              <a:gd name="adj" fmla="val 10526"/>
            </a:avLst>
          </a:prstGeom>
          <a:solidFill>
            <a:schemeClr val="bg1"/>
          </a:solidFill>
          <a:ln w="6350">
            <a:solidFill>
              <a:schemeClr val="bg2"/>
            </a:solidFill>
            <a:prstDash val="solid"/>
          </a:ln>
        </p:spPr>
      </p:sp>
      <p:sp>
        <p:nvSpPr>
          <p:cNvPr id="35" name="Shape 33"/>
          <p:cNvSpPr/>
          <p:nvPr/>
        </p:nvSpPr>
        <p:spPr>
          <a:xfrm>
            <a:off x="5989320" y="5257800"/>
            <a:ext cx="5653735" cy="868680"/>
          </a:xfrm>
          <a:prstGeom prst="roundRect">
            <a:avLst>
              <a:gd name="adj" fmla="val 8421"/>
            </a:avLst>
          </a:prstGeom>
          <a:solidFill>
            <a:schemeClr val="bg1">
              <a:alpha val="0"/>
            </a:schemeClr>
          </a:solidFill>
          <a:ln w="12700">
            <a:solidFill>
              <a:schemeClr val="accent1"/>
            </a:solidFill>
            <a:prstDash val="solid"/>
          </a:ln>
        </p:spPr>
      </p:sp>
      <p:sp>
        <p:nvSpPr>
          <p:cNvPr id="36" name="Text 34"/>
          <p:cNvSpPr txBox="1"/>
          <p:nvPr/>
        </p:nvSpPr>
        <p:spPr>
          <a:xfrm>
            <a:off x="6217920" y="5349240"/>
            <a:ext cx="5196535" cy="73152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Coding agent </a:t>
            </a:r>
            <a:pPr indent="0" marL="0">
              <a:spcAft>
                <a:spcPts val="400"/>
              </a:spcAft>
              <a:buNone/>
            </a:pPr>
            <a:r>
              <a:rPr lang="en-US" sz="1400" dirty="0">
                <a:solidFill>
                  <a:schemeClr val="tx1"/>
                </a:solidFill>
              </a:rPr>
              <a:t>ищет в любом стеке, это его сильная сторона. Но его ответ трудно повторить, а "больше потребителей нет" тоже ничем не ограничено.</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Сервис превращает изменение API в проверяемый список затронутых мест вызова</a:t>
            </a:r>
            <a:endParaRPr lang="en-US" sz="2800" dirty="0"/>
          </a:p>
        </p:txBody>
      </p:sp>
      <p:sp>
        <p:nvSpPr>
          <p:cNvPr id="3" name="chip-work"/>
          <p:cNvSpPr/>
          <p:nvPr/>
        </p:nvSpPr>
        <p:spPr>
          <a:xfrm>
            <a:off x="548640" y="1463040"/>
            <a:ext cx="5063947"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5063947"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РАБОЧАЯ ГИПОТЕЗА · форма продукта: отчёт автору изменения в PR</a:t>
            </a:r>
            <a:endParaRPr lang="en-US" sz="1050" dirty="0"/>
          </a:p>
        </p:txBody>
      </p:sp>
      <p:sp>
        <p:nvSpPr>
          <p:cNvPr id="5" name="step"/>
          <p:cNvSpPr/>
          <p:nvPr/>
        </p:nvSpPr>
        <p:spPr>
          <a:xfrm>
            <a:off x="548640" y="2011680"/>
            <a:ext cx="4846320" cy="1828800"/>
          </a:xfrm>
          <a:prstGeom prst="roundRect">
            <a:avLst>
              <a:gd name="adj" fmla="val 5000"/>
            </a:avLst>
          </a:prstGeom>
          <a:solidFill>
            <a:schemeClr val="bg2"/>
          </a:solidFill>
          <a:ln w="6350">
            <a:solidFill>
              <a:schemeClr val="bg2"/>
            </a:solidFill>
            <a:prstDash val="solid"/>
          </a:ln>
        </p:spPr>
      </p:sp>
      <p:sp>
        <p:nvSpPr>
          <p:cNvPr id="6" name="num-1"/>
          <p:cNvSpPr/>
          <p:nvPr/>
        </p:nvSpPr>
        <p:spPr>
          <a:xfrm>
            <a:off x="731520" y="2194560"/>
            <a:ext cx="347472" cy="347472"/>
          </a:xfrm>
          <a:prstGeom prst="ellipse">
            <a:avLst/>
          </a:prstGeom>
          <a:solidFill>
            <a:schemeClr val="accent1"/>
          </a:solidFill>
          <a:ln w="19050">
            <a:solidFill>
              <a:schemeClr val="bg1"/>
            </a:solidFill>
            <a:prstDash val="solid"/>
          </a:ln>
        </p:spPr>
      </p:sp>
      <p:sp>
        <p:nvSpPr>
          <p:cNvPr id="7" name="Text 5"/>
          <p:cNvSpPr txBox="1"/>
          <p:nvPr/>
        </p:nvSpPr>
        <p:spPr>
          <a:xfrm>
            <a:off x="731520" y="21945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1234440" y="2212848"/>
            <a:ext cx="4023360" cy="3657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Вход</a:t>
            </a:r>
            <a:endParaRPr lang="en-US" sz="1700" dirty="0"/>
          </a:p>
        </p:txBody>
      </p:sp>
      <p:sp>
        <p:nvSpPr>
          <p:cNvPr id="9" name="Text 7"/>
          <p:cNvSpPr txBox="1"/>
          <p:nvPr/>
        </p:nvSpPr>
        <p:spPr>
          <a:xfrm>
            <a:off x="1234440" y="2651760"/>
            <a:ext cx="4023360" cy="11430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Два коммита API: до и после</a:t>
            </a:r>
            <a:endParaRPr lang="en-US" sz="1500" dirty="0"/>
          </a:p>
          <a:p>
            <a:pPr marL="203200" indent="-203200">
              <a:spcAft>
                <a:spcPts val="600"/>
              </a:spcAft>
              <a:buSzPct val="100000"/>
              <a:buChar char="•"/>
            </a:pPr>
            <a:r>
              <a:rPr lang="en-US" sz="1400" dirty="0">
                <a:solidFill>
                  <a:schemeClr val="tx1"/>
                </a:solidFill>
              </a:rPr>
              <a:t>Репозитории потребителей, только чтение</a:t>
            </a:r>
            <a:endParaRPr lang="en-US" sz="1500" dirty="0"/>
          </a:p>
          <a:p>
            <a:pPr marL="203200" indent="-203200">
              <a:spcAft>
                <a:spcPts val="600"/>
              </a:spcAft>
              <a:buSzPct val="100000"/>
              <a:buChar char="•"/>
            </a:pPr>
            <a:r>
              <a:rPr lang="en-US" sz="1400" dirty="0">
                <a:solidFill>
                  <a:schemeClr val="tx1"/>
                </a:solidFill>
              </a:rPr>
              <a:t>Адреса сервиса по окружениям</a:t>
            </a:r>
            <a:endParaRPr lang="en-US" sz="1500" dirty="0"/>
          </a:p>
        </p:txBody>
      </p:sp>
      <p:sp>
        <p:nvSpPr>
          <p:cNvPr id="10" name="step"/>
          <p:cNvSpPr/>
          <p:nvPr/>
        </p:nvSpPr>
        <p:spPr>
          <a:xfrm>
            <a:off x="548640" y="4069080"/>
            <a:ext cx="4846320" cy="1828800"/>
          </a:xfrm>
          <a:prstGeom prst="roundRect">
            <a:avLst>
              <a:gd name="adj" fmla="val 5000"/>
            </a:avLst>
          </a:prstGeom>
          <a:solidFill>
            <a:schemeClr val="bg2"/>
          </a:solidFill>
          <a:ln w="6350">
            <a:solidFill>
              <a:schemeClr val="bg2"/>
            </a:solidFill>
            <a:prstDash val="solid"/>
          </a:ln>
        </p:spPr>
      </p:sp>
      <p:sp>
        <p:nvSpPr>
          <p:cNvPr id="11" name="num-2"/>
          <p:cNvSpPr/>
          <p:nvPr/>
        </p:nvSpPr>
        <p:spPr>
          <a:xfrm>
            <a:off x="731520" y="4251960"/>
            <a:ext cx="347472" cy="347472"/>
          </a:xfrm>
          <a:prstGeom prst="ellipse">
            <a:avLst/>
          </a:prstGeom>
          <a:solidFill>
            <a:schemeClr val="accent1"/>
          </a:solidFill>
          <a:ln w="19050">
            <a:solidFill>
              <a:schemeClr val="bg1"/>
            </a:solidFill>
            <a:prstDash val="solid"/>
          </a:ln>
        </p:spPr>
      </p:sp>
      <p:sp>
        <p:nvSpPr>
          <p:cNvPr id="12" name="Text 10"/>
          <p:cNvSpPr txBox="1"/>
          <p:nvPr/>
        </p:nvSpPr>
        <p:spPr>
          <a:xfrm>
            <a:off x="731520" y="4251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1234440" y="4270248"/>
            <a:ext cx="4023360" cy="3657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Инструмент и наш инженер</a:t>
            </a:r>
            <a:endParaRPr lang="en-US" sz="1700" dirty="0"/>
          </a:p>
        </p:txBody>
      </p:sp>
      <p:sp>
        <p:nvSpPr>
          <p:cNvPr id="14" name="Text 12"/>
          <p:cNvSpPr txBox="1"/>
          <p:nvPr/>
        </p:nvSpPr>
        <p:spPr>
          <a:xfrm>
            <a:off x="1234440" y="4709160"/>
            <a:ext cx="4023360" cy="11430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Находят вызовы API в коде потребителей</a:t>
            </a:r>
            <a:endParaRPr lang="en-US" sz="1500" dirty="0"/>
          </a:p>
          <a:p>
            <a:pPr marL="203200" indent="-203200">
              <a:spcAft>
                <a:spcPts val="600"/>
              </a:spcAft>
              <a:buSzPct val="100000"/>
              <a:buChar char="•"/>
            </a:pPr>
            <a:r>
              <a:rPr lang="en-US" sz="1400" dirty="0">
                <a:solidFill>
                  <a:schemeClr val="tx1"/>
                </a:solidFill>
              </a:rPr>
              <a:t>Сопоставляют их с изменёнными операциями</a:t>
            </a:r>
            <a:endParaRPr lang="en-US" sz="1500" dirty="0"/>
          </a:p>
          <a:p>
            <a:pPr marL="203200" indent="-203200">
              <a:spcAft>
                <a:spcPts val="600"/>
              </a:spcAft>
              <a:buSzPct val="100000"/>
              <a:buChar char="•"/>
            </a:pPr>
            <a:r>
              <a:rPr lang="en-US" sz="1400" dirty="0">
                <a:solidFill>
                  <a:schemeClr val="tx1"/>
                </a:solidFill>
              </a:rPr>
              <a:t>Разбирают нераспознанные места</a:t>
            </a:r>
            <a:endParaRPr lang="en-US" sz="1500" dirty="0"/>
          </a:p>
        </p:txBody>
      </p:sp>
      <p:sp>
        <p:nvSpPr>
          <p:cNvPr id="15" name="Shape 13"/>
          <p:cNvSpPr/>
          <p:nvPr/>
        </p:nvSpPr>
        <p:spPr>
          <a:xfrm>
            <a:off x="5532120" y="3611880"/>
            <a:ext cx="457200" cy="457200"/>
          </a:xfrm>
          <a:prstGeom prst="rightArrow">
            <a:avLst/>
          </a:prstGeom>
          <a:solidFill>
            <a:schemeClr val="accent1"/>
          </a:solidFill>
          <a:ln w="12700">
            <a:solidFill>
              <a:schemeClr val="accent1"/>
            </a:solidFill>
            <a:prstDash val="solid"/>
          </a:ln>
        </p:spPr>
      </p:sp>
      <p:sp>
        <p:nvSpPr>
          <p:cNvPr id="16" name="Shape 14"/>
          <p:cNvSpPr/>
          <p:nvPr/>
        </p:nvSpPr>
        <p:spPr>
          <a:xfrm>
            <a:off x="6172200" y="2011680"/>
            <a:ext cx="5470855" cy="3886200"/>
          </a:xfrm>
          <a:prstGeom prst="roundRect">
            <a:avLst>
              <a:gd name="adj" fmla="val 2353"/>
            </a:avLst>
          </a:prstGeom>
          <a:solidFill>
            <a:schemeClr val="bg1"/>
          </a:solidFill>
          <a:ln w="15875">
            <a:solidFill>
              <a:schemeClr val="accent1"/>
            </a:solidFill>
            <a:prstDash val="solid"/>
          </a:ln>
          <a:effectLst>
            <a:outerShdw sx="100000" sy="100000" kx="0" ky="0" algn="bl" rotWithShape="0" blurRad="76200" dist="25400" dir="5400000">
              <a:srgbClr val="000000">
                <a:alpha val="12000"/>
              </a:srgbClr>
            </a:outerShdw>
          </a:effectLst>
        </p:spPr>
      </p:sp>
      <p:sp>
        <p:nvSpPr>
          <p:cNvPr id="17" name="num-3"/>
          <p:cNvSpPr/>
          <p:nvPr/>
        </p:nvSpPr>
        <p:spPr>
          <a:xfrm>
            <a:off x="6355080" y="2194560"/>
            <a:ext cx="347472" cy="347472"/>
          </a:xfrm>
          <a:prstGeom prst="ellipse">
            <a:avLst/>
          </a:prstGeom>
          <a:solidFill>
            <a:schemeClr val="accent1"/>
          </a:solidFill>
          <a:ln w="19050">
            <a:solidFill>
              <a:schemeClr val="bg1"/>
            </a:solidFill>
            <a:prstDash val="solid"/>
          </a:ln>
        </p:spPr>
      </p:sp>
      <p:sp>
        <p:nvSpPr>
          <p:cNvPr id="18" name="Text 16"/>
          <p:cNvSpPr txBox="1"/>
          <p:nvPr/>
        </p:nvSpPr>
        <p:spPr>
          <a:xfrm>
            <a:off x="6355080" y="21945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6858000" y="2212848"/>
            <a:ext cx="2743200" cy="3657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Отчёт для PR</a:t>
            </a:r>
            <a:endParaRPr lang="en-US" sz="1700" dirty="0"/>
          </a:p>
        </p:txBody>
      </p:sp>
      <p:sp>
        <p:nvSpPr>
          <p:cNvPr id="20" name="Text 18"/>
          <p:cNvSpPr txBox="1"/>
          <p:nvPr/>
        </p:nvSpPr>
        <p:spPr>
          <a:xfrm>
            <a:off x="9098280" y="2286000"/>
            <a:ext cx="2361895" cy="274320"/>
          </a:xfrm>
          <a:prstGeom prst="rect">
            <a:avLst/>
          </a:prstGeom>
          <a:noFill/>
          <a:ln/>
        </p:spPr>
        <p:txBody>
          <a:bodyPr wrap="square" lIns="0" tIns="0" rIns="0" bIns="0" rtlCol="0" anchor="t"/>
          <a:lstStyle/>
          <a:p>
            <a:pPr indent="0" marL="0">
              <a:buNone/>
            </a:pPr>
            <a:r>
              <a:rPr lang="en-US" sz="1100" dirty="0">
                <a:solidFill>
                  <a:schemeClr val="accent5"/>
                </a:solidFill>
              </a:rPr>
              <a:t>пример на данных стенда</a:t>
            </a:r>
            <a:endParaRPr lang="en-US" sz="1100" dirty="0"/>
          </a:p>
        </p:txBody>
      </p:sp>
      <p:sp>
        <p:nvSpPr>
          <p:cNvPr id="21" name="Text 19"/>
          <p:cNvSpPr txBox="1"/>
          <p:nvPr/>
        </p:nvSpPr>
        <p:spPr>
          <a:xfrm>
            <a:off x="6446520" y="2724912"/>
            <a:ext cx="4922215" cy="256032"/>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Изменённые операции</a:t>
            </a:r>
            <a:endParaRPr lang="en-US" sz="1300" dirty="0"/>
          </a:p>
        </p:txBody>
      </p:sp>
      <p:sp>
        <p:nvSpPr>
          <p:cNvPr id="22" name="Text 20"/>
          <p:cNvSpPr txBox="1"/>
          <p:nvPr/>
        </p:nvSpPr>
        <p:spPr>
          <a:xfrm>
            <a:off x="6446520" y="2971800"/>
            <a:ext cx="4922215" cy="292608"/>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GET /orders: размер страницы по умолчанию 100</a:t>
            </a:r>
            <a:endParaRPr lang="en-US" sz="1400" dirty="0"/>
          </a:p>
        </p:txBody>
      </p:sp>
      <p:sp>
        <p:nvSpPr>
          <p:cNvPr id="23" name="Text 21"/>
          <p:cNvSpPr txBox="1"/>
          <p:nvPr/>
        </p:nvSpPr>
        <p:spPr>
          <a:xfrm>
            <a:off x="6446520" y="3328416"/>
            <a:ext cx="4922215" cy="256032"/>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Потребители и места вызова</a:t>
            </a:r>
            <a:endParaRPr lang="en-US" sz="1300" dirty="0"/>
          </a:p>
        </p:txBody>
      </p:sp>
      <p:sp>
        <p:nvSpPr>
          <p:cNvPr id="24" name="Text 22"/>
          <p:cNvSpPr txBox="1"/>
          <p:nvPr/>
        </p:nvSpPr>
        <p:spPr>
          <a:xfrm>
            <a:off x="6446520" y="3575304"/>
            <a:ext cx="4922215" cy="292608"/>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Reporting · reporting/client.py, строка 5, в коммите</a:t>
            </a:r>
            <a:endParaRPr lang="en-US" sz="1400" dirty="0"/>
          </a:p>
        </p:txBody>
      </p:sp>
      <p:sp>
        <p:nvSpPr>
          <p:cNvPr id="25" name="Text 23"/>
          <p:cNvSpPr txBox="1"/>
          <p:nvPr/>
        </p:nvSpPr>
        <p:spPr>
          <a:xfrm>
            <a:off x="6446520" y="3931920"/>
            <a:ext cx="4922215" cy="256032"/>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Что проверить</a:t>
            </a:r>
            <a:endParaRPr lang="en-US" sz="1300" dirty="0"/>
          </a:p>
        </p:txBody>
      </p:sp>
      <p:sp>
        <p:nvSpPr>
          <p:cNvPr id="26" name="Text 24"/>
          <p:cNvSpPr txBox="1"/>
          <p:nvPr/>
        </p:nvSpPr>
        <p:spPr>
          <a:xfrm>
            <a:off x="6446520" y="4178808"/>
            <a:ext cx="4922215" cy="292608"/>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Одиночный запрос получит только первую страницу</a:t>
            </a:r>
            <a:endParaRPr lang="en-US" sz="1400" dirty="0"/>
          </a:p>
        </p:txBody>
      </p:sp>
      <p:sp>
        <p:nvSpPr>
          <p:cNvPr id="27" name="Text 25"/>
          <p:cNvSpPr txBox="1"/>
          <p:nvPr/>
        </p:nvSpPr>
        <p:spPr>
          <a:xfrm>
            <a:off x="6446520" y="4535424"/>
            <a:ext cx="4922215" cy="256032"/>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Где инструмент не смотрел</a:t>
            </a:r>
            <a:endParaRPr lang="en-US" sz="1300" dirty="0"/>
          </a:p>
        </p:txBody>
      </p:sp>
      <p:sp>
        <p:nvSpPr>
          <p:cNvPr id="28" name="Text 26"/>
          <p:cNvSpPr txBox="1"/>
          <p:nvPr/>
        </p:nvSpPr>
        <p:spPr>
          <a:xfrm>
            <a:off x="6446520" y="4782312"/>
            <a:ext cx="4922215" cy="292608"/>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Неразобранные места рядом с адресом API</a:t>
            </a:r>
            <a:endParaRPr lang="en-US" sz="1400" dirty="0"/>
          </a:p>
        </p:txBody>
      </p:sp>
      <p:sp>
        <p:nvSpPr>
          <p:cNvPr id="29" name="Text 27"/>
          <p:cNvSpPr txBox="1"/>
          <p:nvPr/>
        </p:nvSpPr>
        <p:spPr>
          <a:xfrm>
            <a:off x="6446520" y="5138928"/>
            <a:ext cx="4922215" cy="256032"/>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Что отчёт не утверждает</a:t>
            </a:r>
            <a:endParaRPr lang="en-US" sz="1300" dirty="0"/>
          </a:p>
        </p:txBody>
      </p:sp>
      <p:sp>
        <p:nvSpPr>
          <p:cNvPr id="30" name="Text 28"/>
          <p:cNvSpPr txBox="1"/>
          <p:nvPr/>
        </p:nvSpPr>
        <p:spPr>
          <a:xfrm>
            <a:off x="6446520" y="5385816"/>
            <a:ext cx="4922215" cy="292608"/>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Ни "совместимо", ни "других потребителей нет"</a:t>
            </a:r>
            <a:endParaRPr lang="en-US" sz="1400" dirty="0"/>
          </a:p>
        </p:txBody>
      </p:sp>
      <p:sp>
        <p:nvSpPr>
          <p:cNvPr id="31" name="Text 29"/>
          <p:cNvSpPr txBox="1"/>
          <p:nvPr/>
        </p:nvSpPr>
        <p:spPr>
          <a:xfrm>
            <a:off x="548640" y="6035040"/>
            <a:ext cx="11094415" cy="365760"/>
          </a:xfrm>
          <a:prstGeom prst="rect">
            <a:avLst/>
          </a:prstGeom>
          <a:noFill/>
          <a:ln/>
        </p:spPr>
        <p:txBody>
          <a:bodyPr wrap="square" lIns="0" tIns="0" rIns="0" bIns="0" rtlCol="0" anchor="t"/>
          <a:lstStyle/>
          <a:p>
            <a:pPr indent="0" marL="0">
              <a:buNone/>
            </a:pPr>
            <a:r>
              <a:rPr lang="en-US" sz="1100" dirty="0">
                <a:solidFill>
                  <a:schemeClr val="accent5"/>
                </a:solidFill>
              </a:rPr>
              <a:t>Сейчас инструмент выдаёт JSON и экран демо. Отчёт в Markdown и ссылки на строки в коммите Git делаем до старта пилота. Решение о выпуске остаётся за командой: инструмент ничего не блокирует и никому не пишет.</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На стенде инструмент указал на Reporting до запуска, а запуск показал 100 записей из 250</a:t>
            </a:r>
            <a:endParaRPr lang="en-US" sz="2800" dirty="0"/>
          </a:p>
        </p:txBody>
      </p:sp>
      <p:sp>
        <p:nvSpPr>
          <p:cNvPr id="3" name="chip-synth"/>
          <p:cNvSpPr/>
          <p:nvPr/>
        </p:nvSpPr>
        <p:spPr>
          <a:xfrm>
            <a:off x="548640" y="1463040"/>
            <a:ext cx="5338267"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5338267"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СИНТЕТИЧЕСКИЙ СТЕНД · иллюстрация механизма, не клиентский эффект</a:t>
            </a:r>
            <a:endParaRPr lang="en-US" sz="1050" dirty="0"/>
          </a:p>
        </p:txBody>
      </p:sp>
      <p:graphicFrame>
        <p:nvGraphicFramePr>
          <p:cNvPr id="5" name="chart-reporting" descr=""/>
          <p:cNvGraphicFramePr/>
          <p:nvPr/>
        </p:nvGraphicFramePr>
        <p:xfrm>
          <a:off x="548640" y="1965960"/>
          <a:ext cx="4754880" cy="3840480"/>
        </p:xfrm>
        <a:graphic xmlns:a="http://schemas.openxmlformats.org/drawingml/2006/main">
          <a:graphicData uri="http://schemas.openxmlformats.org/drawingml/2006/chart">
            <c:chart xmlns:c="http://schemas.openxmlformats.org/drawingml/2006/chart" r:id="rId1"/>
          </a:graphicData>
        </a:graphic>
      </p:graphicFrame>
      <p:sp>
        <p:nvSpPr>
          <p:cNvPr id="6" name="num-1"/>
          <p:cNvSpPr/>
          <p:nvPr/>
        </p:nvSpPr>
        <p:spPr>
          <a:xfrm>
            <a:off x="5669280" y="1984248"/>
            <a:ext cx="347472" cy="347472"/>
          </a:xfrm>
          <a:prstGeom prst="ellipse">
            <a:avLst/>
          </a:prstGeom>
          <a:solidFill>
            <a:schemeClr val="accent1"/>
          </a:solidFill>
          <a:ln w="19050">
            <a:solidFill>
              <a:schemeClr val="bg1"/>
            </a:solidFill>
            <a:prstDash val="solid"/>
          </a:ln>
        </p:spPr>
      </p:sp>
      <p:sp>
        <p:nvSpPr>
          <p:cNvPr id="7" name="Text 4"/>
          <p:cNvSpPr txBox="1"/>
          <p:nvPr/>
        </p:nvSpPr>
        <p:spPr>
          <a:xfrm>
            <a:off x="5669280" y="198424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6172200" y="1965960"/>
            <a:ext cx="5470855" cy="292608"/>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Изменение</a:t>
            </a:r>
            <a:endParaRPr lang="en-US" sz="1600" dirty="0"/>
          </a:p>
        </p:txBody>
      </p:sp>
      <p:sp>
        <p:nvSpPr>
          <p:cNvPr id="9" name="Text 6"/>
          <p:cNvSpPr txBox="1"/>
          <p:nvPr/>
        </p:nvSpPr>
        <p:spPr>
          <a:xfrm>
            <a:off x="6172200" y="2267712"/>
            <a:ext cx="5470855"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В версии B сервис Orders отдаёт по умолчанию 100 записей на страницу вместо всех</a:t>
            </a:r>
            <a:endParaRPr lang="en-US" sz="1400" dirty="0"/>
          </a:p>
        </p:txBody>
      </p:sp>
      <p:sp>
        <p:nvSpPr>
          <p:cNvPr id="10" name="num-2"/>
          <p:cNvSpPr/>
          <p:nvPr/>
        </p:nvSpPr>
        <p:spPr>
          <a:xfrm>
            <a:off x="5669280" y="2880360"/>
            <a:ext cx="347472" cy="347472"/>
          </a:xfrm>
          <a:prstGeom prst="ellipse">
            <a:avLst/>
          </a:prstGeom>
          <a:solidFill>
            <a:schemeClr val="accent1"/>
          </a:solidFill>
          <a:ln w="19050">
            <a:solidFill>
              <a:schemeClr val="bg1"/>
            </a:solidFill>
            <a:prstDash val="solid"/>
          </a:ln>
        </p:spPr>
      </p:sp>
      <p:sp>
        <p:nvSpPr>
          <p:cNvPr id="11" name="Text 8"/>
          <p:cNvSpPr txBox="1"/>
          <p:nvPr/>
        </p:nvSpPr>
        <p:spPr>
          <a:xfrm>
            <a:off x="5669280" y="28803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6172200" y="2862072"/>
            <a:ext cx="5470855" cy="292608"/>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Потребитель</a:t>
            </a:r>
            <a:endParaRPr lang="en-US" sz="1600" dirty="0"/>
          </a:p>
        </p:txBody>
      </p:sp>
      <p:sp>
        <p:nvSpPr>
          <p:cNvPr id="13" name="Text 10"/>
          <p:cNvSpPr txBox="1"/>
          <p:nvPr/>
        </p:nvSpPr>
        <p:spPr>
          <a:xfrm>
            <a:off x="6172200" y="3163824"/>
            <a:ext cx="5470855"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Reporting вызывает GET /orders одним запросом. Billing обходит страницы</a:t>
            </a:r>
            <a:endParaRPr lang="en-US" sz="1400" dirty="0"/>
          </a:p>
        </p:txBody>
      </p:sp>
      <p:sp>
        <p:nvSpPr>
          <p:cNvPr id="14" name="num-3"/>
          <p:cNvSpPr/>
          <p:nvPr/>
        </p:nvSpPr>
        <p:spPr>
          <a:xfrm>
            <a:off x="5669280" y="3776472"/>
            <a:ext cx="347472" cy="347472"/>
          </a:xfrm>
          <a:prstGeom prst="ellipse">
            <a:avLst/>
          </a:prstGeom>
          <a:solidFill>
            <a:schemeClr val="accent1"/>
          </a:solidFill>
          <a:ln w="19050">
            <a:solidFill>
              <a:schemeClr val="bg1"/>
            </a:solidFill>
            <a:prstDash val="solid"/>
          </a:ln>
        </p:spPr>
      </p:sp>
      <p:sp>
        <p:nvSpPr>
          <p:cNvPr id="15" name="Text 12"/>
          <p:cNvSpPr txBox="1"/>
          <p:nvPr/>
        </p:nvSpPr>
        <p:spPr>
          <a:xfrm>
            <a:off x="5669280" y="377647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6172200" y="3758184"/>
            <a:ext cx="5470855" cy="292608"/>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Основание</a:t>
            </a:r>
            <a:endParaRPr lang="en-US" sz="1600" dirty="0"/>
          </a:p>
        </p:txBody>
      </p:sp>
      <p:sp>
        <p:nvSpPr>
          <p:cNvPr id="17" name="Text 14"/>
          <p:cNvSpPr txBox="1"/>
          <p:nvPr/>
        </p:nvSpPr>
        <p:spPr>
          <a:xfrm>
            <a:off x="6172200" y="4059936"/>
            <a:ext cx="5470855"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reporting/client.py, строка 5, снимок B. Это условный прогноз, не вердикт</a:t>
            </a:r>
            <a:endParaRPr lang="en-US" sz="1400" dirty="0"/>
          </a:p>
        </p:txBody>
      </p:sp>
      <p:sp>
        <p:nvSpPr>
          <p:cNvPr id="18" name="num-4"/>
          <p:cNvSpPr/>
          <p:nvPr/>
        </p:nvSpPr>
        <p:spPr>
          <a:xfrm>
            <a:off x="5669280" y="4672584"/>
            <a:ext cx="347472" cy="347472"/>
          </a:xfrm>
          <a:prstGeom prst="ellipse">
            <a:avLst/>
          </a:prstGeom>
          <a:solidFill>
            <a:schemeClr val="accent1"/>
          </a:solidFill>
          <a:ln w="19050">
            <a:solidFill>
              <a:schemeClr val="bg1"/>
            </a:solidFill>
            <a:prstDash val="solid"/>
          </a:ln>
        </p:spPr>
      </p:sp>
      <p:sp>
        <p:nvSpPr>
          <p:cNvPr id="19" name="Text 16"/>
          <p:cNvSpPr txBox="1"/>
          <p:nvPr/>
        </p:nvSpPr>
        <p:spPr>
          <a:xfrm>
            <a:off x="5669280" y="467258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7"/>
          <p:cNvSpPr txBox="1"/>
          <p:nvPr/>
        </p:nvSpPr>
        <p:spPr>
          <a:xfrm>
            <a:off x="6172200" y="4654296"/>
            <a:ext cx="5470855" cy="292608"/>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Проверка</a:t>
            </a:r>
            <a:endParaRPr lang="en-US" sz="1600" dirty="0"/>
          </a:p>
        </p:txBody>
      </p:sp>
      <p:sp>
        <p:nvSpPr>
          <p:cNvPr id="21" name="Text 18"/>
          <p:cNvSpPr txBox="1"/>
          <p:nvPr/>
        </p:nvSpPr>
        <p:spPr>
          <a:xfrm>
            <a:off x="6172200" y="4956048"/>
            <a:ext cx="5470855"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Оператор запускает сервисы: Reporting 100 из 250, Billing 250 из 250</a:t>
            </a:r>
            <a:endParaRPr lang="en-US" sz="1400" dirty="0"/>
          </a:p>
        </p:txBody>
      </p:sp>
      <p:sp>
        <p:nvSpPr>
          <p:cNvPr id="22" name="fix"/>
          <p:cNvSpPr/>
          <p:nvPr/>
        </p:nvSpPr>
        <p:spPr>
          <a:xfrm>
            <a:off x="5669280" y="5532120"/>
            <a:ext cx="5973775" cy="566928"/>
          </a:xfrm>
          <a:prstGeom prst="roundRect">
            <a:avLst>
              <a:gd name="adj" fmla="val 16129"/>
            </a:avLst>
          </a:prstGeom>
          <a:solidFill>
            <a:schemeClr val="bg2"/>
          </a:solidFill>
          <a:ln w="6350">
            <a:solidFill>
              <a:schemeClr val="bg2"/>
            </a:solidFill>
            <a:prstDash val="solid"/>
          </a:ln>
        </p:spPr>
      </p:sp>
      <p:sp>
        <p:nvSpPr>
          <p:cNvPr id="23" name="Text 20"/>
          <p:cNvSpPr txBox="1"/>
          <p:nvPr/>
        </p:nvSpPr>
        <p:spPr>
          <a:xfrm>
            <a:off x="5852160" y="5577840"/>
            <a:ext cx="5608015" cy="475488"/>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Исправление D: </a:t>
            </a:r>
            <a:pPr indent="0" marL="0">
              <a:spcAft>
                <a:spcPts val="400"/>
              </a:spcAft>
              <a:buNone/>
            </a:pPr>
            <a:r>
              <a:rPr lang="en-US" sz="1400" dirty="0">
                <a:solidFill>
                  <a:schemeClr val="tx1"/>
                </a:solidFill>
              </a:rPr>
              <a:t>Reporting обходит страницы и снова получает 250 из 250.</a:t>
            </a:r>
            <a:endParaRPr lang="en-US" sz="1500" dirty="0"/>
          </a:p>
        </p:txBody>
      </p:sp>
      <p:sp>
        <p:nvSpPr>
          <p:cNvPr id="24" name="Text 21"/>
          <p:cNvSpPr txBox="1"/>
          <p:nvPr/>
        </p:nvSpPr>
        <p:spPr>
          <a:xfrm>
            <a:off x="548640" y="5897880"/>
            <a:ext cx="4846320" cy="457200"/>
          </a:xfrm>
          <a:prstGeom prst="rect">
            <a:avLst/>
          </a:prstGeom>
          <a:noFill/>
          <a:ln/>
        </p:spPr>
        <p:txBody>
          <a:bodyPr wrap="square" lIns="0" tIns="0" rIns="0" bIns="0" rtlCol="0" anchor="t"/>
          <a:lstStyle/>
          <a:p>
            <a:pPr indent="0" marL="0">
              <a:buNone/>
            </a:pPr>
            <a:r>
              <a:rPr lang="en-US" sz="1100" dirty="0">
                <a:solidFill>
                  <a:schemeClr val="accent5"/>
                </a:solidFill>
              </a:rPr>
              <a:t>Синтетический стенд, 250 ID, 5 полных показов на ВМ 22.10.2026, без ИИ-модели. Не результат на клиентском коде.</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В работающем приложении видно связь, последствие, основание и результат запуска</a:t>
            </a:r>
            <a:endParaRPr lang="en-US" sz="2800" dirty="0"/>
          </a:p>
        </p:txBody>
      </p:sp>
      <p:sp>
        <p:nvSpPr>
          <p:cNvPr id="3" name="chip-synth"/>
          <p:cNvSpPr/>
          <p:nvPr/>
        </p:nvSpPr>
        <p:spPr>
          <a:xfrm>
            <a:off x="548640" y="1463040"/>
            <a:ext cx="4910328"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4910328"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СИНТЕТИЧЕСКИЙ СТЕНД · экран версии B на ВМ демо, 22.10.2026</a:t>
            </a:r>
            <a:endParaRPr lang="en-US" sz="1050" dirty="0"/>
          </a:p>
        </p:txBody>
      </p:sp>
      <p:sp>
        <p:nvSpPr>
          <p:cNvPr id="5" name="frame-b-impact"/>
          <p:cNvSpPr/>
          <p:nvPr/>
        </p:nvSpPr>
        <p:spPr>
          <a:xfrm>
            <a:off x="512064" y="1883664"/>
            <a:ext cx="4462272" cy="2581221"/>
          </a:xfrm>
          <a:prstGeom prst="rect">
            <a:avLst/>
          </a:prstGeom>
          <a:solidFill>
            <a:schemeClr val="bg1"/>
          </a:solidFill>
          <a:ln w="12700">
            <a:solidFill>
              <a:srgbClr val="C9D6D1"/>
            </a:solidFill>
            <a:prstDash val="solid"/>
          </a:ln>
        </p:spPr>
      </p:sp>
      <p:pic>
        <p:nvPicPr>
          <p:cNvPr id="6" name="Image 0" descr="Экран приложения: b-impact">    </p:cNvPr>
          <p:cNvPicPr>
            <a:picLocks noChangeAspect="1"/>
          </p:cNvPicPr>
          <p:nvPr/>
        </p:nvPicPr>
        <p:blipFill>
          <a:blip r:embed="rId1"/>
          <a:stretch>
            <a:fillRect/>
          </a:stretch>
        </p:blipFill>
        <p:spPr>
          <a:xfrm>
            <a:off x="548640" y="1920240"/>
            <a:ext cx="4389120" cy="2508069"/>
          </a:xfrm>
          <a:prstGeom prst="rect">
            <a:avLst/>
          </a:prstGeom>
        </p:spPr>
      </p:pic>
      <p:sp>
        <p:nvSpPr>
          <p:cNvPr id="7" name="num-1"/>
          <p:cNvSpPr/>
          <p:nvPr/>
        </p:nvSpPr>
        <p:spPr>
          <a:xfrm>
            <a:off x="411480" y="1783080"/>
            <a:ext cx="347472" cy="347472"/>
          </a:xfrm>
          <a:prstGeom prst="ellipse">
            <a:avLst/>
          </a:prstGeom>
          <a:solidFill>
            <a:schemeClr val="accent1"/>
          </a:solidFill>
          <a:ln w="19050">
            <a:solidFill>
              <a:schemeClr val="bg1"/>
            </a:solidFill>
            <a:prstDash val="solid"/>
          </a:ln>
        </p:spPr>
      </p:sp>
      <p:sp>
        <p:nvSpPr>
          <p:cNvPr id="8" name="Text 5"/>
          <p:cNvSpPr txBox="1"/>
          <p:nvPr/>
        </p:nvSpPr>
        <p:spPr>
          <a:xfrm>
            <a:off x="411480" y="17830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frame-b-check"/>
          <p:cNvSpPr/>
          <p:nvPr/>
        </p:nvSpPr>
        <p:spPr>
          <a:xfrm>
            <a:off x="512064" y="4592901"/>
            <a:ext cx="4462272" cy="1386563"/>
          </a:xfrm>
          <a:prstGeom prst="rect">
            <a:avLst/>
          </a:prstGeom>
          <a:solidFill>
            <a:schemeClr val="bg1"/>
          </a:solidFill>
          <a:ln w="12700">
            <a:solidFill>
              <a:srgbClr val="C9D6D1"/>
            </a:solidFill>
            <a:prstDash val="solid"/>
          </a:ln>
        </p:spPr>
      </p:sp>
      <p:pic>
        <p:nvPicPr>
          <p:cNvPr id="10" name="Image 1" descr="Экран приложения: b-check">    </p:cNvPr>
          <p:cNvPicPr>
            <a:picLocks noChangeAspect="1"/>
          </p:cNvPicPr>
          <p:nvPr/>
        </p:nvPicPr>
        <p:blipFill>
          <a:blip r:embed="rId2"/>
          <a:stretch>
            <a:fillRect/>
          </a:stretch>
        </p:blipFill>
        <p:spPr>
          <a:xfrm>
            <a:off x="548640" y="4629477"/>
            <a:ext cx="4389120" cy="1313411"/>
          </a:xfrm>
          <a:prstGeom prst="rect">
            <a:avLst/>
          </a:prstGeom>
        </p:spPr>
      </p:pic>
      <p:sp>
        <p:nvSpPr>
          <p:cNvPr id="11" name="num-3"/>
          <p:cNvSpPr/>
          <p:nvPr/>
        </p:nvSpPr>
        <p:spPr>
          <a:xfrm>
            <a:off x="411480" y="4492317"/>
            <a:ext cx="347472" cy="347472"/>
          </a:xfrm>
          <a:prstGeom prst="ellipse">
            <a:avLst/>
          </a:prstGeom>
          <a:solidFill>
            <a:schemeClr val="accent1"/>
          </a:solidFill>
          <a:ln w="19050">
            <a:solidFill>
              <a:schemeClr val="bg1"/>
            </a:solidFill>
            <a:prstDash val="solid"/>
          </a:ln>
        </p:spPr>
      </p:sp>
      <p:sp>
        <p:nvSpPr>
          <p:cNvPr id="12" name="Text 8"/>
          <p:cNvSpPr txBox="1"/>
          <p:nvPr/>
        </p:nvSpPr>
        <p:spPr>
          <a:xfrm>
            <a:off x="411480" y="4492317"/>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frame-b-basis"/>
          <p:cNvSpPr/>
          <p:nvPr/>
        </p:nvSpPr>
        <p:spPr>
          <a:xfrm>
            <a:off x="5312664" y="1883664"/>
            <a:ext cx="4096512" cy="2781183"/>
          </a:xfrm>
          <a:prstGeom prst="rect">
            <a:avLst/>
          </a:prstGeom>
          <a:solidFill>
            <a:schemeClr val="bg1"/>
          </a:solidFill>
          <a:ln w="12700">
            <a:solidFill>
              <a:srgbClr val="C9D6D1"/>
            </a:solidFill>
            <a:prstDash val="solid"/>
          </a:ln>
        </p:spPr>
      </p:sp>
      <p:pic>
        <p:nvPicPr>
          <p:cNvPr id="14" name="Image 2" descr="Экран приложения: b-basis">    </p:cNvPr>
          <p:cNvPicPr>
            <a:picLocks noChangeAspect="1"/>
          </p:cNvPicPr>
          <p:nvPr/>
        </p:nvPicPr>
        <p:blipFill>
          <a:blip r:embed="rId3"/>
          <a:stretch>
            <a:fillRect/>
          </a:stretch>
        </p:blipFill>
        <p:spPr>
          <a:xfrm>
            <a:off x="5349240" y="1920240"/>
            <a:ext cx="4023360" cy="2708031"/>
          </a:xfrm>
          <a:prstGeom prst="rect">
            <a:avLst/>
          </a:prstGeom>
        </p:spPr>
      </p:pic>
      <p:sp>
        <p:nvSpPr>
          <p:cNvPr id="15" name="num-2"/>
          <p:cNvSpPr/>
          <p:nvPr/>
        </p:nvSpPr>
        <p:spPr>
          <a:xfrm>
            <a:off x="5212080" y="1783080"/>
            <a:ext cx="347472" cy="347472"/>
          </a:xfrm>
          <a:prstGeom prst="ellipse">
            <a:avLst/>
          </a:prstGeom>
          <a:solidFill>
            <a:schemeClr val="accent1"/>
          </a:solidFill>
          <a:ln w="19050">
            <a:solidFill>
              <a:schemeClr val="bg1"/>
            </a:solidFill>
            <a:prstDash val="solid"/>
          </a:ln>
        </p:spPr>
      </p:sp>
      <p:sp>
        <p:nvSpPr>
          <p:cNvPr id="16" name="Text 11"/>
          <p:cNvSpPr txBox="1"/>
          <p:nvPr/>
        </p:nvSpPr>
        <p:spPr>
          <a:xfrm>
            <a:off x="5212080" y="17830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num-1"/>
          <p:cNvSpPr/>
          <p:nvPr/>
        </p:nvSpPr>
        <p:spPr>
          <a:xfrm>
            <a:off x="5349240" y="4811151"/>
            <a:ext cx="347472" cy="347472"/>
          </a:xfrm>
          <a:prstGeom prst="ellipse">
            <a:avLst/>
          </a:prstGeom>
          <a:solidFill>
            <a:schemeClr val="accent1"/>
          </a:solidFill>
          <a:ln w="19050">
            <a:solidFill>
              <a:schemeClr val="bg1"/>
            </a:solidFill>
            <a:prstDash val="solid"/>
          </a:ln>
        </p:spPr>
      </p:sp>
      <p:sp>
        <p:nvSpPr>
          <p:cNvPr id="18" name="Text 13"/>
          <p:cNvSpPr txBox="1"/>
          <p:nvPr/>
        </p:nvSpPr>
        <p:spPr>
          <a:xfrm>
            <a:off x="5349240" y="4811151"/>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9" name="Text 14"/>
          <p:cNvSpPr txBox="1"/>
          <p:nvPr/>
        </p:nvSpPr>
        <p:spPr>
          <a:xfrm>
            <a:off x="5806440" y="4829439"/>
            <a:ext cx="5836615"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Риск назван риском: "возможна потеря", тест не выполнялся, допуска нет</a:t>
            </a:r>
            <a:endParaRPr lang="en-US" sz="1400" dirty="0"/>
          </a:p>
        </p:txBody>
      </p:sp>
      <p:sp>
        <p:nvSpPr>
          <p:cNvPr id="20" name="num-2"/>
          <p:cNvSpPr/>
          <p:nvPr/>
        </p:nvSpPr>
        <p:spPr>
          <a:xfrm>
            <a:off x="5349240" y="5222631"/>
            <a:ext cx="347472" cy="347472"/>
          </a:xfrm>
          <a:prstGeom prst="ellipse">
            <a:avLst/>
          </a:prstGeom>
          <a:solidFill>
            <a:schemeClr val="accent1"/>
          </a:solidFill>
          <a:ln w="19050">
            <a:solidFill>
              <a:schemeClr val="bg1"/>
            </a:solidFill>
            <a:prstDash val="solid"/>
          </a:ln>
        </p:spPr>
      </p:sp>
      <p:sp>
        <p:nvSpPr>
          <p:cNvPr id="21" name="Text 16"/>
          <p:cNvSpPr txBox="1"/>
          <p:nvPr/>
        </p:nvSpPr>
        <p:spPr>
          <a:xfrm>
            <a:off x="5349240" y="5222631"/>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2" name="Text 17"/>
          <p:cNvSpPr txBox="1"/>
          <p:nvPr/>
        </p:nvSpPr>
        <p:spPr>
          <a:xfrm>
            <a:off x="5806440" y="5240919"/>
            <a:ext cx="5836615"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Основание: файл и строка в неизменяемом снимке версии B</a:t>
            </a:r>
            <a:endParaRPr lang="en-US" sz="1400" dirty="0"/>
          </a:p>
        </p:txBody>
      </p:sp>
      <p:sp>
        <p:nvSpPr>
          <p:cNvPr id="23" name="num-3"/>
          <p:cNvSpPr/>
          <p:nvPr/>
        </p:nvSpPr>
        <p:spPr>
          <a:xfrm>
            <a:off x="5349240" y="5634111"/>
            <a:ext cx="347472" cy="347472"/>
          </a:xfrm>
          <a:prstGeom prst="ellipse">
            <a:avLst/>
          </a:prstGeom>
          <a:solidFill>
            <a:schemeClr val="accent1"/>
          </a:solidFill>
          <a:ln w="19050">
            <a:solidFill>
              <a:schemeClr val="bg1"/>
            </a:solidFill>
            <a:prstDash val="solid"/>
          </a:ln>
        </p:spPr>
      </p:sp>
      <p:sp>
        <p:nvSpPr>
          <p:cNvPr id="24" name="Text 19"/>
          <p:cNvSpPr txBox="1"/>
          <p:nvPr/>
        </p:nvSpPr>
        <p:spPr>
          <a:xfrm>
            <a:off x="5349240" y="5634111"/>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Text 20"/>
          <p:cNvSpPr txBox="1"/>
          <p:nvPr/>
        </p:nvSpPr>
        <p:spPr>
          <a:xfrm>
            <a:off x="5806440" y="5652399"/>
            <a:ext cx="5836615"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Запуск оператора: Reporting 100 из 250, Billing 250 из 250</a:t>
            </a:r>
            <a:endParaRPr lang="en-US" sz="1400" dirty="0"/>
          </a:p>
        </p:txBody>
      </p:sp>
      <p:sp>
        <p:nvSpPr>
          <p:cNvPr id="26" name="Text 21"/>
          <p:cNvSpPr txBox="1"/>
          <p:nvPr/>
        </p:nvSpPr>
        <p:spPr>
          <a:xfrm>
            <a:off x="548640" y="6089904"/>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Запуск делает оператор отдельным runner: это наблюдение на стенде, не независимая проверка. В пилоте результат приходит отчётом в PR, а не через этот экран.</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После исправления Reporting снова получает все 250 записей, а новый потребитель Export виден в карте</a:t>
            </a:r>
            <a:endParaRPr lang="en-US" sz="2800" dirty="0"/>
          </a:p>
        </p:txBody>
      </p:sp>
      <p:sp>
        <p:nvSpPr>
          <p:cNvPr id="3" name="chip-synth"/>
          <p:cNvSpPr/>
          <p:nvPr/>
        </p:nvSpPr>
        <p:spPr>
          <a:xfrm>
            <a:off x="548640" y="1463040"/>
            <a:ext cx="4910328"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4910328"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СИНТЕТИЧЕСКИЙ СТЕНД · экран версии E на ВМ демо, 22.10.2026</a:t>
            </a:r>
            <a:endParaRPr lang="en-US" sz="1050" dirty="0"/>
          </a:p>
        </p:txBody>
      </p:sp>
      <p:sp>
        <p:nvSpPr>
          <p:cNvPr id="5" name="frame-e-list"/>
          <p:cNvSpPr/>
          <p:nvPr/>
        </p:nvSpPr>
        <p:spPr>
          <a:xfrm>
            <a:off x="512064" y="1929384"/>
            <a:ext cx="3730752" cy="3213516"/>
          </a:xfrm>
          <a:prstGeom prst="rect">
            <a:avLst/>
          </a:prstGeom>
          <a:solidFill>
            <a:schemeClr val="bg1"/>
          </a:solidFill>
          <a:ln w="12700">
            <a:solidFill>
              <a:srgbClr val="C9D6D1"/>
            </a:solidFill>
            <a:prstDash val="solid"/>
          </a:ln>
        </p:spPr>
      </p:sp>
      <p:pic>
        <p:nvPicPr>
          <p:cNvPr id="6" name="Image 0" descr="Экран приложения: e-list">    </p:cNvPr>
          <p:cNvPicPr>
            <a:picLocks noChangeAspect="1"/>
          </p:cNvPicPr>
          <p:nvPr/>
        </p:nvPicPr>
        <p:blipFill>
          <a:blip r:embed="rId1"/>
          <a:stretch>
            <a:fillRect/>
          </a:stretch>
        </p:blipFill>
        <p:spPr>
          <a:xfrm>
            <a:off x="548640" y="1965960"/>
            <a:ext cx="3657600" cy="3140364"/>
          </a:xfrm>
          <a:prstGeom prst="rect">
            <a:avLst/>
          </a:prstGeom>
        </p:spPr>
      </p:pic>
      <p:sp>
        <p:nvSpPr>
          <p:cNvPr id="7" name="num-1"/>
          <p:cNvSpPr/>
          <p:nvPr/>
        </p:nvSpPr>
        <p:spPr>
          <a:xfrm>
            <a:off x="411480" y="1828800"/>
            <a:ext cx="347472" cy="347472"/>
          </a:xfrm>
          <a:prstGeom prst="ellipse">
            <a:avLst/>
          </a:prstGeom>
          <a:solidFill>
            <a:schemeClr val="accent1"/>
          </a:solidFill>
          <a:ln w="19050">
            <a:solidFill>
              <a:schemeClr val="bg1"/>
            </a:solidFill>
            <a:prstDash val="solid"/>
          </a:ln>
        </p:spPr>
      </p:sp>
      <p:sp>
        <p:nvSpPr>
          <p:cNvPr id="8" name="Text 5"/>
          <p:cNvSpPr txBox="1"/>
          <p:nvPr/>
        </p:nvSpPr>
        <p:spPr>
          <a:xfrm>
            <a:off x="411480" y="18288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48640" y="5243484"/>
            <a:ext cx="3657600" cy="457200"/>
          </a:xfrm>
          <a:prstGeom prst="rect">
            <a:avLst/>
          </a:prstGeom>
          <a:noFill/>
          <a:ln/>
        </p:spPr>
        <p:txBody>
          <a:bodyPr wrap="square" lIns="0" tIns="0" rIns="0" bIns="0" rtlCol="0" anchor="t"/>
          <a:lstStyle/>
          <a:p>
            <a:pPr indent="0" marL="0">
              <a:buNone/>
            </a:pPr>
            <a:r>
              <a:rPr lang="en-US" sz="1100" dirty="0">
                <a:solidFill>
                  <a:schemeClr val="accent5"/>
                </a:solidFill>
              </a:rPr>
              <a:t>Карта зависимостей версии E. Reporting теперь обходит страницы, Export добавлен.</a:t>
            </a:r>
            <a:endParaRPr lang="en-US" sz="1100" dirty="0"/>
          </a:p>
        </p:txBody>
      </p:sp>
      <p:sp>
        <p:nvSpPr>
          <p:cNvPr id="10" name="frame-e-check"/>
          <p:cNvSpPr/>
          <p:nvPr/>
        </p:nvSpPr>
        <p:spPr>
          <a:xfrm>
            <a:off x="4626864" y="1929384"/>
            <a:ext cx="4828032" cy="1802199"/>
          </a:xfrm>
          <a:prstGeom prst="rect">
            <a:avLst/>
          </a:prstGeom>
          <a:solidFill>
            <a:schemeClr val="bg1"/>
          </a:solidFill>
          <a:ln w="12700">
            <a:solidFill>
              <a:srgbClr val="C9D6D1"/>
            </a:solidFill>
            <a:prstDash val="solid"/>
          </a:ln>
        </p:spPr>
      </p:sp>
      <p:pic>
        <p:nvPicPr>
          <p:cNvPr id="11" name="Image 1" descr="Экран приложения: e-check">    </p:cNvPr>
          <p:cNvPicPr>
            <a:picLocks noChangeAspect="1"/>
          </p:cNvPicPr>
          <p:nvPr/>
        </p:nvPicPr>
        <p:blipFill>
          <a:blip r:embed="rId2"/>
          <a:stretch>
            <a:fillRect/>
          </a:stretch>
        </p:blipFill>
        <p:spPr>
          <a:xfrm>
            <a:off x="4663440" y="1965960"/>
            <a:ext cx="4754880" cy="1729047"/>
          </a:xfrm>
          <a:prstGeom prst="rect">
            <a:avLst/>
          </a:prstGeom>
        </p:spPr>
      </p:pic>
      <p:sp>
        <p:nvSpPr>
          <p:cNvPr id="12" name="num-2"/>
          <p:cNvSpPr/>
          <p:nvPr/>
        </p:nvSpPr>
        <p:spPr>
          <a:xfrm>
            <a:off x="4526280" y="1828800"/>
            <a:ext cx="347472" cy="347472"/>
          </a:xfrm>
          <a:prstGeom prst="ellipse">
            <a:avLst/>
          </a:prstGeom>
          <a:solidFill>
            <a:schemeClr val="accent1"/>
          </a:solidFill>
          <a:ln w="19050">
            <a:solidFill>
              <a:schemeClr val="bg1"/>
            </a:solidFill>
            <a:prstDash val="solid"/>
          </a:ln>
        </p:spPr>
      </p:sp>
      <p:sp>
        <p:nvSpPr>
          <p:cNvPr id="13" name="Text 9"/>
          <p:cNvSpPr txBox="1"/>
          <p:nvPr/>
        </p:nvSpPr>
        <p:spPr>
          <a:xfrm>
            <a:off x="4526280" y="18288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0"/>
          <p:cNvSpPr txBox="1"/>
          <p:nvPr/>
        </p:nvSpPr>
        <p:spPr>
          <a:xfrm>
            <a:off x="4663440" y="3969327"/>
            <a:ext cx="6979615"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Версия D исправила Reporting: обход страниц, 250 из 250</a:t>
            </a:r>
            <a:endParaRPr lang="en-US" sz="1500" dirty="0"/>
          </a:p>
          <a:p>
            <a:pPr marL="203200" indent="-203200">
              <a:spcAft>
                <a:spcPts val="600"/>
              </a:spcAft>
              <a:buSzPct val="100000"/>
              <a:buChar char="•"/>
            </a:pPr>
            <a:r>
              <a:rPr lang="en-US" sz="1400" dirty="0">
                <a:solidFill>
                  <a:schemeClr val="tx1"/>
                </a:solidFill>
              </a:rPr>
              <a:t>Версия E добавила потребителя Export: 250 из 250, у всех трёх PASS</a:t>
            </a:r>
            <a:endParaRPr lang="en-US" sz="1500" dirty="0"/>
          </a:p>
          <a:p>
            <a:pPr marL="203200" indent="-203200">
              <a:spcAft>
                <a:spcPts val="600"/>
              </a:spcAft>
              <a:buSzPct val="100000"/>
              <a:buChar char="•"/>
            </a:pPr>
            <a:r>
              <a:rPr lang="en-US" sz="1400" dirty="0">
                <a:solidFill>
                  <a:schemeClr val="tx1"/>
                </a:solidFill>
              </a:rPr>
              <a:t>Если сервисы стенда остановлены, экран пишет "Не подтверждено" и не выдаёт прошлый результат за текущий</a:t>
            </a:r>
            <a:endParaRPr lang="en-US" sz="1500" dirty="0"/>
          </a:p>
        </p:txBody>
      </p:sp>
      <p:sp>
        <p:nvSpPr>
          <p:cNvPr id="15" name="limit"/>
          <p:cNvSpPr/>
          <p:nvPr/>
        </p:nvSpPr>
        <p:spPr>
          <a:xfrm>
            <a:off x="4663440" y="5120640"/>
            <a:ext cx="6979615" cy="777240"/>
          </a:xfrm>
          <a:prstGeom prst="roundRect">
            <a:avLst>
              <a:gd name="adj" fmla="val 11765"/>
            </a:avLst>
          </a:prstGeom>
          <a:solidFill>
            <a:schemeClr val="bg2"/>
          </a:solidFill>
          <a:ln w="6350">
            <a:solidFill>
              <a:schemeClr val="bg2"/>
            </a:solidFill>
            <a:prstDash val="solid"/>
          </a:ln>
        </p:spPr>
      </p:sp>
      <p:sp>
        <p:nvSpPr>
          <p:cNvPr id="16" name="chip-limit"/>
          <p:cNvSpPr/>
          <p:nvPr/>
        </p:nvSpPr>
        <p:spPr>
          <a:xfrm>
            <a:off x="4846320" y="5212080"/>
            <a:ext cx="1325880" cy="274320"/>
          </a:xfrm>
          <a:prstGeom prst="roundRect">
            <a:avLst>
              <a:gd name="adj" fmla="val 26667"/>
            </a:avLst>
          </a:prstGeom>
          <a:solidFill>
            <a:schemeClr val="accent4">
              <a:alpha val="14000"/>
            </a:schemeClr>
          </a:solidFill>
          <a:ln w="9525">
            <a:solidFill>
              <a:schemeClr val="accent4"/>
            </a:solidFill>
            <a:prstDash val="solid"/>
          </a:ln>
        </p:spPr>
      </p:sp>
      <p:sp>
        <p:nvSpPr>
          <p:cNvPr id="17" name="Text 13"/>
          <p:cNvSpPr txBox="1"/>
          <p:nvPr/>
        </p:nvSpPr>
        <p:spPr>
          <a:xfrm>
            <a:off x="4846320" y="5212080"/>
            <a:ext cx="1325880" cy="274320"/>
          </a:xfrm>
          <a:prstGeom prst="rect">
            <a:avLst/>
          </a:prstGeom>
          <a:noFill/>
          <a:ln/>
        </p:spPr>
        <p:txBody>
          <a:bodyPr wrap="square" lIns="0" tIns="0" rIns="0" bIns="0" rtlCol="0" anchor="ctr"/>
          <a:lstStyle/>
          <a:p>
            <a:pPr algn="ctr" indent="0" marL="0">
              <a:buNone/>
            </a:pPr>
            <a:r>
              <a:rPr lang="en-US" sz="1050" b="1" spc="50" kern="0" dirty="0">
                <a:solidFill>
                  <a:schemeClr val="accent4"/>
                </a:solidFill>
              </a:rPr>
              <a:t>ОГРАНИЧЕНИЕ</a:t>
            </a:r>
            <a:endParaRPr lang="en-US" sz="1050" dirty="0"/>
          </a:p>
        </p:txBody>
      </p:sp>
      <p:sp>
        <p:nvSpPr>
          <p:cNvPr id="18" name="Text 14"/>
          <p:cNvSpPr txBox="1"/>
          <p:nvPr/>
        </p:nvSpPr>
        <p:spPr>
          <a:xfrm>
            <a:off x="4846320" y="5513832"/>
            <a:ext cx="6613855" cy="3657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Появление нового потребителя анализ пока не считает изменением: Export виден в карте, но в разборе D→E не отмечен.</a:t>
            </a:r>
            <a:endParaRPr lang="en-US" sz="1300" dirty="0"/>
          </a:p>
        </p:txBody>
      </p:sp>
      <p:sp>
        <p:nvSpPr>
          <p:cNvPr id="19" name="Text 15"/>
          <p:cNvSpPr txBox="1"/>
          <p:nvPr/>
        </p:nvSpPr>
        <p:spPr>
          <a:xfrm>
            <a:off x="548640" y="5989320"/>
            <a:ext cx="3931920" cy="411480"/>
          </a:xfrm>
          <a:prstGeom prst="rect">
            <a:avLst/>
          </a:prstGeom>
          <a:noFill/>
          <a:ln/>
        </p:spPr>
        <p:txBody>
          <a:bodyPr wrap="square" lIns="0" tIns="0" rIns="0" bIns="0" rtlCol="0" anchor="t"/>
          <a:lstStyle/>
          <a:p>
            <a:pPr indent="0" marL="0">
              <a:buNone/>
            </a:pPr>
            <a:r>
              <a:rPr lang="en-US" sz="1100" dirty="0">
                <a:solidFill>
                  <a:schemeClr val="accent5"/>
                </a:solidFill>
              </a:rPr>
              <a:t>Кадр версии D на ВМ не сохранён. Результат D (250 из 250) взят из отчёта приёмки 22.10.2026.</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Подтверждено: механизм работает на стенде, основания проверяемы, анализ занимает секунды</a:t>
            </a:r>
            <a:endParaRPr lang="en-US" sz="2800" dirty="0"/>
          </a:p>
        </p:txBody>
      </p:sp>
      <p:sp>
        <p:nvSpPr>
          <p:cNvPr id="3" name="chip-ok"/>
          <p:cNvSpPr/>
          <p:nvPr/>
        </p:nvSpPr>
        <p:spPr>
          <a:xfrm>
            <a:off x="548640" y="1463040"/>
            <a:ext cx="4270248" cy="274320"/>
          </a:xfrm>
          <a:prstGeom prst="roundRect">
            <a:avLst>
              <a:gd name="adj" fmla="val 26667"/>
            </a:avLst>
          </a:prstGeom>
          <a:solidFill>
            <a:schemeClr val="accent1">
              <a:alpha val="14000"/>
            </a:schemeClr>
          </a:solidFill>
          <a:ln w="9525">
            <a:solidFill>
              <a:schemeClr val="accent1"/>
            </a:solidFill>
            <a:prstDash val="solid"/>
          </a:ln>
        </p:spPr>
      </p:sp>
      <p:sp>
        <p:nvSpPr>
          <p:cNvPr id="4" name="Text 2"/>
          <p:cNvSpPr txBox="1"/>
          <p:nvPr/>
        </p:nvSpPr>
        <p:spPr>
          <a:xfrm>
            <a:off x="548640" y="1463040"/>
            <a:ext cx="4270248" cy="274320"/>
          </a:xfrm>
          <a:prstGeom prst="rect">
            <a:avLst/>
          </a:prstGeom>
          <a:noFill/>
          <a:ln/>
        </p:spPr>
        <p:txBody>
          <a:bodyPr wrap="square" lIns="0" tIns="0" rIns="0" bIns="0" rtlCol="0" anchor="ctr"/>
          <a:lstStyle/>
          <a:p>
            <a:pPr algn="ctr" indent="0" marL="0">
              <a:buNone/>
            </a:pPr>
            <a:r>
              <a:rPr lang="en-US" sz="1050" b="1" spc="50" kern="0" dirty="0">
                <a:solidFill>
                  <a:schemeClr val="accent1"/>
                </a:solidFill>
              </a:rPr>
              <a:t>ПОДТВЕРЖДЕНО · на синтетике и публичных репозиториях</a:t>
            </a:r>
            <a:endParaRPr lang="en-US" sz="1050" dirty="0"/>
          </a:p>
        </p:txBody>
      </p:sp>
      <p:sp>
        <p:nvSpPr>
          <p:cNvPr id="5" name="stat"/>
          <p:cNvSpPr/>
          <p:nvPr/>
        </p:nvSpPr>
        <p:spPr>
          <a:xfrm>
            <a:off x="548640" y="1965960"/>
            <a:ext cx="2567864" cy="2057400"/>
          </a:xfrm>
          <a:prstGeom prst="roundRect">
            <a:avLst>
              <a:gd name="adj" fmla="val 4444"/>
            </a:avLst>
          </a:prstGeom>
          <a:solidFill>
            <a:schemeClr val="bg2"/>
          </a:solidFill>
          <a:ln w="6350">
            <a:solidFill>
              <a:schemeClr val="bg2"/>
            </a:solidFill>
            <a:prstDash val="solid"/>
          </a:ln>
        </p:spPr>
      </p:sp>
      <p:sp>
        <p:nvSpPr>
          <p:cNvPr id="6" name="Text 4"/>
          <p:cNvSpPr txBox="1"/>
          <p:nvPr/>
        </p:nvSpPr>
        <p:spPr>
          <a:xfrm>
            <a:off x="731520" y="2103120"/>
            <a:ext cx="2202104" cy="731520"/>
          </a:xfrm>
          <a:prstGeom prst="rect">
            <a:avLst/>
          </a:prstGeom>
          <a:noFill/>
          <a:ln/>
        </p:spPr>
        <p:txBody>
          <a:bodyPr wrap="square" lIns="0" tIns="0" rIns="0" bIns="0" rtlCol="0" anchor="ctr"/>
          <a:lstStyle/>
          <a:p>
            <a:pPr indent="0" marL="0">
              <a:spcAft>
                <a:spcPts val="400"/>
              </a:spcAft>
              <a:buNone/>
            </a:pPr>
            <a:r>
              <a:rPr lang="en-US" sz="4000" b="1" dirty="0">
                <a:solidFill>
                  <a:schemeClr val="accent1"/>
                </a:solidFill>
              </a:rPr>
              <a:t>5 из 5</a:t>
            </a:r>
            <a:endParaRPr lang="en-US" sz="4000" dirty="0"/>
          </a:p>
        </p:txBody>
      </p:sp>
      <p:sp>
        <p:nvSpPr>
          <p:cNvPr id="7" name="Text 5"/>
          <p:cNvSpPr txBox="1"/>
          <p:nvPr/>
        </p:nvSpPr>
        <p:spPr>
          <a:xfrm>
            <a:off x="731520" y="2880360"/>
            <a:ext cx="2202104"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полных показов A→B→D→E на ВМ, 20 проверок, без дублей и лишних ID</a:t>
            </a:r>
            <a:endParaRPr lang="en-US" sz="1300" dirty="0"/>
          </a:p>
        </p:txBody>
      </p:sp>
      <p:sp>
        <p:nvSpPr>
          <p:cNvPr id="8" name="Text 6"/>
          <p:cNvSpPr txBox="1"/>
          <p:nvPr/>
        </p:nvSpPr>
        <p:spPr>
          <a:xfrm>
            <a:off x="731520" y="3675888"/>
            <a:ext cx="2202104" cy="274320"/>
          </a:xfrm>
          <a:prstGeom prst="rect">
            <a:avLst/>
          </a:prstGeom>
          <a:noFill/>
          <a:ln/>
        </p:spPr>
        <p:txBody>
          <a:bodyPr wrap="square" lIns="0" tIns="0" rIns="0" bIns="0" rtlCol="0" anchor="t"/>
          <a:lstStyle/>
          <a:p>
            <a:pPr indent="0" marL="0">
              <a:buNone/>
            </a:pPr>
            <a:r>
              <a:rPr lang="en-US" sz="1100" dirty="0">
                <a:solidFill>
                  <a:schemeClr val="accent5"/>
                </a:solidFill>
              </a:rPr>
              <a:t>синтетика</a:t>
            </a:r>
            <a:endParaRPr lang="en-US" sz="1100" dirty="0"/>
          </a:p>
        </p:txBody>
      </p:sp>
      <p:sp>
        <p:nvSpPr>
          <p:cNvPr id="9" name="stat"/>
          <p:cNvSpPr/>
          <p:nvPr/>
        </p:nvSpPr>
        <p:spPr>
          <a:xfrm>
            <a:off x="3390824" y="1965960"/>
            <a:ext cx="2567864" cy="2057400"/>
          </a:xfrm>
          <a:prstGeom prst="roundRect">
            <a:avLst>
              <a:gd name="adj" fmla="val 4444"/>
            </a:avLst>
          </a:prstGeom>
          <a:solidFill>
            <a:schemeClr val="bg2"/>
          </a:solidFill>
          <a:ln w="6350">
            <a:solidFill>
              <a:schemeClr val="bg2"/>
            </a:solidFill>
            <a:prstDash val="solid"/>
          </a:ln>
        </p:spPr>
      </p:sp>
      <p:sp>
        <p:nvSpPr>
          <p:cNvPr id="10" name="Text 8"/>
          <p:cNvSpPr txBox="1"/>
          <p:nvPr/>
        </p:nvSpPr>
        <p:spPr>
          <a:xfrm>
            <a:off x="3573704" y="2103120"/>
            <a:ext cx="2202104" cy="731520"/>
          </a:xfrm>
          <a:prstGeom prst="rect">
            <a:avLst/>
          </a:prstGeom>
          <a:noFill/>
          <a:ln/>
        </p:spPr>
        <p:txBody>
          <a:bodyPr wrap="square" lIns="0" tIns="0" rIns="0" bIns="0" rtlCol="0" anchor="ctr"/>
          <a:lstStyle/>
          <a:p>
            <a:pPr indent="0" marL="0">
              <a:spcAft>
                <a:spcPts val="400"/>
              </a:spcAft>
              <a:buNone/>
            </a:pPr>
            <a:r>
              <a:rPr lang="en-US" sz="2200" b="1" dirty="0">
                <a:solidFill>
                  <a:schemeClr val="accent1"/>
                </a:solidFill>
              </a:rPr>
              <a:t>файл · строки · SHA-256</a:t>
            </a:r>
            <a:endParaRPr lang="en-US" sz="2200" dirty="0"/>
          </a:p>
        </p:txBody>
      </p:sp>
      <p:sp>
        <p:nvSpPr>
          <p:cNvPr id="11" name="Text 9"/>
          <p:cNvSpPr txBox="1"/>
          <p:nvPr/>
        </p:nvSpPr>
        <p:spPr>
          <a:xfrm>
            <a:off x="3573704" y="2880360"/>
            <a:ext cx="2202104"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основание каждой связи, сверяется повторно при каждом чтении</a:t>
            </a:r>
            <a:endParaRPr lang="en-US" sz="1300" dirty="0"/>
          </a:p>
        </p:txBody>
      </p:sp>
      <p:sp>
        <p:nvSpPr>
          <p:cNvPr id="12" name="Text 10"/>
          <p:cNvSpPr txBox="1"/>
          <p:nvPr/>
        </p:nvSpPr>
        <p:spPr>
          <a:xfrm>
            <a:off x="3573704" y="3675888"/>
            <a:ext cx="2202104" cy="274320"/>
          </a:xfrm>
          <a:prstGeom prst="rect">
            <a:avLst/>
          </a:prstGeom>
          <a:noFill/>
          <a:ln/>
        </p:spPr>
        <p:txBody>
          <a:bodyPr wrap="square" lIns="0" tIns="0" rIns="0" bIns="0" rtlCol="0" anchor="t"/>
          <a:lstStyle/>
          <a:p>
            <a:pPr indent="0" marL="0">
              <a:buNone/>
            </a:pPr>
            <a:r>
              <a:rPr lang="en-US" sz="1100" dirty="0">
                <a:solidFill>
                  <a:schemeClr val="accent5"/>
                </a:solidFill>
              </a:rPr>
              <a:t>код и тесты</a:t>
            </a:r>
            <a:endParaRPr lang="en-US" sz="1100" dirty="0"/>
          </a:p>
        </p:txBody>
      </p:sp>
      <p:sp>
        <p:nvSpPr>
          <p:cNvPr id="13" name="stat"/>
          <p:cNvSpPr/>
          <p:nvPr/>
        </p:nvSpPr>
        <p:spPr>
          <a:xfrm>
            <a:off x="6233008" y="1965960"/>
            <a:ext cx="2567864" cy="2057400"/>
          </a:xfrm>
          <a:prstGeom prst="roundRect">
            <a:avLst>
              <a:gd name="adj" fmla="val 4444"/>
            </a:avLst>
          </a:prstGeom>
          <a:solidFill>
            <a:schemeClr val="bg2"/>
          </a:solidFill>
          <a:ln w="6350">
            <a:solidFill>
              <a:schemeClr val="bg2"/>
            </a:solidFill>
            <a:prstDash val="solid"/>
          </a:ln>
        </p:spPr>
      </p:sp>
      <p:sp>
        <p:nvSpPr>
          <p:cNvPr id="14" name="Text 12"/>
          <p:cNvSpPr txBox="1"/>
          <p:nvPr/>
        </p:nvSpPr>
        <p:spPr>
          <a:xfrm>
            <a:off x="6415888" y="2103120"/>
            <a:ext cx="2202104" cy="731520"/>
          </a:xfrm>
          <a:prstGeom prst="rect">
            <a:avLst/>
          </a:prstGeom>
          <a:noFill/>
          <a:ln/>
        </p:spPr>
        <p:txBody>
          <a:bodyPr wrap="square" lIns="0" tIns="0" rIns="0" bIns="0" rtlCol="0" anchor="ctr"/>
          <a:lstStyle/>
          <a:p>
            <a:pPr indent="0" marL="0">
              <a:spcAft>
                <a:spcPts val="400"/>
              </a:spcAft>
              <a:buNone/>
            </a:pPr>
            <a:r>
              <a:rPr lang="en-US" sz="4000" b="1" dirty="0">
                <a:solidFill>
                  <a:schemeClr val="accent1"/>
                </a:solidFill>
              </a:rPr>
              <a:t>3,2 с</a:t>
            </a:r>
            <a:endParaRPr lang="en-US" sz="4000" dirty="0"/>
          </a:p>
        </p:txBody>
      </p:sp>
      <p:sp>
        <p:nvSpPr>
          <p:cNvPr id="15" name="Text 13"/>
          <p:cNvSpPr txBox="1"/>
          <p:nvPr/>
        </p:nvSpPr>
        <p:spPr>
          <a:xfrm>
            <a:off x="6415888" y="2880360"/>
            <a:ext cx="2202104"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анализ изменения на 1000 файлов, 28 с на 9000</a:t>
            </a:r>
            <a:endParaRPr lang="en-US" sz="1300" dirty="0"/>
          </a:p>
        </p:txBody>
      </p:sp>
      <p:sp>
        <p:nvSpPr>
          <p:cNvPr id="16" name="Text 14"/>
          <p:cNvSpPr txBox="1"/>
          <p:nvPr/>
        </p:nvSpPr>
        <p:spPr>
          <a:xfrm>
            <a:off x="6415888" y="3675888"/>
            <a:ext cx="2202104" cy="274320"/>
          </a:xfrm>
          <a:prstGeom prst="rect">
            <a:avLst/>
          </a:prstGeom>
          <a:noFill/>
          <a:ln/>
        </p:spPr>
        <p:txBody>
          <a:bodyPr wrap="square" lIns="0" tIns="0" rIns="0" bIns="0" rtlCol="0" anchor="t"/>
          <a:lstStyle/>
          <a:p>
            <a:pPr indent="0" marL="0">
              <a:buNone/>
            </a:pPr>
            <a:r>
              <a:rPr lang="en-US" sz="1100" dirty="0">
                <a:solidFill>
                  <a:schemeClr val="accent5"/>
                </a:solidFill>
              </a:rPr>
              <a:t>синтетика, Windows</a:t>
            </a:r>
            <a:endParaRPr lang="en-US" sz="1100" dirty="0"/>
          </a:p>
        </p:txBody>
      </p:sp>
      <p:sp>
        <p:nvSpPr>
          <p:cNvPr id="17" name="stat"/>
          <p:cNvSpPr/>
          <p:nvPr/>
        </p:nvSpPr>
        <p:spPr>
          <a:xfrm>
            <a:off x="9075191" y="1965960"/>
            <a:ext cx="2567864" cy="2057400"/>
          </a:xfrm>
          <a:prstGeom prst="roundRect">
            <a:avLst>
              <a:gd name="adj" fmla="val 4444"/>
            </a:avLst>
          </a:prstGeom>
          <a:solidFill>
            <a:schemeClr val="bg2"/>
          </a:solidFill>
          <a:ln w="6350">
            <a:solidFill>
              <a:schemeClr val="bg2"/>
            </a:solidFill>
            <a:prstDash val="solid"/>
          </a:ln>
        </p:spPr>
      </p:sp>
      <p:sp>
        <p:nvSpPr>
          <p:cNvPr id="18" name="Text 16"/>
          <p:cNvSpPr txBox="1"/>
          <p:nvPr/>
        </p:nvSpPr>
        <p:spPr>
          <a:xfrm>
            <a:off x="9258071" y="2103120"/>
            <a:ext cx="2202104" cy="731520"/>
          </a:xfrm>
          <a:prstGeom prst="rect">
            <a:avLst/>
          </a:prstGeom>
          <a:noFill/>
          <a:ln/>
        </p:spPr>
        <p:txBody>
          <a:bodyPr wrap="square" lIns="0" tIns="0" rIns="0" bIns="0" rtlCol="0" anchor="ctr"/>
          <a:lstStyle/>
          <a:p>
            <a:pPr indent="0" marL="0">
              <a:spcAft>
                <a:spcPts val="400"/>
              </a:spcAft>
              <a:buNone/>
            </a:pPr>
            <a:r>
              <a:rPr lang="en-US" sz="4000" b="1" dirty="0">
                <a:solidFill>
                  <a:schemeClr val="accent1"/>
                </a:solidFill>
              </a:rPr>
              <a:t>0</a:t>
            </a:r>
            <a:endParaRPr lang="en-US" sz="4000" dirty="0"/>
          </a:p>
        </p:txBody>
      </p:sp>
      <p:sp>
        <p:nvSpPr>
          <p:cNvPr id="19" name="Text 17"/>
          <p:cNvSpPr txBox="1"/>
          <p:nvPr/>
        </p:nvSpPr>
        <p:spPr>
          <a:xfrm>
            <a:off x="9258071" y="2880360"/>
            <a:ext cx="2202104"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вызовов ИИ-модели в показе: работает без неё</a:t>
            </a:r>
            <a:endParaRPr lang="en-US" sz="1300" dirty="0"/>
          </a:p>
        </p:txBody>
      </p:sp>
      <p:sp>
        <p:nvSpPr>
          <p:cNvPr id="20" name="Text 18"/>
          <p:cNvSpPr txBox="1"/>
          <p:nvPr/>
        </p:nvSpPr>
        <p:spPr>
          <a:xfrm>
            <a:off x="9258071" y="3675888"/>
            <a:ext cx="2202104" cy="274320"/>
          </a:xfrm>
          <a:prstGeom prst="rect">
            <a:avLst/>
          </a:prstGeom>
          <a:noFill/>
          <a:ln/>
        </p:spPr>
        <p:txBody>
          <a:bodyPr wrap="square" lIns="0" tIns="0" rIns="0" bIns="0" rtlCol="0" anchor="t"/>
          <a:lstStyle/>
          <a:p>
            <a:pPr indent="0" marL="0">
              <a:buNone/>
            </a:pPr>
            <a:r>
              <a:rPr lang="en-US" sz="1100" dirty="0">
                <a:solidFill>
                  <a:schemeClr val="accent5"/>
                </a:solidFill>
              </a:rPr>
              <a:t>ВМ</a:t>
            </a:r>
            <a:endParaRPr lang="en-US" sz="1100" dirty="0"/>
          </a:p>
        </p:txBody>
      </p:sp>
      <p:sp>
        <p:nvSpPr>
          <p:cNvPr id="21" name="Text 19"/>
          <p:cNvSpPr txBox="1"/>
          <p:nvPr/>
        </p:nvSpPr>
        <p:spPr>
          <a:xfrm>
            <a:off x="548640" y="4251960"/>
            <a:ext cx="5410048" cy="32004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Неизвестное не выдаётся за неизменное</a:t>
            </a:r>
            <a:endParaRPr lang="en-US" sz="1700" dirty="0"/>
          </a:p>
        </p:txBody>
      </p:sp>
      <p:sp>
        <p:nvSpPr>
          <p:cNvPr id="22" name="Text 20"/>
          <p:cNvSpPr txBox="1"/>
          <p:nvPr/>
        </p:nvSpPr>
        <p:spPr>
          <a:xfrm>
            <a:off x="548640" y="4617720"/>
            <a:ext cx="5410048" cy="1005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Если инструмент не распознал новое значение по умолчанию, он ставит "перепроверить у каждого потребителя", а не молчит. Ошибку нашёл аудит, исправление в основной ветке с регрессионными тестами.</a:t>
            </a:r>
            <a:endParaRPr lang="en-US" sz="1400" dirty="0"/>
          </a:p>
        </p:txBody>
      </p:sp>
      <p:sp>
        <p:nvSpPr>
          <p:cNvPr id="23" name="Text 21"/>
          <p:cNvSpPr txBox="1"/>
          <p:nvPr/>
        </p:nvSpPr>
        <p:spPr>
          <a:xfrm>
            <a:off x="6233008" y="4251960"/>
            <a:ext cx="5410048" cy="32004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Сила вывода не смешивается</a:t>
            </a:r>
            <a:endParaRPr lang="en-US" sz="1700" dirty="0"/>
          </a:p>
        </p:txBody>
      </p:sp>
      <p:sp>
        <p:nvSpPr>
          <p:cNvPr id="24" name="Text 22"/>
          <p:cNvSpPr txBox="1"/>
          <p:nvPr/>
        </p:nvSpPr>
        <p:spPr>
          <a:xfrm>
            <a:off x="6233008" y="4617720"/>
            <a:ext cx="5410048" cy="1005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Находка в коде это условный прогноз. Отсутствие находок не значит "совместимо". Предложение модели не становится связью. Эти статусы разделены в коде и в интерфейсе.</a:t>
            </a:r>
            <a:endParaRPr lang="en-US" sz="1400" dirty="0"/>
          </a:p>
        </p:txBody>
      </p:sp>
      <p:sp>
        <p:nvSpPr>
          <p:cNvPr id="25" name="warn"/>
          <p:cNvSpPr/>
          <p:nvPr/>
        </p:nvSpPr>
        <p:spPr>
          <a:xfrm>
            <a:off x="548640" y="5687568"/>
            <a:ext cx="11094415" cy="457200"/>
          </a:xfrm>
          <a:prstGeom prst="roundRect">
            <a:avLst>
              <a:gd name="adj" fmla="val 20000"/>
            </a:avLst>
          </a:prstGeom>
          <a:solidFill>
            <a:schemeClr val="accent2">
              <a:alpha val="12000"/>
            </a:schemeClr>
          </a:solidFill>
          <a:ln w="6350">
            <a:solidFill>
              <a:schemeClr val="bg2"/>
            </a:solidFill>
            <a:prstDash val="solid"/>
          </a:ln>
        </p:spPr>
      </p:sp>
      <p:sp>
        <p:nvSpPr>
          <p:cNvPr id="26" name="Text 24"/>
          <p:cNvSpPr txBox="1"/>
          <p:nvPr/>
        </p:nvSpPr>
        <p:spPr>
          <a:xfrm>
            <a:off x="731520" y="5733288"/>
            <a:ext cx="10728655" cy="365760"/>
          </a:xfrm>
          <a:prstGeom prst="rect">
            <a:avLst/>
          </a:prstGeom>
          <a:noFill/>
          <a:ln/>
        </p:spPr>
        <p:txBody>
          <a:bodyPr wrap="square" lIns="0" tIns="0" rIns="0" bIns="0" rtlCol="0" anchor="ctr"/>
          <a:lstStyle/>
          <a:p>
            <a:pPr indent="0" marL="0">
              <a:spcAft>
                <a:spcPts val="400"/>
              </a:spcAft>
              <a:buNone/>
            </a:pPr>
            <a:r>
              <a:rPr lang="en-US" sz="1400" b="1" dirty="0">
                <a:solidFill>
                  <a:schemeClr val="accent2"/>
                </a:solidFill>
              </a:rPr>
              <a:t>На коде клиента инструмент ещё не запускался. Качество находок на реальном коде не измерено: это первая задача пилота.</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ИИ-модель в пилоте выключена: в эксперименте она лишь повторяла уже найденные связи</a:t>
            </a:r>
            <a:endParaRPr lang="en-US" sz="2800" dirty="0"/>
          </a:p>
        </p:txBody>
      </p:sp>
      <p:sp>
        <p:nvSpPr>
          <p:cNvPr id="3" name="chip-ok"/>
          <p:cNvSpPr/>
          <p:nvPr/>
        </p:nvSpPr>
        <p:spPr>
          <a:xfrm>
            <a:off x="548640" y="1463040"/>
            <a:ext cx="5268773" cy="274320"/>
          </a:xfrm>
          <a:prstGeom prst="roundRect">
            <a:avLst>
              <a:gd name="adj" fmla="val 26667"/>
            </a:avLst>
          </a:prstGeom>
          <a:solidFill>
            <a:schemeClr val="accent1">
              <a:alpha val="14000"/>
            </a:schemeClr>
          </a:solidFill>
          <a:ln w="9525">
            <a:solidFill>
              <a:schemeClr val="accent1"/>
            </a:solidFill>
            <a:prstDash val="solid"/>
          </a:ln>
        </p:spPr>
      </p:sp>
      <p:sp>
        <p:nvSpPr>
          <p:cNvPr id="4" name="Text 2"/>
          <p:cNvSpPr txBox="1"/>
          <p:nvPr/>
        </p:nvSpPr>
        <p:spPr>
          <a:xfrm>
            <a:off x="548640" y="1463040"/>
            <a:ext cx="5268773" cy="274320"/>
          </a:xfrm>
          <a:prstGeom prst="rect">
            <a:avLst/>
          </a:prstGeom>
          <a:noFill/>
          <a:ln/>
        </p:spPr>
        <p:txBody>
          <a:bodyPr wrap="square" lIns="0" tIns="0" rIns="0" bIns="0" rtlCol="0" anchor="ctr"/>
          <a:lstStyle/>
          <a:p>
            <a:pPr algn="ctr" indent="0" marL="0">
              <a:buNone/>
            </a:pPr>
            <a:r>
              <a:rPr lang="en-US" sz="1050" b="1" spc="50" kern="0" dirty="0">
                <a:solidFill>
                  <a:schemeClr val="accent1"/>
                </a:solidFill>
              </a:rPr>
              <a:t>ПОДТВЕРЖДЕНО · серия 22.10.2026, Cloud.ru, 6 синтетических случаев</a:t>
            </a:r>
            <a:endParaRPr lang="en-US" sz="1050" dirty="0"/>
          </a:p>
        </p:txBody>
      </p:sp>
      <p:graphicFrame>
        <p:nvGraphicFramePr>
          <p:cNvPr id="5" name="chart-models" descr=""/>
          <p:cNvGraphicFramePr/>
          <p:nvPr/>
        </p:nvGraphicFramePr>
        <p:xfrm>
          <a:off x="548640" y="1920240"/>
          <a:ext cx="512064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983480"/>
            <a:ext cx="5120640" cy="548640"/>
          </a:xfrm>
          <a:prstGeom prst="rect">
            <a:avLst/>
          </a:prstGeom>
          <a:noFill/>
          <a:ln/>
        </p:spPr>
        <p:txBody>
          <a:bodyPr wrap="square" lIns="0" tIns="0" rIns="0" bIns="0" rtlCol="0" anchor="t"/>
          <a:lstStyle/>
          <a:p>
            <a:pPr indent="0" marL="0">
              <a:buNone/>
            </a:pPr>
            <a:r>
              <a:rPr lang="en-US" sz="1100" dirty="0">
                <a:solidFill>
                  <a:schemeClr val="accent5"/>
                </a:solidFill>
              </a:rPr>
              <a:t>Контроль с ложной подсказкой (decoy) не завершила ни одна модель: оба таких случая остановились до проверки по существу.</a:t>
            </a:r>
            <a:endParaRPr lang="en-US" sz="1100" dirty="0"/>
          </a:p>
        </p:txBody>
      </p:sp>
      <p:sp>
        <p:nvSpPr>
          <p:cNvPr id="7" name="Text 4"/>
          <p:cNvSpPr txBox="1"/>
          <p:nvPr/>
        </p:nvSpPr>
        <p:spPr>
          <a:xfrm>
            <a:off x="6126480" y="1965960"/>
            <a:ext cx="2103120" cy="822960"/>
          </a:xfrm>
          <a:prstGeom prst="rect">
            <a:avLst/>
          </a:prstGeom>
          <a:noFill/>
          <a:ln/>
        </p:spPr>
        <p:txBody>
          <a:bodyPr wrap="square" lIns="0" tIns="0" rIns="0" bIns="0" rtlCol="0" anchor="t"/>
          <a:lstStyle/>
          <a:p>
            <a:pPr indent="0" marL="0">
              <a:spcAft>
                <a:spcPts val="400"/>
              </a:spcAft>
              <a:buNone/>
            </a:pPr>
            <a:r>
              <a:rPr lang="en-US" sz="2400" b="1" dirty="0">
                <a:solidFill>
                  <a:schemeClr val="accent1"/>
                </a:solidFill>
              </a:rPr>
              <a:t>2 из 6</a:t>
            </a:r>
            <a:endParaRPr lang="en-US" sz="2400" dirty="0"/>
          </a:p>
        </p:txBody>
      </p:sp>
      <p:sp>
        <p:nvSpPr>
          <p:cNvPr id="8" name="Text 5"/>
          <p:cNvSpPr txBox="1"/>
          <p:nvPr/>
        </p:nvSpPr>
        <p:spPr>
          <a:xfrm>
            <a:off x="8321040" y="2011680"/>
            <a:ext cx="33220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сочетаний модели и случая прошли полный цикл</a:t>
            </a:r>
            <a:endParaRPr lang="en-US" sz="1400" dirty="0"/>
          </a:p>
        </p:txBody>
      </p:sp>
      <p:sp>
        <p:nvSpPr>
          <p:cNvPr id="9" name="Text 6"/>
          <p:cNvSpPr txBox="1"/>
          <p:nvPr/>
        </p:nvSpPr>
        <p:spPr>
          <a:xfrm>
            <a:off x="6126480" y="3044952"/>
            <a:ext cx="2103120" cy="822960"/>
          </a:xfrm>
          <a:prstGeom prst="rect">
            <a:avLst/>
          </a:prstGeom>
          <a:noFill/>
          <a:ln/>
        </p:spPr>
        <p:txBody>
          <a:bodyPr wrap="square" lIns="0" tIns="0" rIns="0" bIns="0" rtlCol="0" anchor="t"/>
          <a:lstStyle/>
          <a:p>
            <a:pPr indent="0" marL="0">
              <a:spcAft>
                <a:spcPts val="400"/>
              </a:spcAft>
              <a:buNone/>
            </a:pPr>
            <a:r>
              <a:rPr lang="en-US" sz="2400" b="1" dirty="0">
                <a:solidFill>
                  <a:schemeClr val="accent1"/>
                </a:solidFill>
              </a:rPr>
              <a:t>0 новых связей</a:t>
            </a:r>
            <a:endParaRPr lang="en-US" sz="2400" dirty="0"/>
          </a:p>
        </p:txBody>
      </p:sp>
      <p:sp>
        <p:nvSpPr>
          <p:cNvPr id="10" name="Text 7"/>
          <p:cNvSpPr txBox="1"/>
          <p:nvPr/>
        </p:nvSpPr>
        <p:spPr>
          <a:xfrm>
            <a:off x="8321040" y="3090672"/>
            <a:ext cx="33220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принятый кандидат по устройству протокола совпадает со связью, которую уже нашёл статический анализ</a:t>
            </a:r>
            <a:endParaRPr lang="en-US" sz="1400" dirty="0"/>
          </a:p>
        </p:txBody>
      </p:sp>
      <p:sp>
        <p:nvSpPr>
          <p:cNvPr id="11" name="Text 8"/>
          <p:cNvSpPr txBox="1"/>
          <p:nvPr/>
        </p:nvSpPr>
        <p:spPr>
          <a:xfrm>
            <a:off x="6126480" y="4123944"/>
            <a:ext cx="2103120" cy="822960"/>
          </a:xfrm>
          <a:prstGeom prst="rect">
            <a:avLst/>
          </a:prstGeom>
          <a:noFill/>
          <a:ln/>
        </p:spPr>
        <p:txBody>
          <a:bodyPr wrap="square" lIns="0" tIns="0" rIns="0" bIns="0" rtlCol="0" anchor="t"/>
          <a:lstStyle/>
          <a:p>
            <a:pPr indent="0" marL="0">
              <a:spcAft>
                <a:spcPts val="400"/>
              </a:spcAft>
              <a:buNone/>
            </a:pPr>
            <a:r>
              <a:rPr lang="en-US" sz="2400" b="1" dirty="0">
                <a:solidFill>
                  <a:schemeClr val="accent1"/>
                </a:solidFill>
              </a:rPr>
              <a:t>нет прокси</a:t>
            </a:r>
            <a:endParaRPr lang="en-US" sz="2400" dirty="0"/>
          </a:p>
        </p:txBody>
      </p:sp>
      <p:sp>
        <p:nvSpPr>
          <p:cNvPr id="12" name="Text 9"/>
          <p:cNvSpPr txBox="1"/>
          <p:nvPr/>
        </p:nvSpPr>
        <p:spPr>
          <a:xfrm>
            <a:off x="8321040" y="4169664"/>
            <a:ext cx="3322015"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клиент модели не работает через корпоративный прокси и собственные сертификаты</a:t>
            </a:r>
            <a:endParaRPr lang="en-US" sz="1400" dirty="0"/>
          </a:p>
        </p:txBody>
      </p:sp>
      <p:sp>
        <p:nvSpPr>
          <p:cNvPr id="13" name="decision"/>
          <p:cNvSpPr/>
          <p:nvPr/>
        </p:nvSpPr>
        <p:spPr>
          <a:xfrm>
            <a:off x="6126480" y="5303520"/>
            <a:ext cx="5516575" cy="777240"/>
          </a:xfrm>
          <a:prstGeom prst="roundRect">
            <a:avLst>
              <a:gd name="adj" fmla="val 11765"/>
            </a:avLst>
          </a:prstGeom>
          <a:solidFill>
            <a:schemeClr val="bg2"/>
          </a:solidFill>
          <a:ln w="6350">
            <a:solidFill>
              <a:schemeClr val="bg2"/>
            </a:solidFill>
            <a:prstDash val="solid"/>
          </a:ln>
        </p:spPr>
      </p:sp>
      <p:sp>
        <p:nvSpPr>
          <p:cNvPr id="14" name="chip-plan"/>
          <p:cNvSpPr/>
          <p:nvPr/>
        </p:nvSpPr>
        <p:spPr>
          <a:xfrm>
            <a:off x="6309360" y="5394960"/>
            <a:ext cx="685800" cy="274320"/>
          </a:xfrm>
          <a:prstGeom prst="roundRect">
            <a:avLst>
              <a:gd name="adj" fmla="val 26667"/>
            </a:avLst>
          </a:prstGeom>
          <a:solidFill>
            <a:schemeClr val="accent3">
              <a:alpha val="14000"/>
            </a:schemeClr>
          </a:solidFill>
          <a:ln w="9525">
            <a:solidFill>
              <a:schemeClr val="accent3"/>
            </a:solidFill>
            <a:prstDash val="solid"/>
          </a:ln>
        </p:spPr>
      </p:sp>
      <p:sp>
        <p:nvSpPr>
          <p:cNvPr id="15" name="Text 12"/>
          <p:cNvSpPr txBox="1"/>
          <p:nvPr/>
        </p:nvSpPr>
        <p:spPr>
          <a:xfrm>
            <a:off x="6309360" y="5394960"/>
            <a:ext cx="685800"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a:t>
            </a:r>
            <a:endParaRPr lang="en-US" sz="1050" dirty="0"/>
          </a:p>
        </p:txBody>
      </p:sp>
      <p:sp>
        <p:nvSpPr>
          <p:cNvPr id="16" name="Text 13"/>
          <p:cNvSpPr txBox="1"/>
          <p:nvPr/>
        </p:nvSpPr>
        <p:spPr>
          <a:xfrm>
            <a:off x="6309360" y="5715000"/>
            <a:ext cx="5150815" cy="3200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В пилоте ваш код не уходит ни в какую модель.</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Сегодня инструмент понимает узкий срез кода, и на реальных репозиториях его качество не измеряли</a:t>
            </a:r>
            <a:endParaRPr lang="en-US" sz="2800" dirty="0"/>
          </a:p>
        </p:txBody>
      </p:sp>
      <p:sp>
        <p:nvSpPr>
          <p:cNvPr id="3" name="chip-ok"/>
          <p:cNvSpPr/>
          <p:nvPr/>
        </p:nvSpPr>
        <p:spPr>
          <a:xfrm>
            <a:off x="548640" y="1463040"/>
            <a:ext cx="4127602" cy="274320"/>
          </a:xfrm>
          <a:prstGeom prst="roundRect">
            <a:avLst>
              <a:gd name="adj" fmla="val 26667"/>
            </a:avLst>
          </a:prstGeom>
          <a:solidFill>
            <a:schemeClr val="accent1">
              <a:alpha val="14000"/>
            </a:schemeClr>
          </a:solidFill>
          <a:ln w="9525">
            <a:solidFill>
              <a:schemeClr val="accent1"/>
            </a:solidFill>
            <a:prstDash val="solid"/>
          </a:ln>
        </p:spPr>
      </p:sp>
      <p:sp>
        <p:nvSpPr>
          <p:cNvPr id="4" name="Text 2"/>
          <p:cNvSpPr txBox="1"/>
          <p:nvPr/>
        </p:nvSpPr>
        <p:spPr>
          <a:xfrm>
            <a:off x="548640" y="1463040"/>
            <a:ext cx="4127602" cy="274320"/>
          </a:xfrm>
          <a:prstGeom prst="rect">
            <a:avLst/>
          </a:prstGeom>
          <a:noFill/>
          <a:ln/>
        </p:spPr>
        <p:txBody>
          <a:bodyPr wrap="square" lIns="0" tIns="0" rIns="0" bIns="0" rtlCol="0" anchor="ctr"/>
          <a:lstStyle/>
          <a:p>
            <a:pPr algn="ctr" indent="0" marL="0">
              <a:buNone/>
            </a:pPr>
            <a:r>
              <a:rPr lang="en-US" sz="1050" b="1" spc="50" kern="0" dirty="0">
                <a:solidFill>
                  <a:schemeClr val="accent1"/>
                </a:solidFill>
              </a:rPr>
              <a:t>ПОДТВЕРЖДЕНО · границы проверены по коду и замерам</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914400"/>
        </p:xfrm>
        <a:graphic>
          <a:graphicData uri="http://schemas.openxmlformats.org/drawingml/2006/table">
            <a:tbl>
              <a:tblPr/>
              <a:tblGrid>
                <a:gridCol w="1280160"/>
                <a:gridCol w="2743200"/>
                <a:gridCol w="2926080"/>
              </a:tblGrid>
              <a:tr h="347472">
                <a:tc>
                  <a:txBody>
                    <a:bodyPr/>
                    <a:lstStyle/>
                    <a:p>
                      <a:pPr indent="0" marL="0">
                        <a:buNone/>
                      </a:pP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Распознаёт</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Не распознаёт, ставит пробел</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868680">
                <a:tc>
                  <a:txBody>
                    <a:bodyPr/>
                    <a:lstStyle/>
                    <a:p>
                      <a:pPr indent="0" marL="0">
                        <a:buNone/>
                      </a:pPr>
                      <a:r>
                        <a:rPr lang="en-US" sz="1300" b="1" dirty="0">
                          <a:solidFill>
                            <a:schemeClr val="tx1"/>
                          </a:solidFill>
                        </a:rPr>
                        <a:t>Потребитель</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Python requests.get/post/... и requests.request; адрес строкой или константой того же файла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f-строки, адрес из переменных окружения и настроек, Session, httpx, обёртки, SDK, другие языки</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Поставщик</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FastAPI-декораторы, OpenAPI JSON</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OpenAPI YAML, другие фреймворки, схемы ответа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Изменение</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Удаление операции; смена размера страницы по умолчанию</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Любое другое изменение операции сегодня даёт тишину</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Среда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Linux или WSL2, корпус до 20 МБ</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Windows без WSL</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r>
            </a:tbl>
          </a:graphicData>
        </a:graphic>
      </p:graphicFrame>
      <p:sp>
        <p:nvSpPr>
          <p:cNvPr id="6" name="plan-card"/>
          <p:cNvSpPr/>
          <p:nvPr/>
        </p:nvSpPr>
        <p:spPr>
          <a:xfrm>
            <a:off x="548640" y="5074920"/>
            <a:ext cx="6949440" cy="1051560"/>
          </a:xfrm>
          <a:prstGeom prst="roundRect">
            <a:avLst>
              <a:gd name="adj" fmla="val 8696"/>
            </a:avLst>
          </a:prstGeom>
          <a:solidFill>
            <a:schemeClr val="accent3">
              <a:alpha val="10000"/>
            </a:schemeClr>
          </a:solidFill>
          <a:ln w="6350">
            <a:solidFill>
              <a:schemeClr val="bg2"/>
            </a:solidFill>
            <a:prstDash val="solid"/>
          </a:ln>
        </p:spPr>
      </p:sp>
      <p:sp>
        <p:nvSpPr>
          <p:cNvPr id="7" name="chip-plan"/>
          <p:cNvSpPr/>
          <p:nvPr/>
        </p:nvSpPr>
        <p:spPr>
          <a:xfrm>
            <a:off x="731520" y="5166360"/>
            <a:ext cx="2040941" cy="274320"/>
          </a:xfrm>
          <a:prstGeom prst="roundRect">
            <a:avLst>
              <a:gd name="adj" fmla="val 26667"/>
            </a:avLst>
          </a:prstGeom>
          <a:solidFill>
            <a:schemeClr val="accent3">
              <a:alpha val="14000"/>
            </a:schemeClr>
          </a:solidFill>
          <a:ln w="9525">
            <a:solidFill>
              <a:schemeClr val="accent3"/>
            </a:solidFill>
            <a:prstDash val="solid"/>
          </a:ln>
        </p:spPr>
      </p:sp>
      <p:sp>
        <p:nvSpPr>
          <p:cNvPr id="8" name="Text 5"/>
          <p:cNvSpPr txBox="1"/>
          <p:nvPr/>
        </p:nvSpPr>
        <p:spPr>
          <a:xfrm>
            <a:off x="731520" y="5166360"/>
            <a:ext cx="2040941"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 · до старта пилота</a:t>
            </a:r>
            <a:endParaRPr lang="en-US" sz="1050" dirty="0"/>
          </a:p>
        </p:txBody>
      </p:sp>
      <p:sp>
        <p:nvSpPr>
          <p:cNvPr id="9" name="Text 6"/>
          <p:cNvSpPr txBox="1"/>
          <p:nvPr/>
        </p:nvSpPr>
        <p:spPr>
          <a:xfrm>
            <a:off x="731520" y="5486400"/>
            <a:ext cx="6583680" cy="621792"/>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Любое изменение операции даст "перепроверить у каждого потребителя". Шум пробелов сократим. Новые формы вызова, не больше двух, добавим только если их покажет проба на вашем коде.</a:t>
            </a:r>
            <a:endParaRPr lang="en-US" sz="1300" dirty="0"/>
          </a:p>
        </p:txBody>
      </p:sp>
      <p:sp>
        <p:nvSpPr>
          <p:cNvPr id="10" name="fact"/>
          <p:cNvSpPr/>
          <p:nvPr/>
        </p:nvSpPr>
        <p:spPr>
          <a:xfrm>
            <a:off x="7818120" y="1920240"/>
            <a:ext cx="3824935" cy="1261872"/>
          </a:xfrm>
          <a:prstGeom prst="roundRect">
            <a:avLst>
              <a:gd name="adj" fmla="val 7246"/>
            </a:avLst>
          </a:prstGeom>
          <a:solidFill>
            <a:schemeClr val="bg2"/>
          </a:solidFill>
          <a:ln w="6350">
            <a:solidFill>
              <a:schemeClr val="bg2"/>
            </a:solidFill>
            <a:prstDash val="solid"/>
          </a:ln>
        </p:spPr>
      </p:sp>
      <p:sp>
        <p:nvSpPr>
          <p:cNvPr id="11" name="Text 8"/>
          <p:cNvSpPr txBox="1"/>
          <p:nvPr/>
        </p:nvSpPr>
        <p:spPr>
          <a:xfrm>
            <a:off x="8001000" y="2029968"/>
            <a:ext cx="3459175" cy="411480"/>
          </a:xfrm>
          <a:prstGeom prst="rect">
            <a:avLst/>
          </a:prstGeom>
          <a:noFill/>
          <a:ln/>
        </p:spPr>
        <p:txBody>
          <a:bodyPr wrap="square" lIns="0" tIns="0" rIns="0" bIns="0" rtlCol="0" anchor="t"/>
          <a:lstStyle/>
          <a:p>
            <a:pPr indent="0" marL="0">
              <a:spcAft>
                <a:spcPts val="400"/>
              </a:spcAft>
              <a:buNone/>
            </a:pPr>
            <a:r>
              <a:rPr lang="en-US" sz="2200" b="1" dirty="0">
                <a:solidFill>
                  <a:schemeClr val="accent4"/>
                </a:solidFill>
              </a:rPr>
              <a:t>0 связей</a:t>
            </a:r>
            <a:endParaRPr lang="en-US" sz="2200" dirty="0"/>
          </a:p>
        </p:txBody>
      </p:sp>
      <p:sp>
        <p:nvSpPr>
          <p:cNvPr id="12" name="Text 9"/>
          <p:cNvSpPr txBox="1"/>
          <p:nvPr/>
        </p:nvSpPr>
        <p:spPr>
          <a:xfrm>
            <a:off x="8001000" y="2450592"/>
            <a:ext cx="3459175" cy="71323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на реальных репозиториях: адреса не совпадали с кодом. Качество находок на реальном коде не измерялось ни разу</a:t>
            </a:r>
            <a:endParaRPr lang="en-US" sz="1250" dirty="0"/>
          </a:p>
        </p:txBody>
      </p:sp>
      <p:sp>
        <p:nvSpPr>
          <p:cNvPr id="13" name="fact"/>
          <p:cNvSpPr/>
          <p:nvPr/>
        </p:nvSpPr>
        <p:spPr>
          <a:xfrm>
            <a:off x="7818120" y="3337560"/>
            <a:ext cx="3824935" cy="1261872"/>
          </a:xfrm>
          <a:prstGeom prst="roundRect">
            <a:avLst>
              <a:gd name="adj" fmla="val 7246"/>
            </a:avLst>
          </a:prstGeom>
          <a:solidFill>
            <a:schemeClr val="bg2"/>
          </a:solidFill>
          <a:ln w="6350">
            <a:solidFill>
              <a:schemeClr val="bg2"/>
            </a:solidFill>
            <a:prstDash val="solid"/>
          </a:ln>
        </p:spPr>
      </p:sp>
      <p:sp>
        <p:nvSpPr>
          <p:cNvPr id="14" name="Text 11"/>
          <p:cNvSpPr txBox="1"/>
          <p:nvPr/>
        </p:nvSpPr>
        <p:spPr>
          <a:xfrm>
            <a:off x="8001000" y="3447288"/>
            <a:ext cx="3459175" cy="411480"/>
          </a:xfrm>
          <a:prstGeom prst="rect">
            <a:avLst/>
          </a:prstGeom>
          <a:noFill/>
          <a:ln/>
        </p:spPr>
        <p:txBody>
          <a:bodyPr wrap="square" lIns="0" tIns="0" rIns="0" bIns="0" rtlCol="0" anchor="t"/>
          <a:lstStyle/>
          <a:p>
            <a:pPr indent="0" marL="0">
              <a:spcAft>
                <a:spcPts val="400"/>
              </a:spcAft>
              <a:buNone/>
            </a:pPr>
            <a:r>
              <a:rPr lang="en-US" sz="2200" b="1" dirty="0">
                <a:solidFill>
                  <a:schemeClr val="accent4"/>
                </a:solidFill>
              </a:rPr>
              <a:t>3120 из 3181</a:t>
            </a:r>
            <a:endParaRPr lang="en-US" sz="2200" dirty="0"/>
          </a:p>
        </p:txBody>
      </p:sp>
      <p:sp>
        <p:nvSpPr>
          <p:cNvPr id="15" name="Text 12"/>
          <p:cNvSpPr txBox="1"/>
          <p:nvPr/>
        </p:nvSpPr>
        <p:spPr>
          <a:xfrm>
            <a:off x="8001000" y="3867912"/>
            <a:ext cx="3459175" cy="71323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пробелов в репозитории fastapi это шум, а не настоящие неразобранные вызовы</a:t>
            </a:r>
            <a:endParaRPr lang="en-US" sz="1250" dirty="0"/>
          </a:p>
        </p:txBody>
      </p:sp>
      <p:sp>
        <p:nvSpPr>
          <p:cNvPr id="16" name="fact"/>
          <p:cNvSpPr/>
          <p:nvPr/>
        </p:nvSpPr>
        <p:spPr>
          <a:xfrm>
            <a:off x="7818120" y="4754880"/>
            <a:ext cx="3824935" cy="1261872"/>
          </a:xfrm>
          <a:prstGeom prst="roundRect">
            <a:avLst>
              <a:gd name="adj" fmla="val 7246"/>
            </a:avLst>
          </a:prstGeom>
          <a:solidFill>
            <a:schemeClr val="bg2"/>
          </a:solidFill>
          <a:ln w="6350">
            <a:solidFill>
              <a:schemeClr val="bg2"/>
            </a:solidFill>
            <a:prstDash val="solid"/>
          </a:ln>
        </p:spPr>
      </p:sp>
      <p:sp>
        <p:nvSpPr>
          <p:cNvPr id="17" name="Text 14"/>
          <p:cNvSpPr txBox="1"/>
          <p:nvPr/>
        </p:nvSpPr>
        <p:spPr>
          <a:xfrm>
            <a:off x="8001000" y="4864608"/>
            <a:ext cx="3459175" cy="411480"/>
          </a:xfrm>
          <a:prstGeom prst="rect">
            <a:avLst/>
          </a:prstGeom>
          <a:noFill/>
          <a:ln/>
        </p:spPr>
        <p:txBody>
          <a:bodyPr wrap="square" lIns="0" tIns="0" rIns="0" bIns="0" rtlCol="0" anchor="t"/>
          <a:lstStyle/>
          <a:p>
            <a:pPr indent="0" marL="0">
              <a:spcAft>
                <a:spcPts val="400"/>
              </a:spcAft>
              <a:buNone/>
            </a:pPr>
            <a:r>
              <a:rPr lang="en-US" sz="2200" b="1" dirty="0">
                <a:solidFill>
                  <a:schemeClr val="accent4"/>
                </a:solidFill>
              </a:rPr>
              <a:t>не проверен</a:t>
            </a:r>
            <a:endParaRPr lang="en-US" sz="2200" dirty="0"/>
          </a:p>
        </p:txBody>
      </p:sp>
      <p:sp>
        <p:nvSpPr>
          <p:cNvPr id="18" name="Text 15"/>
          <p:cNvSpPr txBox="1"/>
          <p:nvPr/>
        </p:nvSpPr>
        <p:spPr>
          <a:xfrm>
            <a:off x="8001000" y="5285232"/>
            <a:ext cx="3459175" cy="713232"/>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интерфейс на пользователях; по экспертной оценке он трудный. В пилоте вместо него отчёт в PR</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Coding agent ищет шире нас; наш ответ можно проверить и повторить, и пилот покажет, важно ли это вам</a:t>
            </a:r>
            <a:endParaRPr lang="en-US" sz="2800" dirty="0"/>
          </a:p>
        </p:txBody>
      </p:sp>
      <p:sp>
        <p:nvSpPr>
          <p:cNvPr id="3" name="chip-hyp"/>
          <p:cNvSpPr/>
          <p:nvPr/>
        </p:nvSpPr>
        <p:spPr>
          <a:xfrm>
            <a:off x="548640" y="1463040"/>
            <a:ext cx="5259629"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5259629"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ГИПОТЕЗА · преимущество над агентом не доказано: это предмет пилота</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743200"/>
                <a:gridCol w="2651760"/>
                <a:gridCol w="2651760"/>
                <a:gridCol w="3044952"/>
              </a:tblGrid>
              <a:tr h="411480">
                <a:tc>
                  <a:txBody>
                    <a:bodyPr/>
                    <a:lstStyle/>
                    <a:p>
                      <a:pPr indent="0" marL="0">
                        <a:buNone/>
                      </a:pPr>
                      <a:endParaRPr lang="en-US" sz="12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Поиск, чат, память, wiki</a:t>
                      </a:r>
                      <a:endParaRPr lang="en-US" sz="14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algn="ctr" indent="0" marL="0">
                        <a:buNone/>
                      </a:pPr>
                      <a:r>
                        <a:rPr lang="en-US" sz="1400" b="1" dirty="0">
                          <a:solidFill>
                            <a:schemeClr val="bg1"/>
                          </a:solidFill>
                        </a:rPr>
                        <a:t>Coding agent</a:t>
                      </a:r>
                      <a:endParaRPr lang="en-US" sz="14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algn="ctr" indent="0" marL="0">
                        <a:buNone/>
                      </a:pPr>
                      <a:r>
                        <a:rPr lang="en-US" sz="1400" b="1" dirty="0">
                          <a:solidFill>
                            <a:schemeClr val="bg1"/>
                          </a:solidFill>
                        </a:rPr>
                        <a:t>Модуль и наш инженер</a:t>
                      </a:r>
                      <a:endParaRPr lang="en-US" sz="14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548640">
                <a:tc>
                  <a:txBody>
                    <a:bodyPr/>
                    <a:lstStyle/>
                    <a:p>
                      <a:pPr algn="l" indent="0" marL="0">
                        <a:buNone/>
                      </a:pPr>
                      <a:r>
                        <a:rPr lang="en-US" sz="1300" b="1" dirty="0">
                          <a:solidFill>
                            <a:schemeClr val="tx1"/>
                          </a:solidFill>
                        </a:rPr>
                        <a:t>Охват стеков</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1"/>
                          </a:solidFill>
                        </a:rPr>
                        <a:t>Любой текст</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1"/>
                          </a:solidFill>
                        </a:rPr>
                        <a:t>Любой стек</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Python requests к FastAPI или OpenAPI</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640080">
                <a:tc>
                  <a:txBody>
                    <a:bodyPr/>
                    <a:lstStyle/>
                    <a:p>
                      <a:pPr algn="l" indent="0" marL="0">
                        <a:buNone/>
                      </a:pPr>
                      <a:r>
                        <a:rPr lang="en-US" sz="1300" b="1" dirty="0">
                          <a:solidFill>
                            <a:schemeClr val="tx1"/>
                          </a:solidFill>
                        </a:rPr>
                        <a:t>Основание, которое проверит ревьюер</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Нет</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Объяснение, повторить трудно</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1"/>
                          </a:solidFill>
                        </a:rPr>
                        <a:t>Файл, строки, SHA-256; коммит до старта</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548640">
                <a:tc>
                  <a:txBody>
                    <a:bodyPr/>
                    <a:lstStyle/>
                    <a:p>
                      <a:pPr algn="l" indent="0" marL="0">
                        <a:buNone/>
                      </a:pPr>
                      <a:r>
                        <a:rPr lang="en-US" sz="1300" b="1" dirty="0">
                          <a:solidFill>
                            <a:schemeClr val="tx1"/>
                          </a:solidFill>
                        </a:rPr>
                        <a:t>Что значит "не найдено"</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Ничем не ограничено</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Ничем не ограничено</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1"/>
                          </a:solidFill>
                        </a:rPr>
                        <a:t>Список мест, куда не смотрели</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548640">
                <a:tc>
                  <a:txBody>
                    <a:bodyPr/>
                    <a:lstStyle/>
                    <a:p>
                      <a:pPr algn="l" indent="0" marL="0">
                        <a:buNone/>
                      </a:pPr>
                      <a:r>
                        <a:rPr lang="en-US" sz="1300" b="1" dirty="0">
                          <a:solidFill>
                            <a:schemeClr val="tx1"/>
                          </a:solidFill>
                        </a:rPr>
                        <a:t>Сколько стоит начать</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1"/>
                          </a:solidFill>
                        </a:rPr>
                        <a:t>Ничего</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1"/>
                          </a:solidFill>
                        </a:rPr>
                        <a:t>Ничего, если разрешён</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Проба и настройка нашим инженером</a:t>
                      </a:r>
                      <a:endParaRPr lang="en-US" sz="1300" dirty="0"/>
                    </a:p>
                  </a:txBody>
                  <a:tcPr marL="109728" marR="109728" marT="64008" marB="64008"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6" name="Text 3"/>
          <p:cNvSpPr txBox="1"/>
          <p:nvPr/>
        </p:nvSpPr>
        <p:spPr>
          <a:xfrm>
            <a:off x="548640" y="4709160"/>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Оценка агента и текущих способов основана на устройстве их ответа. Сравнения на одних задачах ещё не было.</a:t>
            </a:r>
            <a:endParaRPr lang="en-US" sz="1100" dirty="0"/>
          </a:p>
        </p:txBody>
      </p:sp>
      <p:sp>
        <p:nvSpPr>
          <p:cNvPr id="7" name="why"/>
          <p:cNvSpPr/>
          <p:nvPr/>
        </p:nvSpPr>
        <p:spPr>
          <a:xfrm>
            <a:off x="548640" y="5074920"/>
            <a:ext cx="11094415" cy="1051560"/>
          </a:xfrm>
          <a:prstGeom prst="roundRect">
            <a:avLst>
              <a:gd name="adj" fmla="val 8696"/>
            </a:avLst>
          </a:prstGeom>
          <a:solidFill>
            <a:schemeClr val="bg2"/>
          </a:solidFill>
          <a:ln w="6350">
            <a:solidFill>
              <a:schemeClr val="bg2"/>
            </a:solidFill>
            <a:prstDash val="solid"/>
          </a:ln>
        </p:spPr>
      </p:sp>
      <p:sp>
        <p:nvSpPr>
          <p:cNvPr id="8" name="Text 5"/>
          <p:cNvSpPr txBox="1"/>
          <p:nvPr/>
        </p:nvSpPr>
        <p:spPr>
          <a:xfrm>
            <a:off x="777240" y="5166360"/>
            <a:ext cx="2743200" cy="32004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Почему попробовать</a:t>
            </a:r>
            <a:endParaRPr lang="en-US" sz="1700" dirty="0"/>
          </a:p>
        </p:txBody>
      </p:sp>
      <p:sp>
        <p:nvSpPr>
          <p:cNvPr id="9" name="Text 6"/>
          <p:cNvSpPr txBox="1"/>
          <p:nvPr/>
        </p:nvSpPr>
        <p:spPr>
          <a:xfrm>
            <a:off x="3566160" y="5166360"/>
            <a:ext cx="7848295" cy="89611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При любом исходе вы получите отчёты по своим изменениям за время пилота и измеренную долю потребителей, которых ваш coding agent пропускает на вашем коде. Эта цифра пригодится, даже если наш инструмент вам не подойдёт.</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Что есть сейчас, что предлагаем проверить вместе и что пока только план</a:t>
            </a:r>
            <a:endParaRPr lang="en-US" sz="2800" dirty="0"/>
          </a:p>
        </p:txBody>
      </p:sp>
      <p:sp>
        <p:nvSpPr>
          <p:cNvPr id="3" name="col-ok"/>
          <p:cNvSpPr/>
          <p:nvPr/>
        </p:nvSpPr>
        <p:spPr>
          <a:xfrm>
            <a:off x="548640" y="1463040"/>
            <a:ext cx="3515258" cy="4160520"/>
          </a:xfrm>
          <a:prstGeom prst="roundRect">
            <a:avLst>
              <a:gd name="adj" fmla="val 2601"/>
            </a:avLst>
          </a:prstGeom>
          <a:solidFill>
            <a:schemeClr val="bg2"/>
          </a:solidFill>
          <a:ln w="6350">
            <a:solidFill>
              <a:schemeClr val="bg2"/>
            </a:solidFill>
            <a:prstDash val="solid"/>
          </a:ln>
        </p:spPr>
      </p:sp>
      <p:sp>
        <p:nvSpPr>
          <p:cNvPr id="4" name="chip-ok"/>
          <p:cNvSpPr/>
          <p:nvPr/>
        </p:nvSpPr>
        <p:spPr>
          <a:xfrm>
            <a:off x="777240" y="1691640"/>
            <a:ext cx="1417320" cy="274320"/>
          </a:xfrm>
          <a:prstGeom prst="roundRect">
            <a:avLst>
              <a:gd name="adj" fmla="val 26667"/>
            </a:avLst>
          </a:prstGeom>
          <a:solidFill>
            <a:schemeClr val="accent1">
              <a:alpha val="14000"/>
            </a:schemeClr>
          </a:solidFill>
          <a:ln w="9525">
            <a:solidFill>
              <a:schemeClr val="accent1"/>
            </a:solidFill>
            <a:prstDash val="solid"/>
          </a:ln>
        </p:spPr>
      </p:sp>
      <p:sp>
        <p:nvSpPr>
          <p:cNvPr id="5" name="Text 3"/>
          <p:cNvSpPr txBox="1"/>
          <p:nvPr/>
        </p:nvSpPr>
        <p:spPr>
          <a:xfrm>
            <a:off x="777240" y="1691640"/>
            <a:ext cx="1417320" cy="274320"/>
          </a:xfrm>
          <a:prstGeom prst="rect">
            <a:avLst/>
          </a:prstGeom>
          <a:noFill/>
          <a:ln/>
        </p:spPr>
        <p:txBody>
          <a:bodyPr wrap="square" lIns="0" tIns="0" rIns="0" bIns="0" rtlCol="0" anchor="ctr"/>
          <a:lstStyle/>
          <a:p>
            <a:pPr algn="ctr" indent="0" marL="0">
              <a:buNone/>
            </a:pPr>
            <a:r>
              <a:rPr lang="en-US" sz="1050" b="1" spc="50" kern="0" dirty="0">
                <a:solidFill>
                  <a:schemeClr val="accent1"/>
                </a:solidFill>
              </a:rPr>
              <a:t>ПОДТВЕРЖДЕНО</a:t>
            </a:r>
            <a:endParaRPr lang="en-US" sz="1050" dirty="0"/>
          </a:p>
        </p:txBody>
      </p:sp>
      <p:sp>
        <p:nvSpPr>
          <p:cNvPr id="6" name="Text 4"/>
          <p:cNvSpPr txBox="1"/>
          <p:nvPr/>
        </p:nvSpPr>
        <p:spPr>
          <a:xfrm>
            <a:off x="777240" y="2084832"/>
            <a:ext cx="3058058" cy="36576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Есть сейчас</a:t>
            </a:r>
            <a:endParaRPr lang="en-US" sz="2000" dirty="0"/>
          </a:p>
        </p:txBody>
      </p:sp>
      <p:sp>
        <p:nvSpPr>
          <p:cNvPr id="7" name="Text 5"/>
          <p:cNvSpPr txBox="1"/>
          <p:nvPr/>
        </p:nvSpPr>
        <p:spPr>
          <a:xfrm>
            <a:off x="777240" y="25603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Ядро для Python requests к FastAPI или OpenAPI</a:t>
            </a:r>
            <a:endParaRPr lang="en-US" sz="1500" dirty="0"/>
          </a:p>
          <a:p>
            <a:pPr marL="203200" indent="-203200">
              <a:spcAft>
                <a:spcPts val="600"/>
              </a:spcAft>
              <a:buSzPct val="100000"/>
              <a:buChar char="•"/>
            </a:pPr>
            <a:r>
              <a:rPr lang="en-US" sz="1400" dirty="0">
                <a:solidFill>
                  <a:schemeClr val="tx1"/>
                </a:solidFill>
              </a:rPr>
              <a:t>Основание связи: файл, строки, SHA-256</a:t>
            </a:r>
            <a:endParaRPr lang="en-US" sz="1500" dirty="0"/>
          </a:p>
          <a:p>
            <a:pPr marL="203200" indent="-203200">
              <a:spcAft>
                <a:spcPts val="600"/>
              </a:spcAft>
              <a:buSzPct val="100000"/>
              <a:buChar char="•"/>
            </a:pPr>
            <a:r>
              <a:rPr lang="en-US" sz="1400" dirty="0">
                <a:solidFill>
                  <a:schemeClr val="tx1"/>
                </a:solidFill>
              </a:rPr>
              <a:t>Список мест, которые не распознаны</a:t>
            </a:r>
            <a:endParaRPr lang="en-US" sz="1500" dirty="0"/>
          </a:p>
          <a:p>
            <a:pPr marL="203200" indent="-203200">
              <a:spcAft>
                <a:spcPts val="600"/>
              </a:spcAft>
              <a:buSzPct val="100000"/>
              <a:buChar char="•"/>
            </a:pPr>
            <a:r>
              <a:rPr lang="en-US" sz="1400" dirty="0">
                <a:solidFill>
                  <a:schemeClr val="tx1"/>
                </a:solidFill>
              </a:rPr>
              <a:t>Стенд с проверкой 250 записей</a:t>
            </a:r>
            <a:endParaRPr lang="en-US" sz="1500" dirty="0"/>
          </a:p>
          <a:p>
            <a:pPr marL="203200" indent="-203200">
              <a:spcAft>
                <a:spcPts val="600"/>
              </a:spcAft>
              <a:buSzPct val="100000"/>
              <a:buChar char="•"/>
            </a:pPr>
            <a:r>
              <a:rPr lang="en-US" sz="1400" dirty="0">
                <a:solidFill>
                  <a:schemeClr val="tx1"/>
                </a:solidFill>
              </a:rPr>
              <a:t>Анализ за секунды, без ИИ-модели</a:t>
            </a:r>
            <a:endParaRPr lang="en-US" sz="1500" dirty="0"/>
          </a:p>
          <a:p>
            <a:pPr marL="203200" indent="-203200">
              <a:spcAft>
                <a:spcPts val="600"/>
              </a:spcAft>
              <a:buSzPct val="100000"/>
              <a:buChar char="•"/>
            </a:pPr>
            <a:r>
              <a:rPr lang="en-US" sz="1400" b="1" dirty="0">
                <a:solidFill>
                  <a:schemeClr val="tx1"/>
                </a:solidFill>
              </a:rPr>
              <a:t>На клиентском коде ещё не запускался</a:t>
            </a:r>
            <a:endParaRPr lang="en-US" sz="1500" dirty="0"/>
          </a:p>
        </p:txBody>
      </p:sp>
      <p:sp>
        <p:nvSpPr>
          <p:cNvPr id="8" name="col-hyp"/>
          <p:cNvSpPr/>
          <p:nvPr/>
        </p:nvSpPr>
        <p:spPr>
          <a:xfrm>
            <a:off x="4338218" y="1463040"/>
            <a:ext cx="3515258" cy="4160520"/>
          </a:xfrm>
          <a:prstGeom prst="roundRect">
            <a:avLst>
              <a:gd name="adj" fmla="val 2601"/>
            </a:avLst>
          </a:prstGeom>
          <a:solidFill>
            <a:schemeClr val="bg2"/>
          </a:solidFill>
          <a:ln w="6350">
            <a:solidFill>
              <a:schemeClr val="bg2"/>
            </a:solidFill>
            <a:prstDash val="solid"/>
          </a:ln>
        </p:spPr>
      </p:sp>
      <p:sp>
        <p:nvSpPr>
          <p:cNvPr id="9" name="chip-hyp"/>
          <p:cNvSpPr/>
          <p:nvPr/>
        </p:nvSpPr>
        <p:spPr>
          <a:xfrm>
            <a:off x="4566818" y="1691640"/>
            <a:ext cx="1051560" cy="274320"/>
          </a:xfrm>
          <a:prstGeom prst="roundRect">
            <a:avLst>
              <a:gd name="adj" fmla="val 26667"/>
            </a:avLst>
          </a:prstGeom>
          <a:solidFill>
            <a:schemeClr val="accent2">
              <a:alpha val="14000"/>
            </a:schemeClr>
          </a:solidFill>
          <a:ln w="9525">
            <a:solidFill>
              <a:schemeClr val="accent2"/>
            </a:solidFill>
            <a:prstDash val="solid"/>
          </a:ln>
        </p:spPr>
      </p:sp>
      <p:sp>
        <p:nvSpPr>
          <p:cNvPr id="10" name="Text 8"/>
          <p:cNvSpPr txBox="1"/>
          <p:nvPr/>
        </p:nvSpPr>
        <p:spPr>
          <a:xfrm>
            <a:off x="4566818" y="1691640"/>
            <a:ext cx="1051560"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ГИПОТЕЗА</a:t>
            </a:r>
            <a:endParaRPr lang="en-US" sz="1050" dirty="0"/>
          </a:p>
        </p:txBody>
      </p:sp>
      <p:sp>
        <p:nvSpPr>
          <p:cNvPr id="11" name="Text 9"/>
          <p:cNvSpPr txBox="1"/>
          <p:nvPr/>
        </p:nvSpPr>
        <p:spPr>
          <a:xfrm>
            <a:off x="4566818" y="2084832"/>
            <a:ext cx="3058058" cy="36576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Проверяем в пилоте</a:t>
            </a:r>
            <a:endParaRPr lang="en-US" sz="2000" dirty="0"/>
          </a:p>
        </p:txBody>
      </p:sp>
      <p:sp>
        <p:nvSpPr>
          <p:cNvPr id="12" name="Text 10"/>
          <p:cNvSpPr txBox="1"/>
          <p:nvPr/>
        </p:nvSpPr>
        <p:spPr>
          <a:xfrm>
            <a:off x="4566818" y="25603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Видит ли инструмент ваш код: проба, порог половина мест вызова</a:t>
            </a:r>
            <a:endParaRPr lang="en-US" sz="1500" dirty="0"/>
          </a:p>
          <a:p>
            <a:pPr marL="203200" indent="-203200">
              <a:spcAft>
                <a:spcPts val="600"/>
              </a:spcAft>
              <a:buSzPct val="100000"/>
              <a:buChar char="•"/>
            </a:pPr>
            <a:r>
              <a:rPr lang="en-US" sz="1400" dirty="0">
                <a:solidFill>
                  <a:schemeClr val="tx1"/>
                </a:solidFill>
              </a:rPr>
              <a:t>Серьёзных пропусков не больше, чем у вашего агента без модуля</a:t>
            </a:r>
            <a:endParaRPr lang="en-US" sz="1500" dirty="0"/>
          </a:p>
          <a:p>
            <a:pPr marL="203200" indent="-203200">
              <a:spcAft>
                <a:spcPts val="600"/>
              </a:spcAft>
              <a:buSzPct val="100000"/>
              <a:buChar char="•"/>
            </a:pPr>
            <a:r>
              <a:rPr lang="en-US" sz="1400" dirty="0">
                <a:solidFill>
                  <a:schemeClr val="tx1"/>
                </a:solidFill>
              </a:rPr>
              <a:t>Полный труд меньше хотя бы на 20%, включая подключение</a:t>
            </a:r>
            <a:endParaRPr lang="en-US" sz="1500" dirty="0"/>
          </a:p>
          <a:p>
            <a:pPr marL="203200" indent="-203200">
              <a:spcAft>
                <a:spcPts val="600"/>
              </a:spcAft>
              <a:buSzPct val="100000"/>
              <a:buChar char="•"/>
            </a:pPr>
            <a:r>
              <a:rPr lang="en-US" sz="1400" dirty="0">
                <a:solidFill>
                  <a:schemeClr val="tx1"/>
                </a:solidFill>
              </a:rPr>
              <a:t>Что автор PR сделал из-за отчёта</a:t>
            </a:r>
            <a:endParaRPr lang="en-US" sz="1500" dirty="0"/>
          </a:p>
        </p:txBody>
      </p:sp>
      <p:sp>
        <p:nvSpPr>
          <p:cNvPr id="13" name="col-plan"/>
          <p:cNvSpPr/>
          <p:nvPr/>
        </p:nvSpPr>
        <p:spPr>
          <a:xfrm>
            <a:off x="8127797" y="1463040"/>
            <a:ext cx="3515258" cy="4160520"/>
          </a:xfrm>
          <a:prstGeom prst="roundRect">
            <a:avLst>
              <a:gd name="adj" fmla="val 2601"/>
            </a:avLst>
          </a:prstGeom>
          <a:solidFill>
            <a:schemeClr val="bg2"/>
          </a:solidFill>
          <a:ln w="6350">
            <a:solidFill>
              <a:schemeClr val="bg2"/>
            </a:solidFill>
            <a:prstDash val="solid"/>
          </a:ln>
        </p:spPr>
      </p:sp>
      <p:sp>
        <p:nvSpPr>
          <p:cNvPr id="14" name="chip-plan"/>
          <p:cNvSpPr/>
          <p:nvPr/>
        </p:nvSpPr>
        <p:spPr>
          <a:xfrm>
            <a:off x="8356397" y="1691640"/>
            <a:ext cx="685800" cy="274320"/>
          </a:xfrm>
          <a:prstGeom prst="roundRect">
            <a:avLst>
              <a:gd name="adj" fmla="val 26667"/>
            </a:avLst>
          </a:prstGeom>
          <a:solidFill>
            <a:schemeClr val="accent3">
              <a:alpha val="14000"/>
            </a:schemeClr>
          </a:solidFill>
          <a:ln w="9525">
            <a:solidFill>
              <a:schemeClr val="accent3"/>
            </a:solidFill>
            <a:prstDash val="solid"/>
          </a:ln>
        </p:spPr>
      </p:sp>
      <p:sp>
        <p:nvSpPr>
          <p:cNvPr id="15" name="Text 13"/>
          <p:cNvSpPr txBox="1"/>
          <p:nvPr/>
        </p:nvSpPr>
        <p:spPr>
          <a:xfrm>
            <a:off x="8356397" y="1691640"/>
            <a:ext cx="685800"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a:t>
            </a:r>
            <a:endParaRPr lang="en-US" sz="1050" dirty="0"/>
          </a:p>
        </p:txBody>
      </p:sp>
      <p:sp>
        <p:nvSpPr>
          <p:cNvPr id="16" name="Text 14"/>
          <p:cNvSpPr txBox="1"/>
          <p:nvPr/>
        </p:nvSpPr>
        <p:spPr>
          <a:xfrm>
            <a:off x="8356397" y="2084832"/>
            <a:ext cx="3058058" cy="36576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Делаем до старта</a:t>
            </a:r>
            <a:endParaRPr lang="en-US" sz="2000" dirty="0"/>
          </a:p>
        </p:txBody>
      </p:sp>
      <p:sp>
        <p:nvSpPr>
          <p:cNvPr id="17" name="Text 15"/>
          <p:cNvSpPr txBox="1"/>
          <p:nvPr/>
        </p:nvSpPr>
        <p:spPr>
          <a:xfrm>
            <a:off x="8356397" y="25603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Отчёт в Markdown для PR</a:t>
            </a:r>
            <a:endParaRPr lang="en-US" sz="1500" dirty="0"/>
          </a:p>
          <a:p>
            <a:pPr marL="203200" indent="-203200">
              <a:spcAft>
                <a:spcPts val="600"/>
              </a:spcAft>
              <a:buSzPct val="100000"/>
              <a:buChar char="•"/>
            </a:pPr>
            <a:r>
              <a:rPr lang="en-US" sz="1400" dirty="0">
                <a:solidFill>
                  <a:schemeClr val="tx1"/>
                </a:solidFill>
              </a:rPr>
              <a:t>Ссылки на строки в коммите Git</a:t>
            </a:r>
            <a:endParaRPr lang="en-US" sz="1500" dirty="0"/>
          </a:p>
          <a:p>
            <a:pPr marL="203200" indent="-203200">
              <a:spcAft>
                <a:spcPts val="600"/>
              </a:spcAft>
              <a:buSzPct val="100000"/>
              <a:buChar char="•"/>
            </a:pPr>
            <a:r>
              <a:rPr lang="en-US" sz="1400" dirty="0">
                <a:solidFill>
                  <a:schemeClr val="tx1"/>
                </a:solidFill>
              </a:rPr>
              <a:t>"Перепроверить" для любого изменения операции</a:t>
            </a:r>
            <a:endParaRPr lang="en-US" sz="1500" dirty="0"/>
          </a:p>
          <a:p>
            <a:pPr marL="203200" indent="-203200">
              <a:spcAft>
                <a:spcPts val="600"/>
              </a:spcAft>
              <a:buSzPct val="100000"/>
              <a:buChar char="•"/>
            </a:pPr>
            <a:r>
              <a:rPr lang="en-US" sz="1400" dirty="0">
                <a:solidFill>
                  <a:schemeClr val="tx1"/>
                </a:solidFill>
              </a:rPr>
              <a:t>Меньше шума в списке пробелов</a:t>
            </a:r>
            <a:endParaRPr lang="en-US" sz="1500" dirty="0"/>
          </a:p>
          <a:p>
            <a:pPr marL="203200" indent="-203200">
              <a:spcAft>
                <a:spcPts val="600"/>
              </a:spcAft>
              <a:buSzPct val="100000"/>
              <a:buChar char="•"/>
            </a:pPr>
            <a:r>
              <a:rPr lang="en-US" sz="1400" dirty="0">
                <a:solidFill>
                  <a:schemeClr val="tx1"/>
                </a:solidFill>
              </a:rPr>
              <a:t>До двух форм вызова, если их покажет проба</a:t>
            </a:r>
            <a:endParaRPr lang="en-US" sz="1500" dirty="0"/>
          </a:p>
        </p:txBody>
      </p:sp>
      <p:sp>
        <p:nvSpPr>
          <p:cNvPr id="18" name="Text 16"/>
          <p:cNvSpPr txBox="1"/>
          <p:nvPr/>
        </p:nvSpPr>
        <p:spPr>
          <a:xfrm>
            <a:off x="8356397" y="5257800"/>
            <a:ext cx="3149498" cy="365760"/>
          </a:xfrm>
          <a:prstGeom prst="rect">
            <a:avLst/>
          </a:prstGeom>
          <a:noFill/>
          <a:ln/>
        </p:spPr>
        <p:txBody>
          <a:bodyPr wrap="square" lIns="0" tIns="0" rIns="0" bIns="0" rtlCol="0" anchor="t"/>
          <a:lstStyle/>
          <a:p>
            <a:pPr indent="0" marL="0">
              <a:buNone/>
            </a:pPr>
            <a:r>
              <a:rPr lang="en-US" sz="1100" dirty="0">
                <a:solidFill>
                  <a:schemeClr val="accent5"/>
                </a:solidFill>
              </a:rPr>
              <a:t>Разработка до старта: около 2-2,5 недель после вашего согласия на пробу покрытия.</a:t>
            </a:r>
            <a:endParaRPr lang="en-US" sz="1100" dirty="0"/>
          </a:p>
        </p:txBody>
      </p:sp>
      <p:sp>
        <p:nvSpPr>
          <p:cNvPr id="19" name="no-promise"/>
          <p:cNvSpPr/>
          <p:nvPr/>
        </p:nvSpPr>
        <p:spPr>
          <a:xfrm>
            <a:off x="548640" y="5760720"/>
            <a:ext cx="11094415" cy="457200"/>
          </a:xfrm>
          <a:prstGeom prst="roundRect">
            <a:avLst>
              <a:gd name="adj" fmla="val 20000"/>
            </a:avLst>
          </a:prstGeom>
          <a:solidFill>
            <a:schemeClr val="accent4">
              <a:alpha val="8000"/>
            </a:schemeClr>
          </a:solidFill>
          <a:ln w="6350">
            <a:solidFill>
              <a:schemeClr val="bg2"/>
            </a:solidFill>
            <a:prstDash val="solid"/>
          </a:ln>
        </p:spPr>
      </p:sp>
      <p:sp>
        <p:nvSpPr>
          <p:cNvPr id="20" name="Text 18"/>
          <p:cNvSpPr txBox="1"/>
          <p:nvPr/>
        </p:nvSpPr>
        <p:spPr>
          <a:xfrm>
            <a:off x="731520" y="5806440"/>
            <a:ext cx="10728655" cy="365760"/>
          </a:xfrm>
          <a:prstGeom prst="rect">
            <a:avLst/>
          </a:prstGeom>
          <a:noFill/>
          <a:ln/>
        </p:spPr>
        <p:txBody>
          <a:bodyPr wrap="square" lIns="0" tIns="0" rIns="0" bIns="0" rtlCol="0" anchor="ctr"/>
          <a:lstStyle/>
          <a:p>
            <a:pPr indent="0" marL="0">
              <a:spcAft>
                <a:spcPts val="400"/>
              </a:spcAft>
              <a:buNone/>
            </a:pPr>
            <a:r>
              <a:rPr lang="en-US" sz="1400" b="1" dirty="0">
                <a:solidFill>
                  <a:schemeClr val="accent4"/>
                </a:solidFill>
              </a:rPr>
              <a:t>Не обещаем: </a:t>
            </a:r>
            <a:pPr indent="0" marL="0">
              <a:spcAft>
                <a:spcPts val="400"/>
              </a:spcAft>
              <a:buNone/>
            </a:pPr>
            <a:r>
              <a:rPr lang="en-US" sz="1400" dirty="0">
                <a:solidFill>
                  <a:schemeClr val="accent4"/>
                </a:solidFill>
              </a:rPr>
              <a:t>экономию, полноту списка, стеки вне перечня, работу без нашего инженера, допуск к выпуску.</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Пилот: 12 ваших изменений за 6 недель, три способа поиска на одних и тех же задачах</a:t>
            </a:r>
            <a:endParaRPr lang="en-US" sz="2800" dirty="0"/>
          </a:p>
        </p:txBody>
      </p:sp>
      <p:sp>
        <p:nvSpPr>
          <p:cNvPr id="3" name="chip-plan"/>
          <p:cNvSpPr/>
          <p:nvPr/>
        </p:nvSpPr>
        <p:spPr>
          <a:xfrm>
            <a:off x="548640" y="1463040"/>
            <a:ext cx="4180637" cy="274320"/>
          </a:xfrm>
          <a:prstGeom prst="roundRect">
            <a:avLst>
              <a:gd name="adj" fmla="val 26667"/>
            </a:avLst>
          </a:prstGeom>
          <a:solidFill>
            <a:schemeClr val="accent3">
              <a:alpha val="14000"/>
            </a:schemeClr>
          </a:solidFill>
          <a:ln w="9525">
            <a:solidFill>
              <a:schemeClr val="accent3"/>
            </a:solidFill>
            <a:prstDash val="solid"/>
          </a:ln>
        </p:spPr>
      </p:sp>
      <p:sp>
        <p:nvSpPr>
          <p:cNvPr id="4" name="Text 2"/>
          <p:cNvSpPr txBox="1"/>
          <p:nvPr/>
        </p:nvSpPr>
        <p:spPr>
          <a:xfrm>
            <a:off x="548640" y="1463040"/>
            <a:ext cx="4180637"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 · предложение, сроки считаются от выдачи доступа</a:t>
            </a:r>
            <a:endParaRPr lang="en-US" sz="1050" dirty="0"/>
          </a:p>
        </p:txBody>
      </p:sp>
      <p:sp>
        <p:nvSpPr>
          <p:cNvPr id="5" name="Shape 3"/>
          <p:cNvSpPr/>
          <p:nvPr/>
        </p:nvSpPr>
        <p:spPr>
          <a:xfrm>
            <a:off x="548640" y="1920240"/>
            <a:ext cx="2109155" cy="502920"/>
          </a:xfrm>
          <a:prstGeom prst="chevron">
            <a:avLst/>
          </a:prstGeom>
          <a:solidFill>
            <a:schemeClr val="accent2"/>
          </a:solidFill>
          <a:ln w="12700">
            <a:solidFill>
              <a:schemeClr val="bg1"/>
            </a:solidFill>
            <a:prstDash val="solid"/>
          </a:ln>
        </p:spPr>
      </p:sp>
      <p:sp>
        <p:nvSpPr>
          <p:cNvPr id="6" name="Text 4"/>
          <p:cNvSpPr txBox="1"/>
          <p:nvPr/>
        </p:nvSpPr>
        <p:spPr>
          <a:xfrm>
            <a:off x="777240" y="1920240"/>
            <a:ext cx="1651955" cy="50292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Неделя 0</a:t>
            </a:r>
            <a:endParaRPr lang="en-US" sz="1400" dirty="0"/>
          </a:p>
        </p:txBody>
      </p:sp>
      <p:sp>
        <p:nvSpPr>
          <p:cNvPr id="7" name="Text 5"/>
          <p:cNvSpPr txBox="1"/>
          <p:nvPr/>
        </p:nvSpPr>
        <p:spPr>
          <a:xfrm>
            <a:off x="548640" y="2560320"/>
            <a:ext cx="2109155"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Интервью, доступ, проба покрытия</a:t>
            </a:r>
            <a:endParaRPr lang="en-US" sz="1300" dirty="0"/>
          </a:p>
        </p:txBody>
      </p:sp>
      <p:sp>
        <p:nvSpPr>
          <p:cNvPr id="8" name="Text 6"/>
          <p:cNvSpPr txBox="1"/>
          <p:nvPr/>
        </p:nvSpPr>
        <p:spPr>
          <a:xfrm>
            <a:off x="548640" y="3310128"/>
            <a:ext cx="2109155" cy="457200"/>
          </a:xfrm>
          <a:prstGeom prst="rect">
            <a:avLst/>
          </a:prstGeom>
          <a:noFill/>
          <a:ln/>
        </p:spPr>
        <p:txBody>
          <a:bodyPr wrap="square" lIns="0" tIns="0" rIns="0" bIns="0" rtlCol="0" anchor="t"/>
          <a:lstStyle/>
          <a:p>
            <a:pPr indent="0" marL="0">
              <a:buNone/>
            </a:pPr>
            <a:r>
              <a:rPr lang="en-US" sz="1100" dirty="0">
                <a:solidFill>
                  <a:schemeClr val="accent5"/>
                </a:solidFill>
              </a:rPr>
              <a:t>Проба не пройдена: пилот не начинаем</a:t>
            </a:r>
            <a:endParaRPr lang="en-US" sz="1100" dirty="0"/>
          </a:p>
        </p:txBody>
      </p:sp>
      <p:sp>
        <p:nvSpPr>
          <p:cNvPr id="9" name="Shape 7"/>
          <p:cNvSpPr/>
          <p:nvPr/>
        </p:nvSpPr>
        <p:spPr>
          <a:xfrm>
            <a:off x="2794955" y="1920240"/>
            <a:ext cx="2109155" cy="502920"/>
          </a:xfrm>
          <a:prstGeom prst="chevron">
            <a:avLst/>
          </a:prstGeom>
          <a:solidFill>
            <a:schemeClr val="accent1"/>
          </a:solidFill>
          <a:ln w="12700">
            <a:solidFill>
              <a:schemeClr val="bg1"/>
            </a:solidFill>
            <a:prstDash val="solid"/>
          </a:ln>
        </p:spPr>
      </p:sp>
      <p:sp>
        <p:nvSpPr>
          <p:cNvPr id="10" name="Text 8"/>
          <p:cNvSpPr txBox="1"/>
          <p:nvPr/>
        </p:nvSpPr>
        <p:spPr>
          <a:xfrm>
            <a:off x="3023555" y="1920240"/>
            <a:ext cx="1651955" cy="50292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Неделя 1</a:t>
            </a:r>
            <a:endParaRPr lang="en-US" sz="1400" dirty="0"/>
          </a:p>
        </p:txBody>
      </p:sp>
      <p:sp>
        <p:nvSpPr>
          <p:cNvPr id="11" name="Text 9"/>
          <p:cNvSpPr txBox="1"/>
          <p:nvPr/>
        </p:nvSpPr>
        <p:spPr>
          <a:xfrm>
            <a:off x="2794955" y="2560320"/>
            <a:ext cx="2109155"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Настройка, отбор задач, эталон по прошлым изменениям</a:t>
            </a:r>
            <a:endParaRPr lang="en-US" sz="1300" dirty="0"/>
          </a:p>
        </p:txBody>
      </p:sp>
      <p:sp>
        <p:nvSpPr>
          <p:cNvPr id="12" name="Text 10"/>
          <p:cNvSpPr txBox="1"/>
          <p:nvPr/>
        </p:nvSpPr>
        <p:spPr>
          <a:xfrm>
            <a:off x="2794955" y="3310128"/>
            <a:ext cx="2109155" cy="457200"/>
          </a:xfrm>
          <a:prstGeom prst="rect">
            <a:avLst/>
          </a:prstGeom>
          <a:noFill/>
          <a:ln/>
        </p:spPr>
        <p:txBody>
          <a:bodyPr wrap="square" lIns="0" tIns="0" rIns="0" bIns="0" rtlCol="0" anchor="t"/>
          <a:lstStyle/>
          <a:p>
            <a:pPr indent="0" marL="0">
              <a:buNone/>
            </a:pPr>
            <a:r>
              <a:rPr lang="en-US" sz="1100" dirty="0">
                <a:solidFill>
                  <a:schemeClr val="accent5"/>
                </a:solidFill>
              </a:rPr>
              <a:t>Список задач заморожен</a:t>
            </a:r>
            <a:endParaRPr lang="en-US" sz="1100" dirty="0"/>
          </a:p>
        </p:txBody>
      </p:sp>
      <p:sp>
        <p:nvSpPr>
          <p:cNvPr id="13" name="Shape 11"/>
          <p:cNvSpPr/>
          <p:nvPr/>
        </p:nvSpPr>
        <p:spPr>
          <a:xfrm>
            <a:off x="5041270" y="1920240"/>
            <a:ext cx="2109155" cy="502920"/>
          </a:xfrm>
          <a:prstGeom prst="chevron">
            <a:avLst/>
          </a:prstGeom>
          <a:solidFill>
            <a:schemeClr val="accent1"/>
          </a:solidFill>
          <a:ln w="12700">
            <a:solidFill>
              <a:schemeClr val="bg1"/>
            </a:solidFill>
            <a:prstDash val="solid"/>
          </a:ln>
        </p:spPr>
      </p:sp>
      <p:sp>
        <p:nvSpPr>
          <p:cNvPr id="14" name="Text 12"/>
          <p:cNvSpPr txBox="1"/>
          <p:nvPr/>
        </p:nvSpPr>
        <p:spPr>
          <a:xfrm>
            <a:off x="5269870" y="1920240"/>
            <a:ext cx="1651955" cy="50292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Недели 1-2</a:t>
            </a:r>
            <a:endParaRPr lang="en-US" sz="1400" dirty="0"/>
          </a:p>
        </p:txBody>
      </p:sp>
      <p:sp>
        <p:nvSpPr>
          <p:cNvPr id="15" name="Text 13"/>
          <p:cNvSpPr txBox="1"/>
          <p:nvPr/>
        </p:nvSpPr>
        <p:spPr>
          <a:xfrm>
            <a:off x="5041270" y="2560320"/>
            <a:ext cx="2109155"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6 прошлых изменений из истории за полгода</a:t>
            </a:r>
            <a:endParaRPr lang="en-US" sz="1300" dirty="0"/>
          </a:p>
        </p:txBody>
      </p:sp>
      <p:sp>
        <p:nvSpPr>
          <p:cNvPr id="16" name="Shape 14"/>
          <p:cNvSpPr/>
          <p:nvPr/>
        </p:nvSpPr>
        <p:spPr>
          <a:xfrm>
            <a:off x="7287585" y="1920240"/>
            <a:ext cx="2109155" cy="502920"/>
          </a:xfrm>
          <a:prstGeom prst="chevron">
            <a:avLst/>
          </a:prstGeom>
          <a:solidFill>
            <a:schemeClr val="accent1"/>
          </a:solidFill>
          <a:ln w="12700">
            <a:solidFill>
              <a:schemeClr val="bg1"/>
            </a:solidFill>
            <a:prstDash val="solid"/>
          </a:ln>
        </p:spPr>
      </p:sp>
      <p:sp>
        <p:nvSpPr>
          <p:cNvPr id="17" name="Text 15"/>
          <p:cNvSpPr txBox="1"/>
          <p:nvPr/>
        </p:nvSpPr>
        <p:spPr>
          <a:xfrm>
            <a:off x="7516185" y="1920240"/>
            <a:ext cx="1651955" cy="50292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Недели 2-5</a:t>
            </a:r>
            <a:endParaRPr lang="en-US" sz="1400" dirty="0"/>
          </a:p>
        </p:txBody>
      </p:sp>
      <p:sp>
        <p:nvSpPr>
          <p:cNvPr id="18" name="Text 16"/>
          <p:cNvSpPr txBox="1"/>
          <p:nvPr/>
        </p:nvSpPr>
        <p:spPr>
          <a:xfrm>
            <a:off x="7287585" y="2560320"/>
            <a:ext cx="2109155"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Живые PR, меняющие API, по мере появления, цель 6</a:t>
            </a:r>
            <a:endParaRPr lang="en-US" sz="1300" dirty="0"/>
          </a:p>
        </p:txBody>
      </p:sp>
      <p:sp>
        <p:nvSpPr>
          <p:cNvPr id="19" name="Text 17"/>
          <p:cNvSpPr txBox="1"/>
          <p:nvPr/>
        </p:nvSpPr>
        <p:spPr>
          <a:xfrm>
            <a:off x="7287585" y="3310128"/>
            <a:ext cx="2109155" cy="457200"/>
          </a:xfrm>
          <a:prstGeom prst="rect">
            <a:avLst/>
          </a:prstGeom>
          <a:noFill/>
          <a:ln/>
        </p:spPr>
        <p:txBody>
          <a:bodyPr wrap="square" lIns="0" tIns="0" rIns="0" bIns="0" rtlCol="0" anchor="t"/>
          <a:lstStyle/>
          <a:p>
            <a:pPr indent="0" marL="0">
              <a:buNone/>
            </a:pPr>
            <a:r>
              <a:rPr lang="en-US" sz="1100" dirty="0">
                <a:solidFill>
                  <a:schemeClr val="accent5"/>
                </a:solidFill>
              </a:rPr>
              <a:t>Меньше 8 задач: один раз продлеваем на 2 недели</a:t>
            </a:r>
            <a:endParaRPr lang="en-US" sz="1100" dirty="0"/>
          </a:p>
        </p:txBody>
      </p:sp>
      <p:sp>
        <p:nvSpPr>
          <p:cNvPr id="20" name="Shape 18"/>
          <p:cNvSpPr/>
          <p:nvPr/>
        </p:nvSpPr>
        <p:spPr>
          <a:xfrm>
            <a:off x="9533900" y="1920240"/>
            <a:ext cx="2109155" cy="502920"/>
          </a:xfrm>
          <a:prstGeom prst="chevron">
            <a:avLst/>
          </a:prstGeom>
          <a:solidFill>
            <a:schemeClr val="accent1"/>
          </a:solidFill>
          <a:ln w="12700">
            <a:solidFill>
              <a:schemeClr val="bg1"/>
            </a:solidFill>
            <a:prstDash val="solid"/>
          </a:ln>
        </p:spPr>
      </p:sp>
      <p:sp>
        <p:nvSpPr>
          <p:cNvPr id="21" name="Text 19"/>
          <p:cNvSpPr txBox="1"/>
          <p:nvPr/>
        </p:nvSpPr>
        <p:spPr>
          <a:xfrm>
            <a:off x="9762500" y="1920240"/>
            <a:ext cx="1651955" cy="502920"/>
          </a:xfrm>
          <a:prstGeom prst="rect">
            <a:avLst/>
          </a:prstGeom>
          <a:noFill/>
          <a:ln/>
        </p:spPr>
        <p:txBody>
          <a:bodyPr wrap="square" lIns="0" tIns="0" rIns="0" bIns="0" rtlCol="0" anchor="ctr"/>
          <a:lstStyle/>
          <a:p>
            <a:pPr algn="ctr" indent="0" marL="0">
              <a:spcAft>
                <a:spcPts val="400"/>
              </a:spcAft>
              <a:buNone/>
            </a:pPr>
            <a:r>
              <a:rPr lang="en-US" sz="1400" b="1" dirty="0">
                <a:solidFill>
                  <a:schemeClr val="bg1"/>
                </a:solidFill>
              </a:rPr>
              <a:t>Неделя 6</a:t>
            </a:r>
            <a:endParaRPr lang="en-US" sz="1400" dirty="0"/>
          </a:p>
        </p:txBody>
      </p:sp>
      <p:sp>
        <p:nvSpPr>
          <p:cNvPr id="22" name="Text 20"/>
          <p:cNvSpPr txBox="1"/>
          <p:nvPr/>
        </p:nvSpPr>
        <p:spPr>
          <a:xfrm>
            <a:off x="9533900" y="2560320"/>
            <a:ext cx="2109155" cy="7772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Разбор результатов и решение</a:t>
            </a:r>
            <a:endParaRPr lang="en-US" sz="1300" dirty="0"/>
          </a:p>
        </p:txBody>
      </p:sp>
      <p:sp>
        <p:nvSpPr>
          <p:cNvPr id="23" name="Text 21"/>
          <p:cNvSpPr txBox="1"/>
          <p:nvPr/>
        </p:nvSpPr>
        <p:spPr>
          <a:xfrm>
            <a:off x="9533900" y="3310128"/>
            <a:ext cx="2109155" cy="457200"/>
          </a:xfrm>
          <a:prstGeom prst="rect">
            <a:avLst/>
          </a:prstGeom>
          <a:noFill/>
          <a:ln/>
        </p:spPr>
        <p:txBody>
          <a:bodyPr wrap="square" lIns="0" tIns="0" rIns="0" bIns="0" rtlCol="0" anchor="t"/>
          <a:lstStyle/>
          <a:p>
            <a:pPr indent="0" marL="0">
              <a:buNone/>
            </a:pPr>
            <a:r>
              <a:rPr lang="en-US" sz="1100" dirty="0">
                <a:solidFill>
                  <a:schemeClr val="accent5"/>
                </a:solidFill>
              </a:rPr>
              <a:t>По критериям, записанным заранее</a:t>
            </a:r>
            <a:endParaRPr lang="en-US" sz="1100" dirty="0"/>
          </a:p>
        </p:txBody>
      </p:sp>
      <p:sp>
        <p:nvSpPr>
          <p:cNvPr id="24" name="branch"/>
          <p:cNvSpPr/>
          <p:nvPr/>
        </p:nvSpPr>
        <p:spPr>
          <a:xfrm>
            <a:off x="548640" y="3931920"/>
            <a:ext cx="3515258" cy="1325880"/>
          </a:xfrm>
          <a:prstGeom prst="roundRect">
            <a:avLst>
              <a:gd name="adj" fmla="val 6897"/>
            </a:avLst>
          </a:prstGeom>
          <a:solidFill>
            <a:schemeClr val="bg2"/>
          </a:solidFill>
          <a:ln w="6350">
            <a:solidFill>
              <a:schemeClr val="bg2"/>
            </a:solidFill>
            <a:prstDash val="solid"/>
          </a:ln>
        </p:spPr>
      </p:sp>
      <p:sp>
        <p:nvSpPr>
          <p:cNvPr id="25" name="Text 23"/>
          <p:cNvSpPr txBox="1"/>
          <p:nvPr/>
        </p:nvSpPr>
        <p:spPr>
          <a:xfrm>
            <a:off x="731520" y="4023360"/>
            <a:ext cx="731520" cy="457200"/>
          </a:xfrm>
          <a:prstGeom prst="rect">
            <a:avLst/>
          </a:prstGeom>
          <a:noFill/>
          <a:ln/>
        </p:spPr>
        <p:txBody>
          <a:bodyPr wrap="square" lIns="0" tIns="0" rIns="0" bIns="0" rtlCol="0" anchor="t"/>
          <a:lstStyle/>
          <a:p>
            <a:pPr indent="0" marL="0">
              <a:spcAft>
                <a:spcPts val="400"/>
              </a:spcAft>
              <a:buNone/>
            </a:pPr>
            <a:r>
              <a:rPr lang="en-US" sz="2400" b="1" dirty="0">
                <a:solidFill>
                  <a:schemeClr val="accent5"/>
                </a:solidFill>
              </a:rPr>
              <a:t>A0</a:t>
            </a:r>
            <a:endParaRPr lang="en-US" sz="2400" dirty="0"/>
          </a:p>
        </p:txBody>
      </p:sp>
      <p:sp>
        <p:nvSpPr>
          <p:cNvPr id="26" name="Text 24"/>
          <p:cNvSpPr txBox="1"/>
          <p:nvPr/>
        </p:nvSpPr>
        <p:spPr>
          <a:xfrm>
            <a:off x="1463040" y="4087368"/>
            <a:ext cx="2417978" cy="36576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Текущий процесс</a:t>
            </a:r>
            <a:endParaRPr lang="en-US" sz="1500" dirty="0"/>
          </a:p>
        </p:txBody>
      </p:sp>
      <p:sp>
        <p:nvSpPr>
          <p:cNvPr id="27" name="Text 25"/>
          <p:cNvSpPr txBox="1"/>
          <p:nvPr/>
        </p:nvSpPr>
        <p:spPr>
          <a:xfrm>
            <a:off x="731520" y="4526280"/>
            <a:ext cx="3149498" cy="68580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Автор изменения ищет своими средствами и записывает время</a:t>
            </a:r>
            <a:endParaRPr lang="en-US" sz="1300" dirty="0"/>
          </a:p>
        </p:txBody>
      </p:sp>
      <p:sp>
        <p:nvSpPr>
          <p:cNvPr id="28" name="branch"/>
          <p:cNvSpPr/>
          <p:nvPr/>
        </p:nvSpPr>
        <p:spPr>
          <a:xfrm>
            <a:off x="4338218" y="3931920"/>
            <a:ext cx="3515258" cy="1325880"/>
          </a:xfrm>
          <a:prstGeom prst="roundRect">
            <a:avLst>
              <a:gd name="adj" fmla="val 6897"/>
            </a:avLst>
          </a:prstGeom>
          <a:solidFill>
            <a:schemeClr val="bg2"/>
          </a:solidFill>
          <a:ln w="6350">
            <a:solidFill>
              <a:schemeClr val="bg2"/>
            </a:solidFill>
            <a:prstDash val="solid"/>
          </a:ln>
        </p:spPr>
      </p:sp>
      <p:sp>
        <p:nvSpPr>
          <p:cNvPr id="29" name="Text 27"/>
          <p:cNvSpPr txBox="1"/>
          <p:nvPr/>
        </p:nvSpPr>
        <p:spPr>
          <a:xfrm>
            <a:off x="4521098" y="4023360"/>
            <a:ext cx="731520" cy="457200"/>
          </a:xfrm>
          <a:prstGeom prst="rect">
            <a:avLst/>
          </a:prstGeom>
          <a:noFill/>
          <a:ln/>
        </p:spPr>
        <p:txBody>
          <a:bodyPr wrap="square" lIns="0" tIns="0" rIns="0" bIns="0" rtlCol="0" anchor="t"/>
          <a:lstStyle/>
          <a:p>
            <a:pPr indent="0" marL="0">
              <a:spcAft>
                <a:spcPts val="400"/>
              </a:spcAft>
              <a:buNone/>
            </a:pPr>
            <a:r>
              <a:rPr lang="en-US" sz="2400" b="1" dirty="0">
                <a:solidFill>
                  <a:schemeClr val="accent5"/>
                </a:solidFill>
              </a:rPr>
              <a:t>A1</a:t>
            </a:r>
            <a:endParaRPr lang="en-US" sz="2400" dirty="0"/>
          </a:p>
        </p:txBody>
      </p:sp>
      <p:sp>
        <p:nvSpPr>
          <p:cNvPr id="30" name="Text 28"/>
          <p:cNvSpPr txBox="1"/>
          <p:nvPr/>
        </p:nvSpPr>
        <p:spPr>
          <a:xfrm>
            <a:off x="5252618" y="4087368"/>
            <a:ext cx="2417978" cy="36576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Ваш coding agent без модуля</a:t>
            </a:r>
            <a:endParaRPr lang="en-US" sz="1500" dirty="0"/>
          </a:p>
        </p:txBody>
      </p:sp>
      <p:sp>
        <p:nvSpPr>
          <p:cNvPr id="31" name="Text 29"/>
          <p:cNvSpPr txBox="1"/>
          <p:nvPr/>
        </p:nvSpPr>
        <p:spPr>
          <a:xfrm>
            <a:off x="4521098" y="4526280"/>
            <a:ext cx="3149498" cy="68580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Оператор с вашей стороны. Отчётов модуля не видит до конца пилота</a:t>
            </a:r>
            <a:endParaRPr lang="en-US" sz="1300" dirty="0"/>
          </a:p>
        </p:txBody>
      </p:sp>
      <p:sp>
        <p:nvSpPr>
          <p:cNvPr id="32" name="branch"/>
          <p:cNvSpPr/>
          <p:nvPr/>
        </p:nvSpPr>
        <p:spPr>
          <a:xfrm>
            <a:off x="8127797" y="3931920"/>
            <a:ext cx="3515258" cy="1325880"/>
          </a:xfrm>
          <a:prstGeom prst="roundRect">
            <a:avLst>
              <a:gd name="adj" fmla="val 6897"/>
            </a:avLst>
          </a:prstGeom>
          <a:solidFill>
            <a:schemeClr val="bg2"/>
          </a:solidFill>
          <a:ln w="6350">
            <a:solidFill>
              <a:schemeClr val="bg2"/>
            </a:solidFill>
            <a:prstDash val="solid"/>
          </a:ln>
        </p:spPr>
      </p:sp>
      <p:sp>
        <p:nvSpPr>
          <p:cNvPr id="33" name="Text 31"/>
          <p:cNvSpPr txBox="1"/>
          <p:nvPr/>
        </p:nvSpPr>
        <p:spPr>
          <a:xfrm>
            <a:off x="8310677" y="4023360"/>
            <a:ext cx="731520" cy="457200"/>
          </a:xfrm>
          <a:prstGeom prst="rect">
            <a:avLst/>
          </a:prstGeom>
          <a:noFill/>
          <a:ln/>
        </p:spPr>
        <p:txBody>
          <a:bodyPr wrap="square" lIns="0" tIns="0" rIns="0" bIns="0" rtlCol="0" anchor="t"/>
          <a:lstStyle/>
          <a:p>
            <a:pPr indent="0" marL="0">
              <a:spcAft>
                <a:spcPts val="400"/>
              </a:spcAft>
              <a:buNone/>
            </a:pPr>
            <a:r>
              <a:rPr lang="en-US" sz="2400" b="1" dirty="0">
                <a:solidFill>
                  <a:schemeClr val="accent1"/>
                </a:solidFill>
              </a:rPr>
              <a:t>A2</a:t>
            </a:r>
            <a:endParaRPr lang="en-US" sz="2400" dirty="0"/>
          </a:p>
        </p:txBody>
      </p:sp>
      <p:sp>
        <p:nvSpPr>
          <p:cNvPr id="34" name="Text 32"/>
          <p:cNvSpPr txBox="1"/>
          <p:nvPr/>
        </p:nvSpPr>
        <p:spPr>
          <a:xfrm>
            <a:off x="9042197" y="4087368"/>
            <a:ext cx="2417978" cy="36576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Coding agent с модулем</a:t>
            </a:r>
            <a:endParaRPr lang="en-US" sz="1500" dirty="0"/>
          </a:p>
        </p:txBody>
      </p:sp>
      <p:sp>
        <p:nvSpPr>
          <p:cNvPr id="35" name="Text 33"/>
          <p:cNvSpPr txBox="1"/>
          <p:nvPr/>
        </p:nvSpPr>
        <p:spPr>
          <a:xfrm>
            <a:off x="8310677" y="4526280"/>
            <a:ext cx="3149498" cy="68580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Наш инженер. Тот же агент и те же репозитории плюс отчёт модуля</a:t>
            </a:r>
            <a:endParaRPr lang="en-US" sz="1300" dirty="0"/>
          </a:p>
        </p:txBody>
      </p:sp>
      <p:sp>
        <p:nvSpPr>
          <p:cNvPr id="36" name="Text 34"/>
          <p:cNvSpPr txBox="1"/>
          <p:nvPr/>
        </p:nvSpPr>
        <p:spPr>
          <a:xfrm>
            <a:off x="548640" y="5440680"/>
            <a:ext cx="11094415" cy="5486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Эталон: </a:t>
            </a:r>
            <a:pPr indent="0" marL="0">
              <a:spcAft>
                <a:spcPts val="400"/>
              </a:spcAft>
              <a:buNone/>
            </a:pPr>
            <a:r>
              <a:rPr lang="en-US" sz="1400" dirty="0">
                <a:solidFill>
                  <a:schemeClr val="tx1"/>
                </a:solidFill>
              </a:rPr>
              <a:t>сотрудник клиента, который не автор и не оператор, вслепую размечает всех найденных кандидатов: затронут ли, насколько серьёзно, на каком основании. Он не знает, какая ветка что нашла.</a:t>
            </a:r>
            <a:endParaRPr lang="en-US" sz="1500" dirty="0"/>
          </a:p>
        </p:txBody>
      </p:sp>
      <p:sp>
        <p:nvSpPr>
          <p:cNvPr id="37" name="Text 35"/>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100" dirty="0">
                <a:solidFill>
                  <a:schemeClr val="accent5"/>
                </a:solidFill>
              </a:rPr>
              <a:t>Если coding agent у вас не разрешён, пилот ответит только на вопрос "лучше ли текущего процесса". Мы скажем об этом до старта.</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От вашей команды нужно около 12-16 часов и доступ на чтение; основную работу делаем мы</a:t>
            </a:r>
            <a:endParaRPr lang="en-US" sz="2800" dirty="0"/>
          </a:p>
        </p:txBody>
      </p:sp>
      <p:sp>
        <p:nvSpPr>
          <p:cNvPr id="3" name="chip-hyp"/>
          <p:cNvSpPr/>
          <p:nvPr/>
        </p:nvSpPr>
        <p:spPr>
          <a:xfrm>
            <a:off x="548640" y="1463040"/>
            <a:ext cx="5544922"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5544922"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ГИПОТЕЗА · часы это оценка до замера; в пилоте записываем каждую минуту</a:t>
            </a:r>
            <a:endParaRPr lang="en-US" sz="1050" dirty="0"/>
          </a:p>
        </p:txBody>
      </p:sp>
      <p:sp>
        <p:nvSpPr>
          <p:cNvPr id="5" name="us"/>
          <p:cNvSpPr/>
          <p:nvPr/>
        </p:nvSpPr>
        <p:spPr>
          <a:xfrm>
            <a:off x="548640" y="1965960"/>
            <a:ext cx="5120640" cy="4160520"/>
          </a:xfrm>
          <a:prstGeom prst="roundRect">
            <a:avLst>
              <a:gd name="adj" fmla="val 2198"/>
            </a:avLst>
          </a:prstGeom>
          <a:solidFill>
            <a:schemeClr val="bg2"/>
          </a:solidFill>
          <a:ln w="6350">
            <a:solidFill>
              <a:schemeClr val="bg2"/>
            </a:solidFill>
            <a:prstDash val="solid"/>
          </a:ln>
        </p:spPr>
      </p:sp>
      <p:sp>
        <p:nvSpPr>
          <p:cNvPr id="6" name="Text 4"/>
          <p:cNvSpPr txBox="1"/>
          <p:nvPr/>
        </p:nvSpPr>
        <p:spPr>
          <a:xfrm>
            <a:off x="777240" y="2103120"/>
            <a:ext cx="4663440" cy="365760"/>
          </a:xfrm>
          <a:prstGeom prst="rect">
            <a:avLst/>
          </a:prstGeom>
          <a:noFill/>
          <a:ln/>
        </p:spPr>
        <p:txBody>
          <a:bodyPr wrap="square" lIns="0" tIns="0" rIns="0" bIns="0" rtlCol="0" anchor="t"/>
          <a:lstStyle/>
          <a:p>
            <a:pPr indent="0" marL="0">
              <a:spcAft>
                <a:spcPts val="400"/>
              </a:spcAft>
              <a:buNone/>
            </a:pPr>
            <a:r>
              <a:rPr lang="en-US" sz="1900" b="1" dirty="0">
                <a:solidFill>
                  <a:schemeClr val="accent1"/>
                </a:solidFill>
              </a:rPr>
              <a:t>Наша команда</a:t>
            </a:r>
            <a:endParaRPr lang="en-US" sz="1900" dirty="0"/>
          </a:p>
        </p:txBody>
      </p:sp>
      <p:sp>
        <p:nvSpPr>
          <p:cNvPr id="7" name="Text 5"/>
          <p:cNvSpPr txBox="1"/>
          <p:nvPr/>
        </p:nvSpPr>
        <p:spPr>
          <a:xfrm>
            <a:off x="777240" y="2606040"/>
            <a:ext cx="4663440" cy="3429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Ставит инструмент в вашем контуре: Linux, ВМ или WSL2</a:t>
            </a:r>
            <a:endParaRPr lang="en-US" sz="1500" dirty="0"/>
          </a:p>
          <a:p>
            <a:pPr marL="203200" indent="-203200">
              <a:spcAft>
                <a:spcPts val="600"/>
              </a:spcAft>
              <a:buSzPct val="100000"/>
              <a:buChar char="•"/>
            </a:pPr>
            <a:r>
              <a:rPr lang="en-US" sz="1500" dirty="0">
                <a:solidFill>
                  <a:schemeClr val="tx1"/>
                </a:solidFill>
              </a:rPr>
              <a:t>Настраивает репозитории, адреса и соответствие сервисам</a:t>
            </a:r>
            <a:endParaRPr lang="en-US" sz="1500" dirty="0"/>
          </a:p>
          <a:p>
            <a:pPr marL="203200" indent="-203200">
              <a:spcAft>
                <a:spcPts val="600"/>
              </a:spcAft>
              <a:buSzPct val="100000"/>
              <a:buChar char="•"/>
            </a:pPr>
            <a:r>
              <a:rPr lang="en-US" sz="1500" dirty="0">
                <a:solidFill>
                  <a:schemeClr val="tx1"/>
                </a:solidFill>
              </a:rPr>
              <a:t>По каждому изменению выпускает отчёт до merge, если PR сообщён хотя бы за рабочий день</a:t>
            </a:r>
            <a:endParaRPr lang="en-US" sz="1500" dirty="0"/>
          </a:p>
          <a:p>
            <a:pPr marL="203200" indent="-203200">
              <a:spcAft>
                <a:spcPts val="600"/>
              </a:spcAft>
              <a:buSzPct val="100000"/>
              <a:buChar char="•"/>
            </a:pPr>
            <a:r>
              <a:rPr lang="en-US" sz="1500" dirty="0">
                <a:solidFill>
                  <a:schemeClr val="tx1"/>
                </a:solidFill>
              </a:rPr>
              <a:t>Ведёт журнал труда своей стороны</a:t>
            </a:r>
            <a:endParaRPr lang="en-US" sz="1500" dirty="0"/>
          </a:p>
          <a:p>
            <a:pPr marL="203200" indent="-203200">
              <a:spcAft>
                <a:spcPts val="600"/>
              </a:spcAft>
              <a:buSzPct val="100000"/>
              <a:buChar char="•"/>
            </a:pPr>
            <a:r>
              <a:rPr lang="en-US" sz="1500" dirty="0">
                <a:solidFill>
                  <a:schemeClr val="tx1"/>
                </a:solidFill>
              </a:rPr>
              <a:t>Следит, чтобы оператор A1 не видел отчётов модуля</a:t>
            </a:r>
            <a:endParaRPr lang="en-US" sz="1500" dirty="0"/>
          </a:p>
          <a:p>
            <a:pPr marL="203200" indent="-203200">
              <a:spcAft>
                <a:spcPts val="600"/>
              </a:spcAft>
              <a:buSzPct val="100000"/>
              <a:buChar char="•"/>
            </a:pPr>
            <a:r>
              <a:rPr lang="en-US" sz="1500" dirty="0">
                <a:solidFill>
                  <a:schemeClr val="tx1"/>
                </a:solidFill>
              </a:rPr>
              <a:t>Готовит итог с абсолютными числами по каждой задаче</a:t>
            </a:r>
            <a:endParaRPr lang="en-US" sz="1500" dirty="0"/>
          </a:p>
        </p:txBody>
      </p:sp>
      <p:sp>
        <p:nvSpPr>
          <p:cNvPr id="8" name="Text 6"/>
          <p:cNvSpPr txBox="1"/>
          <p:nvPr/>
        </p:nvSpPr>
        <p:spPr>
          <a:xfrm>
            <a:off x="5943600" y="1965960"/>
            <a:ext cx="5699455" cy="36576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Ваша команда</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0" y="2423160"/>
          <a:ext cx="5699455" cy="914400"/>
        </p:xfrm>
        <a:graphic>
          <a:graphicData uri="http://schemas.openxmlformats.org/drawingml/2006/table">
            <a:tbl>
              <a:tblPr/>
              <a:tblGrid>
                <a:gridCol w="1417320"/>
                <a:gridCol w="3154680"/>
                <a:gridCol w="1127455"/>
              </a:tblGrid>
              <a:tr h="0">
                <a:tc>
                  <a:txBody>
                    <a:bodyPr/>
                    <a:lstStyle/>
                    <a:p>
                      <a:pPr indent="0" marL="0">
                        <a:buNone/>
                      </a:pPr>
                      <a:r>
                        <a:rPr lang="en-US" sz="1300" b="1" dirty="0">
                          <a:solidFill>
                            <a:schemeClr val="bg1"/>
                          </a:solidFill>
                        </a:rPr>
                        <a:t>Роль</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Что делает</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Оценка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r>
              <a:tr h="0">
                <a:tc>
                  <a:txBody>
                    <a:bodyPr/>
                    <a:lstStyle/>
                    <a:p>
                      <a:pPr indent="0" marL="0">
                        <a:buNone/>
                      </a:pPr>
                      <a:r>
                        <a:rPr lang="en-US" sz="1300" b="1" dirty="0">
                          <a:solidFill>
                            <a:schemeClr val="tx1"/>
                          </a:solidFill>
                        </a:rPr>
                        <a:t>Техлид API</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Интервью, проба, подтверждение настроек, итоговая встреча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4-5 ч</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Автор изменения</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Сообщает о PR, читает отчёт, записывает, что сделал</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15-20 мин на изменение</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Разметчик</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Собирает эталон вслепую, не автор изменений</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30 мин на изменение</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Оператор агента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Запускает ваш coding agent по заданию. Может быть человек с нашей стороны</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30-45 мин на изменение</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10" name="guarantees"/>
          <p:cNvSpPr/>
          <p:nvPr/>
        </p:nvSpPr>
        <p:spPr>
          <a:xfrm>
            <a:off x="5943600" y="5074920"/>
            <a:ext cx="5699455" cy="1051560"/>
          </a:xfrm>
          <a:prstGeom prst="roundRect">
            <a:avLst>
              <a:gd name="adj" fmla="val 8696"/>
            </a:avLst>
          </a:prstGeom>
          <a:solidFill>
            <a:schemeClr val="accent1">
              <a:alpha val="10000"/>
            </a:schemeClr>
          </a:solidFill>
          <a:ln w="6350">
            <a:solidFill>
              <a:schemeClr val="bg2"/>
            </a:solidFill>
            <a:prstDash val="solid"/>
          </a:ln>
        </p:spPr>
      </p:sp>
      <p:sp>
        <p:nvSpPr>
          <p:cNvPr id="11" name="Text 8"/>
          <p:cNvSpPr txBox="1"/>
          <p:nvPr/>
        </p:nvSpPr>
        <p:spPr>
          <a:xfrm>
            <a:off x="6126480" y="5148072"/>
            <a:ext cx="5333695" cy="9601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Код не покидает ваш контур, ИИ-модель выключена</a:t>
            </a:r>
            <a:endParaRPr lang="en-US" sz="1500" dirty="0"/>
          </a:p>
          <a:p>
            <a:pPr marL="203200" indent="-203200">
              <a:spcAft>
                <a:spcPts val="600"/>
              </a:spcAft>
              <a:buSzPct val="100000"/>
              <a:buChar char="•"/>
            </a:pPr>
            <a:r>
              <a:rPr lang="en-US" sz="1300" dirty="0">
                <a:solidFill>
                  <a:schemeClr val="tx1"/>
                </a:solidFill>
              </a:rPr>
              <a:t>Пилот бесплатный; цену обсуждаем только после измерений</a:t>
            </a:r>
            <a:endParaRPr lang="en-US" sz="1500" dirty="0"/>
          </a:p>
          <a:p>
            <a:pPr marL="203200" indent="-203200">
              <a:spcAft>
                <a:spcPts val="600"/>
              </a:spcAft>
              <a:buSzPct val="100000"/>
              <a:buChar char="•"/>
            </a:pPr>
            <a:r>
              <a:rPr lang="en-US" sz="1300" dirty="0">
                <a:solidFill>
                  <a:schemeClr val="tx1"/>
                </a:solidFill>
              </a:rPr>
              <a:t>Публикуем только обезличенные итоги и только с вашего согласия</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Критерии записаны до старта: решение принимаем по вашим числам, а не по впечатлению</a:t>
            </a:r>
            <a:endParaRPr lang="en-US" sz="2800" dirty="0"/>
          </a:p>
        </p:txBody>
      </p:sp>
      <p:sp>
        <p:nvSpPr>
          <p:cNvPr id="3" name="chip-plan"/>
          <p:cNvSpPr/>
          <p:nvPr/>
        </p:nvSpPr>
        <p:spPr>
          <a:xfrm>
            <a:off x="548640" y="1463040"/>
            <a:ext cx="4965192" cy="274320"/>
          </a:xfrm>
          <a:prstGeom prst="roundRect">
            <a:avLst>
              <a:gd name="adj" fmla="val 26667"/>
            </a:avLst>
          </a:prstGeom>
          <a:solidFill>
            <a:schemeClr val="accent3">
              <a:alpha val="14000"/>
            </a:schemeClr>
          </a:solidFill>
          <a:ln w="9525">
            <a:solidFill>
              <a:schemeClr val="accent3"/>
            </a:solidFill>
            <a:prstDash val="solid"/>
          </a:ln>
        </p:spPr>
      </p:sp>
      <p:sp>
        <p:nvSpPr>
          <p:cNvPr id="4" name="Text 2"/>
          <p:cNvSpPr txBox="1"/>
          <p:nvPr/>
        </p:nvSpPr>
        <p:spPr>
          <a:xfrm>
            <a:off x="548640" y="1463040"/>
            <a:ext cx="4965192"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 · критерии зафиксированы заранее и не меняются после данных</a:t>
            </a:r>
            <a:endParaRPr lang="en-US" sz="1050" dirty="0"/>
          </a:p>
        </p:txBody>
      </p:sp>
      <p:sp>
        <p:nvSpPr>
          <p:cNvPr id="5" name="outcome"/>
          <p:cNvSpPr/>
          <p:nvPr/>
        </p:nvSpPr>
        <p:spPr>
          <a:xfrm>
            <a:off x="548640" y="1920240"/>
            <a:ext cx="3515258" cy="2971800"/>
          </a:xfrm>
          <a:prstGeom prst="roundRect">
            <a:avLst>
              <a:gd name="adj" fmla="val 3077"/>
            </a:avLst>
          </a:prstGeom>
          <a:solidFill>
            <a:schemeClr val="bg2"/>
          </a:solidFill>
          <a:ln w="6350">
            <a:solidFill>
              <a:schemeClr val="bg2"/>
            </a:solidFill>
            <a:prstDash val="solid"/>
          </a:ln>
        </p:spPr>
      </p:sp>
      <p:sp>
        <p:nvSpPr>
          <p:cNvPr id="6" name="Shape 4"/>
          <p:cNvSpPr/>
          <p:nvPr/>
        </p:nvSpPr>
        <p:spPr>
          <a:xfrm>
            <a:off x="777240" y="2103120"/>
            <a:ext cx="292608" cy="292608"/>
          </a:xfrm>
          <a:prstGeom prst="ellipse">
            <a:avLst/>
          </a:prstGeom>
          <a:solidFill>
            <a:schemeClr val="accent1"/>
          </a:solidFill>
          <a:ln w="12700">
            <a:solidFill>
              <a:schemeClr val="accent1"/>
            </a:solidFill>
            <a:prstDash val="solid"/>
          </a:ln>
        </p:spPr>
      </p:sp>
      <p:sp>
        <p:nvSpPr>
          <p:cNvPr id="7" name="Text 5"/>
          <p:cNvSpPr txBox="1"/>
          <p:nvPr/>
        </p:nvSpPr>
        <p:spPr>
          <a:xfrm>
            <a:off x="1188720" y="2057400"/>
            <a:ext cx="2692298" cy="384048"/>
          </a:xfrm>
          <a:prstGeom prst="rect">
            <a:avLst/>
          </a:prstGeom>
          <a:noFill/>
          <a:ln/>
        </p:spPr>
        <p:txBody>
          <a:bodyPr wrap="square" lIns="0" tIns="0" rIns="0" bIns="0" rtlCol="0" anchor="t"/>
          <a:lstStyle/>
          <a:p>
            <a:pPr indent="0" marL="0">
              <a:spcAft>
                <a:spcPts val="400"/>
              </a:spcAft>
              <a:buNone/>
            </a:pPr>
            <a:r>
              <a:rPr lang="en-US" sz="1900" b="1" dirty="0">
                <a:solidFill>
                  <a:schemeClr val="accent1"/>
                </a:solidFill>
              </a:rPr>
              <a:t>Продолжить</a:t>
            </a:r>
            <a:endParaRPr lang="en-US" sz="1900" dirty="0"/>
          </a:p>
        </p:txBody>
      </p:sp>
      <p:sp>
        <p:nvSpPr>
          <p:cNvPr id="8" name="Text 6"/>
          <p:cNvSpPr txBox="1"/>
          <p:nvPr/>
        </p:nvSpPr>
        <p:spPr>
          <a:xfrm>
            <a:off x="777240" y="2560320"/>
            <a:ext cx="3058058" cy="1325880"/>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Серьёзных пропусков у модуля не больше, чем у агента без него, и полный труд не больше 80%, включая подключение. И вы сами сделали следующий шаг</a:t>
            </a:r>
            <a:endParaRPr lang="en-US" sz="1350" dirty="0"/>
          </a:p>
        </p:txBody>
      </p:sp>
      <p:sp>
        <p:nvSpPr>
          <p:cNvPr id="9" name="Text 7"/>
          <p:cNvSpPr txBox="1"/>
          <p:nvPr/>
        </p:nvSpPr>
        <p:spPr>
          <a:xfrm>
            <a:off x="777240" y="3931920"/>
            <a:ext cx="3058058" cy="868680"/>
          </a:xfrm>
          <a:prstGeom prst="rect">
            <a:avLst/>
          </a:prstGeom>
          <a:noFill/>
          <a:ln/>
        </p:spPr>
        <p:txBody>
          <a:bodyPr wrap="square" lIns="0" tIns="0" rIns="0" bIns="0" rtlCol="0" anchor="t"/>
          <a:lstStyle/>
          <a:p>
            <a:pPr indent="0" marL="0">
              <a:spcAft>
                <a:spcPts val="400"/>
              </a:spcAft>
              <a:buNone/>
            </a:pPr>
            <a:r>
              <a:rPr lang="en-US" sz="1350" b="1" dirty="0">
                <a:solidFill>
                  <a:schemeClr val="tx1"/>
                </a:solidFill>
              </a:rPr>
              <a:t>Что дальше: </a:t>
            </a:r>
            <a:pPr indent="0" marL="0">
              <a:spcAft>
                <a:spcPts val="400"/>
              </a:spcAft>
              <a:buNone/>
            </a:pPr>
            <a:r>
              <a:rPr lang="en-US" sz="1350" dirty="0">
                <a:solidFill>
                  <a:schemeClr val="tx1"/>
                </a:solidFill>
              </a:rPr>
              <a:t>Предложение платного продолжения по цене, посчитанной из измерений</a:t>
            </a:r>
            <a:endParaRPr lang="en-US" sz="1500" dirty="0"/>
          </a:p>
        </p:txBody>
      </p:sp>
      <p:sp>
        <p:nvSpPr>
          <p:cNvPr id="10" name="outcome"/>
          <p:cNvSpPr/>
          <p:nvPr/>
        </p:nvSpPr>
        <p:spPr>
          <a:xfrm>
            <a:off x="4338218" y="1920240"/>
            <a:ext cx="3515258" cy="2971800"/>
          </a:xfrm>
          <a:prstGeom prst="roundRect">
            <a:avLst>
              <a:gd name="adj" fmla="val 3077"/>
            </a:avLst>
          </a:prstGeom>
          <a:solidFill>
            <a:schemeClr val="bg2"/>
          </a:solidFill>
          <a:ln w="6350">
            <a:solidFill>
              <a:schemeClr val="bg2"/>
            </a:solidFill>
            <a:prstDash val="solid"/>
          </a:ln>
        </p:spPr>
      </p:sp>
      <p:sp>
        <p:nvSpPr>
          <p:cNvPr id="11" name="Shape 9"/>
          <p:cNvSpPr/>
          <p:nvPr/>
        </p:nvSpPr>
        <p:spPr>
          <a:xfrm>
            <a:off x="4566818" y="2103120"/>
            <a:ext cx="292608" cy="292608"/>
          </a:xfrm>
          <a:prstGeom prst="ellipse">
            <a:avLst/>
          </a:prstGeom>
          <a:solidFill>
            <a:schemeClr val="accent2"/>
          </a:solidFill>
          <a:ln w="12700">
            <a:solidFill>
              <a:schemeClr val="accent2"/>
            </a:solidFill>
            <a:prstDash val="solid"/>
          </a:ln>
        </p:spPr>
      </p:sp>
      <p:sp>
        <p:nvSpPr>
          <p:cNvPr id="12" name="Text 10"/>
          <p:cNvSpPr txBox="1"/>
          <p:nvPr/>
        </p:nvSpPr>
        <p:spPr>
          <a:xfrm>
            <a:off x="4978298" y="2057400"/>
            <a:ext cx="2692298" cy="384048"/>
          </a:xfrm>
          <a:prstGeom prst="rect">
            <a:avLst/>
          </a:prstGeom>
          <a:noFill/>
          <a:ln/>
        </p:spPr>
        <p:txBody>
          <a:bodyPr wrap="square" lIns="0" tIns="0" rIns="0" bIns="0" rtlCol="0" anchor="t"/>
          <a:lstStyle/>
          <a:p>
            <a:pPr indent="0" marL="0">
              <a:spcAft>
                <a:spcPts val="400"/>
              </a:spcAft>
              <a:buNone/>
            </a:pPr>
            <a:r>
              <a:rPr lang="en-US" sz="1900" b="1" dirty="0">
                <a:solidFill>
                  <a:schemeClr val="accent2"/>
                </a:solidFill>
              </a:rPr>
              <a:t>Изменить подход</a:t>
            </a:r>
            <a:endParaRPr lang="en-US" sz="1900" dirty="0"/>
          </a:p>
        </p:txBody>
      </p:sp>
      <p:sp>
        <p:nvSpPr>
          <p:cNvPr id="13" name="Text 11"/>
          <p:cNvSpPr txBox="1"/>
          <p:nvPr/>
        </p:nvSpPr>
        <p:spPr>
          <a:xfrm>
            <a:off x="4566818" y="2560320"/>
            <a:ext cx="3058058" cy="1325880"/>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Пропусков не больше, но выигрыш по труду есть только после подключения, или только в проверяемости ответа</a:t>
            </a:r>
            <a:endParaRPr lang="en-US" sz="1350" dirty="0"/>
          </a:p>
        </p:txBody>
      </p:sp>
      <p:sp>
        <p:nvSpPr>
          <p:cNvPr id="14" name="Text 12"/>
          <p:cNvSpPr txBox="1"/>
          <p:nvPr/>
        </p:nvSpPr>
        <p:spPr>
          <a:xfrm>
            <a:off x="4566818" y="3931920"/>
            <a:ext cx="3058058" cy="868680"/>
          </a:xfrm>
          <a:prstGeom prst="rect">
            <a:avLst/>
          </a:prstGeom>
          <a:noFill/>
          <a:ln/>
        </p:spPr>
        <p:txBody>
          <a:bodyPr wrap="square" lIns="0" tIns="0" rIns="0" bIns="0" rtlCol="0" anchor="t"/>
          <a:lstStyle/>
          <a:p>
            <a:pPr indent="0" marL="0">
              <a:spcAft>
                <a:spcPts val="400"/>
              </a:spcAft>
              <a:buNone/>
            </a:pPr>
            <a:r>
              <a:rPr lang="en-US" sz="1350" b="1" dirty="0">
                <a:solidFill>
                  <a:schemeClr val="tx1"/>
                </a:solidFill>
              </a:rPr>
              <a:t>Что дальше: </a:t>
            </a:r>
            <a:pPr indent="0" marL="0">
              <a:spcAft>
                <a:spcPts val="400"/>
              </a:spcAft>
              <a:buNone/>
            </a:pPr>
            <a:r>
              <a:rPr lang="en-US" sz="1350" dirty="0">
                <a:solidFill>
                  <a:schemeClr val="tx1"/>
                </a:solidFill>
              </a:rPr>
              <a:t>Автоматизируем подключение или проверяем роль "проверки находок агента"</a:t>
            </a:r>
            <a:endParaRPr lang="en-US" sz="1500" dirty="0"/>
          </a:p>
        </p:txBody>
      </p:sp>
      <p:sp>
        <p:nvSpPr>
          <p:cNvPr id="15" name="outcome"/>
          <p:cNvSpPr/>
          <p:nvPr/>
        </p:nvSpPr>
        <p:spPr>
          <a:xfrm>
            <a:off x="8127797" y="1920240"/>
            <a:ext cx="3515258" cy="2971800"/>
          </a:xfrm>
          <a:prstGeom prst="roundRect">
            <a:avLst>
              <a:gd name="adj" fmla="val 3077"/>
            </a:avLst>
          </a:prstGeom>
          <a:solidFill>
            <a:schemeClr val="bg2"/>
          </a:solidFill>
          <a:ln w="6350">
            <a:solidFill>
              <a:schemeClr val="bg2"/>
            </a:solidFill>
            <a:prstDash val="solid"/>
          </a:ln>
        </p:spPr>
      </p:sp>
      <p:sp>
        <p:nvSpPr>
          <p:cNvPr id="16" name="Shape 14"/>
          <p:cNvSpPr/>
          <p:nvPr/>
        </p:nvSpPr>
        <p:spPr>
          <a:xfrm>
            <a:off x="8356397" y="2103120"/>
            <a:ext cx="292608" cy="292608"/>
          </a:xfrm>
          <a:prstGeom prst="ellipse">
            <a:avLst/>
          </a:prstGeom>
          <a:solidFill>
            <a:schemeClr val="accent4"/>
          </a:solidFill>
          <a:ln w="12700">
            <a:solidFill>
              <a:schemeClr val="accent4"/>
            </a:solidFill>
            <a:prstDash val="solid"/>
          </a:ln>
        </p:spPr>
      </p:sp>
      <p:sp>
        <p:nvSpPr>
          <p:cNvPr id="17" name="Text 15"/>
          <p:cNvSpPr txBox="1"/>
          <p:nvPr/>
        </p:nvSpPr>
        <p:spPr>
          <a:xfrm>
            <a:off x="8767877" y="2057400"/>
            <a:ext cx="2692298" cy="384048"/>
          </a:xfrm>
          <a:prstGeom prst="rect">
            <a:avLst/>
          </a:prstGeom>
          <a:noFill/>
          <a:ln/>
        </p:spPr>
        <p:txBody>
          <a:bodyPr wrap="square" lIns="0" tIns="0" rIns="0" bIns="0" rtlCol="0" anchor="t"/>
          <a:lstStyle/>
          <a:p>
            <a:pPr indent="0" marL="0">
              <a:spcAft>
                <a:spcPts val="400"/>
              </a:spcAft>
              <a:buNone/>
            </a:pPr>
            <a:r>
              <a:rPr lang="en-US" sz="1900" b="1" dirty="0">
                <a:solidFill>
                  <a:schemeClr val="accent4"/>
                </a:solidFill>
              </a:rPr>
              <a:t>Остановить</a:t>
            </a:r>
            <a:endParaRPr lang="en-US" sz="1900" dirty="0"/>
          </a:p>
        </p:txBody>
      </p:sp>
      <p:sp>
        <p:nvSpPr>
          <p:cNvPr id="18" name="Text 16"/>
          <p:cNvSpPr txBox="1"/>
          <p:nvPr/>
        </p:nvSpPr>
        <p:spPr>
          <a:xfrm>
            <a:off x="8356397" y="2560320"/>
            <a:ext cx="3058058" cy="1325880"/>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Модуль пропустил больше серьёзных потребителей, чем агент без него, или проба покрытия не пройдена</a:t>
            </a:r>
            <a:endParaRPr lang="en-US" sz="1350" dirty="0"/>
          </a:p>
        </p:txBody>
      </p:sp>
      <p:sp>
        <p:nvSpPr>
          <p:cNvPr id="19" name="Text 17"/>
          <p:cNvSpPr txBox="1"/>
          <p:nvPr/>
        </p:nvSpPr>
        <p:spPr>
          <a:xfrm>
            <a:off x="8356397" y="3931920"/>
            <a:ext cx="3058058" cy="868680"/>
          </a:xfrm>
          <a:prstGeom prst="rect">
            <a:avLst/>
          </a:prstGeom>
          <a:noFill/>
          <a:ln/>
        </p:spPr>
        <p:txBody>
          <a:bodyPr wrap="square" lIns="0" tIns="0" rIns="0" bIns="0" rtlCol="0" anchor="t"/>
          <a:lstStyle/>
          <a:p>
            <a:pPr indent="0" marL="0">
              <a:spcAft>
                <a:spcPts val="400"/>
              </a:spcAft>
              <a:buNone/>
            </a:pPr>
            <a:r>
              <a:rPr lang="en-US" sz="1350" b="1" dirty="0">
                <a:solidFill>
                  <a:schemeClr val="tx1"/>
                </a:solidFill>
              </a:rPr>
              <a:t>Что дальше: </a:t>
            </a:r>
            <a:pPr indent="0" marL="0">
              <a:spcAft>
                <a:spcPts val="400"/>
              </a:spcAft>
              <a:buNone/>
            </a:pPr>
            <a:r>
              <a:rPr lang="en-US" sz="1350" dirty="0">
                <a:solidFill>
                  <a:schemeClr val="tx1"/>
                </a:solidFill>
              </a:rPr>
              <a:t>Говорим прямо, что инструмент вам не нужен, и разбираем каждый пропуск</a:t>
            </a:r>
            <a:endParaRPr lang="en-US" sz="1500" dirty="0"/>
          </a:p>
        </p:txBody>
      </p:sp>
      <p:sp>
        <p:nvSpPr>
          <p:cNvPr id="20" name="Text 18"/>
          <p:cNvSpPr txBox="1"/>
          <p:nvPr/>
        </p:nvSpPr>
        <p:spPr>
          <a:xfrm>
            <a:off x="548640" y="5074920"/>
            <a:ext cx="6766560"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Что считаем</a:t>
            </a:r>
            <a:endParaRPr lang="en-US" sz="1600" dirty="0"/>
          </a:p>
        </p:txBody>
      </p:sp>
      <p:sp>
        <p:nvSpPr>
          <p:cNvPr id="21" name="Text 19"/>
          <p:cNvSpPr txBox="1"/>
          <p:nvPr/>
        </p:nvSpPr>
        <p:spPr>
          <a:xfrm>
            <a:off x="548640" y="5413248"/>
            <a:ext cx="6766560" cy="8686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Серьёзный пропуск: потребитель из эталона с молчаливой порчей данных или явным сбоем, которого нет в итоговом списке</a:t>
            </a:r>
            <a:endParaRPr lang="en-US" sz="1500" dirty="0"/>
          </a:p>
          <a:p>
            <a:pPr marL="203200" indent="-203200">
              <a:spcAft>
                <a:spcPts val="600"/>
              </a:spcAft>
              <a:buSzPct val="100000"/>
              <a:buChar char="•"/>
            </a:pPr>
            <a:r>
              <a:rPr lang="en-US" sz="1300" dirty="0">
                <a:solidFill>
                  <a:schemeClr val="tx1"/>
                </a:solidFill>
              </a:rPr>
              <a:t>Полный труд: активные минуты людей обеих сторон, включая подключение и разбор ложных предупреждений</a:t>
            </a:r>
            <a:endParaRPr lang="en-US" sz="1500" dirty="0"/>
          </a:p>
        </p:txBody>
      </p:sp>
      <p:sp>
        <p:nvSpPr>
          <p:cNvPr id="22" name="Text 20"/>
          <p:cNvSpPr txBox="1"/>
          <p:nvPr/>
        </p:nvSpPr>
        <p:spPr>
          <a:xfrm>
            <a:off x="7589520" y="5120640"/>
            <a:ext cx="4053535" cy="822960"/>
          </a:xfrm>
          <a:prstGeom prst="rect">
            <a:avLst/>
          </a:prstGeom>
          <a:noFill/>
          <a:ln/>
        </p:spPr>
        <p:txBody>
          <a:bodyPr wrap="square" lIns="0" tIns="0" rIns="0" bIns="0" rtlCol="0" anchor="t"/>
          <a:lstStyle/>
          <a:p>
            <a:pPr indent="0" marL="0">
              <a:buNone/>
            </a:pPr>
            <a:r>
              <a:rPr lang="en-US" sz="1100" dirty="0">
                <a:solidFill>
                  <a:schemeClr val="accent5"/>
                </a:solidFill>
              </a:rPr>
              <a:t>12 задач у одного клиента дают диагностику, а не статистическое доказательство. Положительный итог открывает следующий шаг, а не подтверждает рынок.</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Предлагаем сегодня договориться о четырёх вещах</a:t>
            </a:r>
            <a:endParaRPr lang="en-US" sz="3200" dirty="0"/>
          </a:p>
        </p:txBody>
      </p:sp>
      <p:sp>
        <p:nvSpPr>
          <p:cNvPr id="3" name="Shape 1"/>
          <p:cNvSpPr/>
          <p:nvPr/>
        </p:nvSpPr>
        <p:spPr>
          <a:xfrm>
            <a:off x="548640" y="1463040"/>
            <a:ext cx="2567864" cy="3840480"/>
          </a:xfrm>
          <a:prstGeom prst="roundRect">
            <a:avLst>
              <a:gd name="adj" fmla="val 3561"/>
            </a:avLst>
          </a:prstGeom>
          <a:solidFill>
            <a:schemeClr val="bg1">
              <a:alpha val="8000"/>
            </a:schemeClr>
          </a:solidFill>
          <a:ln w="12700">
            <a:solidFill>
              <a:schemeClr val="accent6"/>
            </a:solidFill>
            <a:prstDash val="solid"/>
          </a:ln>
        </p:spPr>
      </p:sp>
      <p:sp>
        <p:nvSpPr>
          <p:cNvPr id="4" name="Shape 2"/>
          <p:cNvSpPr/>
          <p:nvPr/>
        </p:nvSpPr>
        <p:spPr>
          <a:xfrm>
            <a:off x="777240" y="1691640"/>
            <a:ext cx="457200" cy="457200"/>
          </a:xfrm>
          <a:prstGeom prst="ellipse">
            <a:avLst/>
          </a:prstGeom>
          <a:solidFill>
            <a:schemeClr val="accent6"/>
          </a:solidFill>
          <a:ln w="12700">
            <a:solidFill>
              <a:schemeClr val="accent6"/>
            </a:solidFill>
            <a:prstDash val="solid"/>
          </a:ln>
        </p:spPr>
      </p:sp>
      <p:sp>
        <p:nvSpPr>
          <p:cNvPr id="5" name="Text 3"/>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Text 4"/>
          <p:cNvSpPr txBox="1"/>
          <p:nvPr/>
        </p:nvSpPr>
        <p:spPr>
          <a:xfrm>
            <a:off x="777240" y="2331720"/>
            <a:ext cx="2110664" cy="6400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rPr>
              <a:t>Предмет пилота</a:t>
            </a:r>
            <a:endParaRPr lang="en-US" sz="1900" dirty="0"/>
          </a:p>
        </p:txBody>
      </p:sp>
      <p:sp>
        <p:nvSpPr>
          <p:cNvPr id="7" name="Text 5"/>
          <p:cNvSpPr txBox="1"/>
          <p:nvPr/>
        </p:nvSpPr>
        <p:spPr>
          <a:xfrm>
            <a:off x="777240" y="3017520"/>
            <a:ext cx="2110664" cy="1691640"/>
          </a:xfrm>
          <a:prstGeom prst="rect">
            <a:avLst/>
          </a:prstGeom>
          <a:noFill/>
          <a:ln/>
        </p:spPr>
        <p:txBody>
          <a:bodyPr wrap="square" lIns="0" tIns="0" rIns="0" bIns="0" rtlCol="0" anchor="t"/>
          <a:lstStyle/>
          <a:p>
            <a:pPr indent="0" marL="0">
              <a:spcAft>
                <a:spcPts val="400"/>
              </a:spcAft>
              <a:buNone/>
            </a:pPr>
            <a:r>
              <a:rPr lang="en-US" sz="1400" dirty="0">
                <a:solidFill>
                  <a:schemeClr val="bg2"/>
                </a:solidFill>
              </a:rPr>
              <a:t>Один API на FastAPI или с OpenAPI JSON: не меньше 3 потребителей на Python в репозиториях других команд и не меньше 6 изменений за полгода</a:t>
            </a:r>
            <a:endParaRPr lang="en-US" sz="1400" dirty="0"/>
          </a:p>
        </p:txBody>
      </p:sp>
      <p:sp>
        <p:nvSpPr>
          <p:cNvPr id="8" name="Shape 6"/>
          <p:cNvSpPr/>
          <p:nvPr/>
        </p:nvSpPr>
        <p:spPr>
          <a:xfrm>
            <a:off x="777240" y="5029200"/>
            <a:ext cx="2110664" cy="0"/>
          </a:xfrm>
          <a:prstGeom prst="line">
            <a:avLst/>
          </a:prstGeom>
          <a:noFill/>
          <a:ln w="12700">
            <a:solidFill>
              <a:schemeClr val="accent6"/>
            </a:solidFill>
            <a:prstDash val="solid"/>
          </a:ln>
        </p:spPr>
      </p:sp>
      <p:sp>
        <p:nvSpPr>
          <p:cNvPr id="9" name="Text 7"/>
          <p:cNvSpPr txBox="1"/>
          <p:nvPr/>
        </p:nvSpPr>
        <p:spPr>
          <a:xfrm>
            <a:off x="777240" y="4754880"/>
            <a:ext cx="2110664" cy="27432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API: </a:t>
            </a:r>
            <a:endParaRPr lang="en-US" sz="1300" dirty="0"/>
          </a:p>
        </p:txBody>
      </p:sp>
      <p:sp>
        <p:nvSpPr>
          <p:cNvPr id="10" name="Shape 8"/>
          <p:cNvSpPr/>
          <p:nvPr/>
        </p:nvSpPr>
        <p:spPr>
          <a:xfrm>
            <a:off x="3390824" y="1463040"/>
            <a:ext cx="2567864" cy="3840480"/>
          </a:xfrm>
          <a:prstGeom prst="roundRect">
            <a:avLst>
              <a:gd name="adj" fmla="val 3561"/>
            </a:avLst>
          </a:prstGeom>
          <a:solidFill>
            <a:schemeClr val="bg1">
              <a:alpha val="8000"/>
            </a:schemeClr>
          </a:solidFill>
          <a:ln w="12700">
            <a:solidFill>
              <a:schemeClr val="accent6"/>
            </a:solidFill>
            <a:prstDash val="solid"/>
          </a:ln>
        </p:spPr>
      </p:sp>
      <p:sp>
        <p:nvSpPr>
          <p:cNvPr id="11" name="Shape 9"/>
          <p:cNvSpPr/>
          <p:nvPr/>
        </p:nvSpPr>
        <p:spPr>
          <a:xfrm>
            <a:off x="3619424" y="1691640"/>
            <a:ext cx="457200" cy="457200"/>
          </a:xfrm>
          <a:prstGeom prst="ellipse">
            <a:avLst/>
          </a:prstGeom>
          <a:solidFill>
            <a:schemeClr val="accent6"/>
          </a:solidFill>
          <a:ln w="12700">
            <a:solidFill>
              <a:schemeClr val="accent6"/>
            </a:solidFill>
            <a:prstDash val="solid"/>
          </a:ln>
        </p:spPr>
      </p:sp>
      <p:sp>
        <p:nvSpPr>
          <p:cNvPr id="12" name="Text 10"/>
          <p:cNvSpPr txBox="1"/>
          <p:nvPr/>
        </p:nvSpPr>
        <p:spPr>
          <a:xfrm>
            <a:off x="3619424" y="16916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3" name="Text 11"/>
          <p:cNvSpPr txBox="1"/>
          <p:nvPr/>
        </p:nvSpPr>
        <p:spPr>
          <a:xfrm>
            <a:off x="3619424" y="2331720"/>
            <a:ext cx="2110664" cy="6400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rPr>
              <a:t>Владелец с вашей стороны</a:t>
            </a:r>
            <a:endParaRPr lang="en-US" sz="1900" dirty="0"/>
          </a:p>
        </p:txBody>
      </p:sp>
      <p:sp>
        <p:nvSpPr>
          <p:cNvPr id="14" name="Text 12"/>
          <p:cNvSpPr txBox="1"/>
          <p:nvPr/>
        </p:nvSpPr>
        <p:spPr>
          <a:xfrm>
            <a:off x="3619424" y="3017520"/>
            <a:ext cx="2110664" cy="1691640"/>
          </a:xfrm>
          <a:prstGeom prst="rect">
            <a:avLst/>
          </a:prstGeom>
          <a:noFill/>
          <a:ln/>
        </p:spPr>
        <p:txBody>
          <a:bodyPr wrap="square" lIns="0" tIns="0" rIns="0" bIns="0" rtlCol="0" anchor="t"/>
          <a:lstStyle/>
          <a:p>
            <a:pPr indent="0" marL="0">
              <a:spcAft>
                <a:spcPts val="400"/>
              </a:spcAft>
              <a:buNone/>
            </a:pPr>
            <a:r>
              <a:rPr lang="en-US" sz="1400" dirty="0">
                <a:solidFill>
                  <a:schemeClr val="bg2"/>
                </a:solidFill>
              </a:rPr>
              <a:t>Техлид команды API и человек, который согласует доступ на чтение</a:t>
            </a:r>
            <a:endParaRPr lang="en-US" sz="1400" dirty="0"/>
          </a:p>
        </p:txBody>
      </p:sp>
      <p:sp>
        <p:nvSpPr>
          <p:cNvPr id="15" name="Shape 13"/>
          <p:cNvSpPr/>
          <p:nvPr/>
        </p:nvSpPr>
        <p:spPr>
          <a:xfrm>
            <a:off x="3619424" y="5029200"/>
            <a:ext cx="2110664" cy="0"/>
          </a:xfrm>
          <a:prstGeom prst="line">
            <a:avLst/>
          </a:prstGeom>
          <a:noFill/>
          <a:ln w="12700">
            <a:solidFill>
              <a:schemeClr val="accent6"/>
            </a:solidFill>
            <a:prstDash val="solid"/>
          </a:ln>
        </p:spPr>
      </p:sp>
      <p:sp>
        <p:nvSpPr>
          <p:cNvPr id="16" name="Text 14"/>
          <p:cNvSpPr txBox="1"/>
          <p:nvPr/>
        </p:nvSpPr>
        <p:spPr>
          <a:xfrm>
            <a:off x="3619424" y="4754880"/>
            <a:ext cx="2110664" cy="27432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Владелец: </a:t>
            </a:r>
            <a:endParaRPr lang="en-US" sz="1300" dirty="0"/>
          </a:p>
        </p:txBody>
      </p:sp>
      <p:sp>
        <p:nvSpPr>
          <p:cNvPr id="17" name="Shape 15"/>
          <p:cNvSpPr/>
          <p:nvPr/>
        </p:nvSpPr>
        <p:spPr>
          <a:xfrm>
            <a:off x="6233008" y="1463040"/>
            <a:ext cx="2567864" cy="3840480"/>
          </a:xfrm>
          <a:prstGeom prst="roundRect">
            <a:avLst>
              <a:gd name="adj" fmla="val 3561"/>
            </a:avLst>
          </a:prstGeom>
          <a:solidFill>
            <a:schemeClr val="bg1">
              <a:alpha val="8000"/>
            </a:schemeClr>
          </a:solidFill>
          <a:ln w="12700">
            <a:solidFill>
              <a:schemeClr val="accent6"/>
            </a:solidFill>
            <a:prstDash val="solid"/>
          </a:ln>
        </p:spPr>
      </p:sp>
      <p:sp>
        <p:nvSpPr>
          <p:cNvPr id="18" name="Shape 16"/>
          <p:cNvSpPr/>
          <p:nvPr/>
        </p:nvSpPr>
        <p:spPr>
          <a:xfrm>
            <a:off x="6461608" y="1691640"/>
            <a:ext cx="457200" cy="457200"/>
          </a:xfrm>
          <a:prstGeom prst="ellipse">
            <a:avLst/>
          </a:prstGeom>
          <a:solidFill>
            <a:schemeClr val="accent6"/>
          </a:solidFill>
          <a:ln w="12700">
            <a:solidFill>
              <a:schemeClr val="accent6"/>
            </a:solidFill>
            <a:prstDash val="solid"/>
          </a:ln>
        </p:spPr>
      </p:sp>
      <p:sp>
        <p:nvSpPr>
          <p:cNvPr id="19" name="Text 17"/>
          <p:cNvSpPr txBox="1"/>
          <p:nvPr/>
        </p:nvSpPr>
        <p:spPr>
          <a:xfrm>
            <a:off x="6461608" y="16916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20" name="Text 18"/>
          <p:cNvSpPr txBox="1"/>
          <p:nvPr/>
        </p:nvSpPr>
        <p:spPr>
          <a:xfrm>
            <a:off x="6461608" y="2331720"/>
            <a:ext cx="2110664" cy="6400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rPr>
              <a:t>Материалы для пробы</a:t>
            </a:r>
            <a:endParaRPr lang="en-US" sz="1900" dirty="0"/>
          </a:p>
        </p:txBody>
      </p:sp>
      <p:sp>
        <p:nvSpPr>
          <p:cNvPr id="21" name="Text 19"/>
          <p:cNvSpPr txBox="1"/>
          <p:nvPr/>
        </p:nvSpPr>
        <p:spPr>
          <a:xfrm>
            <a:off x="6461608" y="3017520"/>
            <a:ext cx="2110664" cy="1691640"/>
          </a:xfrm>
          <a:prstGeom prst="rect">
            <a:avLst/>
          </a:prstGeom>
          <a:noFill/>
          <a:ln/>
        </p:spPr>
        <p:txBody>
          <a:bodyPr wrap="square" lIns="0" tIns="0" rIns="0" bIns="0" rtlCol="0" anchor="t"/>
          <a:lstStyle/>
          <a:p>
            <a:pPr indent="0" marL="0">
              <a:spcAft>
                <a:spcPts val="400"/>
              </a:spcAft>
              <a:buNone/>
            </a:pPr>
            <a:r>
              <a:rPr lang="en-US" sz="1400" dirty="0">
                <a:solidFill>
                  <a:schemeClr val="bg2"/>
                </a:solidFill>
              </a:rPr>
              <a:t>Доступ на чтение к репозиториям, адреса сервиса по окружениям, список изменений API за 6 месяцев, CODEOWNERS, машина Linux или WSL2</a:t>
            </a:r>
            <a:endParaRPr lang="en-US" sz="1400" dirty="0"/>
          </a:p>
        </p:txBody>
      </p:sp>
      <p:sp>
        <p:nvSpPr>
          <p:cNvPr id="22" name="Shape 20"/>
          <p:cNvSpPr/>
          <p:nvPr/>
        </p:nvSpPr>
        <p:spPr>
          <a:xfrm>
            <a:off x="6461608" y="5029200"/>
            <a:ext cx="2110664" cy="0"/>
          </a:xfrm>
          <a:prstGeom prst="line">
            <a:avLst/>
          </a:prstGeom>
          <a:noFill/>
          <a:ln w="12700">
            <a:solidFill>
              <a:schemeClr val="accent6"/>
            </a:solidFill>
            <a:prstDash val="solid"/>
          </a:ln>
        </p:spPr>
      </p:sp>
      <p:sp>
        <p:nvSpPr>
          <p:cNvPr id="23" name="Text 21"/>
          <p:cNvSpPr txBox="1"/>
          <p:nvPr/>
        </p:nvSpPr>
        <p:spPr>
          <a:xfrm>
            <a:off x="6461608" y="4754880"/>
            <a:ext cx="2110664" cy="27432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Срок: </a:t>
            </a:r>
            <a:endParaRPr lang="en-US" sz="1300" dirty="0"/>
          </a:p>
        </p:txBody>
      </p:sp>
      <p:sp>
        <p:nvSpPr>
          <p:cNvPr id="24" name="Shape 22"/>
          <p:cNvSpPr/>
          <p:nvPr/>
        </p:nvSpPr>
        <p:spPr>
          <a:xfrm>
            <a:off x="9075191" y="1463040"/>
            <a:ext cx="2567864" cy="3840480"/>
          </a:xfrm>
          <a:prstGeom prst="roundRect">
            <a:avLst>
              <a:gd name="adj" fmla="val 3561"/>
            </a:avLst>
          </a:prstGeom>
          <a:solidFill>
            <a:schemeClr val="bg1">
              <a:alpha val="8000"/>
            </a:schemeClr>
          </a:solidFill>
          <a:ln w="12700">
            <a:solidFill>
              <a:schemeClr val="accent6"/>
            </a:solidFill>
            <a:prstDash val="solid"/>
          </a:ln>
        </p:spPr>
      </p:sp>
      <p:sp>
        <p:nvSpPr>
          <p:cNvPr id="25" name="Shape 23"/>
          <p:cNvSpPr/>
          <p:nvPr/>
        </p:nvSpPr>
        <p:spPr>
          <a:xfrm>
            <a:off x="9303791" y="1691640"/>
            <a:ext cx="457200" cy="457200"/>
          </a:xfrm>
          <a:prstGeom prst="ellipse">
            <a:avLst/>
          </a:prstGeom>
          <a:solidFill>
            <a:schemeClr val="accent6"/>
          </a:solidFill>
          <a:ln w="12700">
            <a:solidFill>
              <a:schemeClr val="accent6"/>
            </a:solidFill>
            <a:prstDash val="solid"/>
          </a:ln>
        </p:spPr>
      </p:sp>
      <p:sp>
        <p:nvSpPr>
          <p:cNvPr id="26" name="Text 24"/>
          <p:cNvSpPr txBox="1"/>
          <p:nvPr/>
        </p:nvSpPr>
        <p:spPr>
          <a:xfrm>
            <a:off x="9303791" y="16916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27" name="Text 25"/>
          <p:cNvSpPr txBox="1"/>
          <p:nvPr/>
        </p:nvSpPr>
        <p:spPr>
          <a:xfrm>
            <a:off x="9303791" y="2331720"/>
            <a:ext cx="2110664" cy="6400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rPr>
              <a:t>Следующая встреча</a:t>
            </a:r>
            <a:endParaRPr lang="en-US" sz="1900" dirty="0"/>
          </a:p>
        </p:txBody>
      </p:sp>
      <p:sp>
        <p:nvSpPr>
          <p:cNvPr id="28" name="Text 26"/>
          <p:cNvSpPr txBox="1"/>
          <p:nvPr/>
        </p:nvSpPr>
        <p:spPr>
          <a:xfrm>
            <a:off x="9303791" y="3017520"/>
            <a:ext cx="2110664" cy="1691640"/>
          </a:xfrm>
          <a:prstGeom prst="rect">
            <a:avLst/>
          </a:prstGeom>
          <a:noFill/>
          <a:ln/>
        </p:spPr>
        <p:txBody>
          <a:bodyPr wrap="square" lIns="0" tIns="0" rIns="0" bIns="0" rtlCol="0" anchor="t"/>
          <a:lstStyle/>
          <a:p>
            <a:pPr indent="0" marL="0">
              <a:spcAft>
                <a:spcPts val="400"/>
              </a:spcAft>
              <a:buNone/>
            </a:pPr>
            <a:r>
              <a:rPr lang="en-US" sz="1400" dirty="0">
                <a:solidFill>
                  <a:schemeClr val="bg2"/>
                </a:solidFill>
              </a:rPr>
              <a:t>Разбираем ваше последнее изменение API и запускаем пробу покрытия на вашем коде</a:t>
            </a:r>
            <a:endParaRPr lang="en-US" sz="1400" dirty="0"/>
          </a:p>
        </p:txBody>
      </p:sp>
      <p:sp>
        <p:nvSpPr>
          <p:cNvPr id="29" name="Shape 27"/>
          <p:cNvSpPr/>
          <p:nvPr/>
        </p:nvSpPr>
        <p:spPr>
          <a:xfrm>
            <a:off x="9303791" y="5029200"/>
            <a:ext cx="2110664" cy="0"/>
          </a:xfrm>
          <a:prstGeom prst="line">
            <a:avLst/>
          </a:prstGeom>
          <a:noFill/>
          <a:ln w="12700">
            <a:solidFill>
              <a:schemeClr val="accent6"/>
            </a:solidFill>
            <a:prstDash val="solid"/>
          </a:ln>
        </p:spPr>
      </p:sp>
      <p:sp>
        <p:nvSpPr>
          <p:cNvPr id="30" name="Text 28"/>
          <p:cNvSpPr txBox="1"/>
          <p:nvPr/>
        </p:nvSpPr>
        <p:spPr>
          <a:xfrm>
            <a:off x="9303791" y="4754880"/>
            <a:ext cx="2110664" cy="27432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Дата: </a:t>
            </a:r>
            <a:endParaRPr lang="en-US" sz="1300" dirty="0"/>
          </a:p>
        </p:txBody>
      </p:sp>
      <p:sp>
        <p:nvSpPr>
          <p:cNvPr id="31" name="Text 29"/>
          <p:cNvSpPr txBox="1"/>
          <p:nvPr/>
        </p:nvSpPr>
        <p:spPr>
          <a:xfrm>
            <a:off x="548640" y="5623560"/>
            <a:ext cx="11094415" cy="64008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После пробы покрытия скажем, применим ли инструмент к вашему коду. Если нет, пилот не начинаем и объясняем почему: распределение форм вызова останется вам как результат.</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7863840" cy="2377440"/>
          </a:xfrm>
          <a:prstGeom prst="rect">
            <a:avLst/>
          </a:prstGeom>
          <a:noFill/>
          <a:ln/>
        </p:spPr>
        <p:txBody>
          <a:bodyPr wrap="square" lIns="0" tIns="0" rIns="0" bIns="0" rtlCol="0" anchor="t"/>
          <a:lstStyle/>
          <a:p>
            <a:pPr algn="l" indent="0" marL="0">
              <a:buNone/>
            </a:pPr>
            <a:r>
              <a:rPr lang="en-US" sz="4000" b="1" dirty="0">
                <a:solidFill>
                  <a:schemeClr val="bg1"/>
                </a:solidFill>
              </a:rPr>
              <a:t>Приложение: методика, ограничения и источники</a:t>
            </a:r>
            <a:endParaRPr lang="en-US" sz="4000" dirty="0"/>
          </a:p>
        </p:txBody>
      </p:sp>
      <p:sp>
        <p:nvSpPr>
          <p:cNvPr id="3" name="Text 1"/>
          <p:cNvSpPr txBox="1"/>
          <p:nvPr/>
        </p:nvSpPr>
        <p:spPr>
          <a:xfrm>
            <a:off x="548640" y="4114800"/>
            <a:ext cx="8686800" cy="91440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П1-П3 методика пилота · П4-П6 стенд, модельная серия и замеры · П7-П8 работа до старта и экономика · П9-П11 реестр утверждений и источники</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П1. Методика: три ветки на одних задачах и слепой эталон</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03120"/>
                <a:gridCol w="2743200"/>
                <a:gridCol w="2743200"/>
                <a:gridCol w="3502152"/>
              </a:tblGrid>
              <a:tr h="0">
                <a:tc>
                  <a:txBody>
                    <a:bodyPr/>
                    <a:lstStyle/>
                    <a:p>
                      <a:pPr indent="0" marL="0">
                        <a:buNone/>
                      </a:pPr>
                      <a:r>
                        <a:rPr lang="en-US" sz="1300" b="1" dirty="0">
                          <a:solidFill>
                            <a:schemeClr val="bg1"/>
                          </a:solidFill>
                        </a:rPr>
                        <a:t>Ветка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Кто выполняет</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Что получает</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Результат ветки</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tx1"/>
                          </a:solidFill>
                        </a:rPr>
                        <a:t>A0 Текущий процесс</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Автор изменения</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Ничего сверх обычного</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Список и время. Для прошлых изменений: восстановление по PR, чату и инцидентам, помечается как слабые данные</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A1 Агент без модуля</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Оператор агента, сотрудник клиента или второй человек с нашей стороны</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Те же репозитории и агент, право вести заметки</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Список затронутых потребителей с объяснением</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A2 Агент с модулем</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Наш инженер</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То же плюс CLI модуля и его отчёт</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Список затронутых потребителей и отчёт по изменению</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4" name="Text 1"/>
          <p:cNvSpPr txBox="1"/>
          <p:nvPr/>
        </p:nvSpPr>
        <p:spPr>
          <a:xfrm>
            <a:off x="548640" y="3931920"/>
            <a:ext cx="5364328"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Правила изоляции</a:t>
            </a:r>
            <a:endParaRPr lang="en-US" sz="1600" dirty="0"/>
          </a:p>
        </p:txBody>
      </p:sp>
      <p:sp>
        <p:nvSpPr>
          <p:cNvPr id="5" name="Text 2"/>
          <p:cNvSpPr txBox="1"/>
          <p:nvPr/>
        </p:nvSpPr>
        <p:spPr>
          <a:xfrm>
            <a:off x="548640" y="4297680"/>
            <a:ext cx="5364328" cy="17373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Оператор A1 не видит отчётов A2 до конца пилота; это разные люди</a:t>
            </a:r>
            <a:endParaRPr lang="en-US" sz="1500" dirty="0"/>
          </a:p>
          <a:p>
            <a:pPr marL="203200" indent="-203200">
              <a:spcAft>
                <a:spcPts val="600"/>
              </a:spcAft>
              <a:buSzPct val="100000"/>
              <a:buChar char="•"/>
            </a:pPr>
            <a:r>
              <a:rPr lang="en-US" sz="1300" dirty="0">
                <a:solidFill>
                  <a:schemeClr val="tx1"/>
                </a:solidFill>
              </a:rPr>
              <a:t>Порядок A1 и A2 по задаче чередуется по зерну, записанному заранее</a:t>
            </a:r>
            <a:endParaRPr lang="en-US" sz="1500" dirty="0"/>
          </a:p>
          <a:p>
            <a:pPr marL="203200" indent="-203200">
              <a:spcAft>
                <a:spcPts val="600"/>
              </a:spcAft>
              <a:buSzPct val="100000"/>
              <a:buChar char="•"/>
            </a:pPr>
            <a:r>
              <a:rPr lang="en-US" sz="1300" dirty="0">
                <a:solidFill>
                  <a:schemeClr val="tx1"/>
                </a:solidFill>
              </a:rPr>
              <a:t>Задание одинаковое текстом, без подсказок о потребителях</a:t>
            </a:r>
            <a:endParaRPr lang="en-US" sz="1500" dirty="0"/>
          </a:p>
          <a:p>
            <a:pPr marL="203200" indent="-203200">
              <a:spcAft>
                <a:spcPts val="600"/>
              </a:spcAft>
              <a:buSzPct val="100000"/>
              <a:buChar char="•"/>
            </a:pPr>
            <a:r>
              <a:rPr lang="en-US" sz="1300" dirty="0">
                <a:solidFill>
                  <a:schemeClr val="tx1"/>
                </a:solidFill>
              </a:rPr>
              <a:t>Результат ветки это только финальный список, отданный автору</a:t>
            </a:r>
            <a:endParaRPr lang="en-US" sz="1500" dirty="0"/>
          </a:p>
        </p:txBody>
      </p:sp>
      <p:sp>
        <p:nvSpPr>
          <p:cNvPr id="6" name="Text 3"/>
          <p:cNvSpPr txBox="1"/>
          <p:nvPr/>
        </p:nvSpPr>
        <p:spPr>
          <a:xfrm>
            <a:off x="6278728" y="3931920"/>
            <a:ext cx="5364328"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Эталон</a:t>
            </a:r>
            <a:endParaRPr lang="en-US" sz="1600" dirty="0"/>
          </a:p>
        </p:txBody>
      </p:sp>
      <p:sp>
        <p:nvSpPr>
          <p:cNvPr id="7" name="Text 4"/>
          <p:cNvSpPr txBox="1"/>
          <p:nvPr/>
        </p:nvSpPr>
        <p:spPr>
          <a:xfrm>
            <a:off x="6278728" y="4297680"/>
            <a:ext cx="5364328" cy="17373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Пул: списки A0-A2, места из пробы покрытия, журналы доступа, исправления и инциденты после прошлых изменений</a:t>
            </a:r>
            <a:endParaRPr lang="en-US" sz="1500" dirty="0"/>
          </a:p>
          <a:p>
            <a:pPr marL="203200" indent="-203200">
              <a:spcAft>
                <a:spcPts val="600"/>
              </a:spcAft>
              <a:buSzPct val="100000"/>
              <a:buChar char="•"/>
            </a:pPr>
            <a:r>
              <a:rPr lang="en-US" sz="1300" dirty="0">
                <a:solidFill>
                  <a:schemeClr val="tx1"/>
                </a:solidFill>
              </a:rPr>
              <a:t>Пул обезличен: разметчик не знает, кто нашёл кандидата</a:t>
            </a:r>
            <a:endParaRPr lang="en-US" sz="1500" dirty="0"/>
          </a:p>
          <a:p>
            <a:pPr marL="203200" indent="-203200">
              <a:spcAft>
                <a:spcPts val="600"/>
              </a:spcAft>
              <a:buSzPct val="100000"/>
              <a:buChar char="•"/>
            </a:pPr>
            <a:r>
              <a:rPr lang="en-US" sz="1300" dirty="0">
                <a:solidFill>
                  <a:schemeClr val="tx1"/>
                </a:solidFill>
              </a:rPr>
              <a:t>Для каждого: затронут ли, серьёзность S1-S3, основание</a:t>
            </a:r>
            <a:endParaRPr lang="en-US" sz="1500" dirty="0"/>
          </a:p>
          <a:p>
            <a:pPr marL="203200" indent="-203200">
              <a:spcAft>
                <a:spcPts val="600"/>
              </a:spcAft>
              <a:buSzPct val="100000"/>
              <a:buChar char="•"/>
            </a:pPr>
            <a:r>
              <a:rPr lang="en-US" sz="1300" dirty="0">
                <a:solidFill>
                  <a:schemeClr val="tx1"/>
                </a:solidFill>
              </a:rPr>
              <a:t>Хеш эталона записан до раскрытия веток</a:t>
            </a:r>
            <a:endParaRPr lang="en-US" sz="1500" dirty="0"/>
          </a:p>
        </p:txBody>
      </p:sp>
      <p:sp>
        <p:nvSpPr>
          <p:cNvPr id="8" name="Text 5"/>
          <p:cNvSpPr txBox="1"/>
          <p:nvPr/>
        </p:nvSpPr>
        <p:spPr>
          <a:xfrm>
            <a:off x="548640" y="6053328"/>
            <a:ext cx="11094415" cy="320040"/>
          </a:xfrm>
          <a:prstGeom prst="rect">
            <a:avLst/>
          </a:prstGeom>
          <a:noFill/>
          <a:ln/>
        </p:spPr>
        <p:txBody>
          <a:bodyPr wrap="square" lIns="0" tIns="0" rIns="0" bIns="0" rtlCol="0" anchor="t"/>
          <a:lstStyle/>
          <a:p>
            <a:pPr indent="0" marL="0">
              <a:buNone/>
            </a:pPr>
            <a:r>
              <a:rPr lang="en-US" sz="1100" dirty="0">
                <a:solidFill>
                  <a:schemeClr val="accent5"/>
                </a:solidFill>
              </a:rPr>
              <a:t>Ограничение: потребителя, которого не нашла ни одна ветка, ни поиск, ни журналы, в эталоне не будет. Источник: PROTOCOL.md §4-§5.</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П2. Показатели и правила решения записаны до первого запуска</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583680" cy="914400"/>
        </p:xfrm>
        <a:graphic>
          <a:graphicData uri="http://schemas.openxmlformats.org/drawingml/2006/table">
            <a:tbl>
              <a:tblPr/>
              <a:tblGrid>
                <a:gridCol w="1371600"/>
                <a:gridCol w="5212080"/>
              </a:tblGrid>
              <a:tr h="0">
                <a:tc>
                  <a:txBody>
                    <a:bodyPr/>
                    <a:lstStyle/>
                    <a:p>
                      <a:pPr indent="0" marL="0">
                        <a:buNone/>
                      </a:pPr>
                      <a:r>
                        <a:rPr lang="en-US" sz="1300" b="1" dirty="0">
                          <a:solidFill>
                            <a:schemeClr val="bg1"/>
                          </a:solidFill>
                        </a:rPr>
                        <a:t>Показатель</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Определение</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FN_k</a:t>
                      </a:r>
                      <a:endParaRPr lang="en-US" sz="1300" dirty="0">
                        <a:latin typeface="Consolas" charset="0"/>
                        <a:ea typeface="Consolas" charset="0"/>
                        <a:cs typeface="Consolas" charset="0"/>
                      </a:endParaRPr>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Места эталона с серьёзностью S1 (молчаливая порча данных) или S2 (явный сбой), которых нет в финальном списке ветки k. По всей серии, с знаменателем</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T_k</a:t>
                      </a:r>
                      <a:endParaRPr lang="en-US" sz="1300" dirty="0">
                        <a:latin typeface="Consolas" charset="0"/>
                        <a:ea typeface="Consolas" charset="0"/>
                        <a:cs typeface="Consolas" charset="0"/>
                      </a:endParaRPr>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Активный труд людей обеих сторон в минутах на всю серию: подключение, проба, настройка, запуск, разбор пробелов и ложных предупреждений. Ожидание машины не входит</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Качество</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Все пропуски, ложные предупреждения и минуты на них, доля оснований, подтверждённых разметчиком за 2 минуты, пробелы на задачу</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Польза</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Список выдан до merge; что автор сделал из-за пункта списка; подтвердил ли владелец потребителя</a:t>
                      </a:r>
                      <a:endParaRPr lang="en-US" sz="1300" dirty="0"/>
                    </a:p>
                  </a:txBody>
                  <a:tcPr marL="91440" marR="91440" marT="54864" marB="54864"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4" name="Text 1"/>
          <p:cNvSpPr txBox="1"/>
          <p:nvPr/>
        </p:nvSpPr>
        <p:spPr>
          <a:xfrm>
            <a:off x="7406640" y="1463040"/>
            <a:ext cx="4236415"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Исходы</a:t>
            </a:r>
            <a:endParaRPr lang="en-US" sz="1600" dirty="0"/>
          </a:p>
        </p:txBody>
      </p:sp>
      <p:sp>
        <p:nvSpPr>
          <p:cNvPr id="5" name="out"/>
          <p:cNvSpPr/>
          <p:nvPr/>
        </p:nvSpPr>
        <p:spPr>
          <a:xfrm>
            <a:off x="7406640" y="1874520"/>
            <a:ext cx="4236415" cy="1051560"/>
          </a:xfrm>
          <a:prstGeom prst="roundRect">
            <a:avLst>
              <a:gd name="adj" fmla="val 8696"/>
            </a:avLst>
          </a:prstGeom>
          <a:solidFill>
            <a:schemeClr val="bg2"/>
          </a:solidFill>
          <a:ln w="6350">
            <a:solidFill>
              <a:schemeClr val="bg2"/>
            </a:solidFill>
            <a:prstDash val="solid"/>
          </a:ln>
        </p:spPr>
      </p:sp>
      <p:sp>
        <p:nvSpPr>
          <p:cNvPr id="6" name="Text 3"/>
          <p:cNvSpPr txBox="1"/>
          <p:nvPr/>
        </p:nvSpPr>
        <p:spPr>
          <a:xfrm>
            <a:off x="7589520" y="1965960"/>
            <a:ext cx="3870655" cy="32004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Продолжить</a:t>
            </a:r>
            <a:endParaRPr lang="en-US" sz="1500" dirty="0"/>
          </a:p>
        </p:txBody>
      </p:sp>
      <p:sp>
        <p:nvSpPr>
          <p:cNvPr id="7" name="Text 4"/>
          <p:cNvSpPr txBox="1"/>
          <p:nvPr/>
        </p:nvSpPr>
        <p:spPr>
          <a:xfrm>
            <a:off x="7589520" y="2286000"/>
            <a:ext cx="3870655" cy="59436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FN_A2 ≤ FN_A1 и T_A2 ≤ 0,8 × T_A1 на серии, и клиент сделал конкретный шаг</a:t>
            </a:r>
            <a:endParaRPr lang="en-US" sz="1250" dirty="0"/>
          </a:p>
        </p:txBody>
      </p:sp>
      <p:sp>
        <p:nvSpPr>
          <p:cNvPr id="8" name="out"/>
          <p:cNvSpPr/>
          <p:nvPr/>
        </p:nvSpPr>
        <p:spPr>
          <a:xfrm>
            <a:off x="7406640" y="3063240"/>
            <a:ext cx="4236415" cy="1051560"/>
          </a:xfrm>
          <a:prstGeom prst="roundRect">
            <a:avLst>
              <a:gd name="adj" fmla="val 8696"/>
            </a:avLst>
          </a:prstGeom>
          <a:solidFill>
            <a:schemeClr val="bg2"/>
          </a:solidFill>
          <a:ln w="6350">
            <a:solidFill>
              <a:schemeClr val="bg2"/>
            </a:solidFill>
            <a:prstDash val="solid"/>
          </a:ln>
        </p:spPr>
      </p:sp>
      <p:sp>
        <p:nvSpPr>
          <p:cNvPr id="9" name="Text 6"/>
          <p:cNvSpPr txBox="1"/>
          <p:nvPr/>
        </p:nvSpPr>
        <p:spPr>
          <a:xfrm>
            <a:off x="7589520" y="3154680"/>
            <a:ext cx="3870655" cy="32004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Изменить</a:t>
            </a:r>
            <a:endParaRPr lang="en-US" sz="1500" dirty="0"/>
          </a:p>
        </p:txBody>
      </p:sp>
      <p:sp>
        <p:nvSpPr>
          <p:cNvPr id="10" name="Text 7"/>
          <p:cNvSpPr txBox="1"/>
          <p:nvPr/>
        </p:nvSpPr>
        <p:spPr>
          <a:xfrm>
            <a:off x="7589520" y="3474720"/>
            <a:ext cx="3870655" cy="59436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FN_A2 ≤ FN_A1, но T_A2 &gt; 0,8 × T_A1; выигрыш только после подключения или только в проверяемости</a:t>
            </a:r>
            <a:endParaRPr lang="en-US" sz="1250" dirty="0"/>
          </a:p>
        </p:txBody>
      </p:sp>
      <p:sp>
        <p:nvSpPr>
          <p:cNvPr id="11" name="out"/>
          <p:cNvSpPr/>
          <p:nvPr/>
        </p:nvSpPr>
        <p:spPr>
          <a:xfrm>
            <a:off x="7406640" y="4251960"/>
            <a:ext cx="4236415" cy="1051560"/>
          </a:xfrm>
          <a:prstGeom prst="roundRect">
            <a:avLst>
              <a:gd name="adj" fmla="val 8696"/>
            </a:avLst>
          </a:prstGeom>
          <a:solidFill>
            <a:schemeClr val="bg2"/>
          </a:solidFill>
          <a:ln w="6350">
            <a:solidFill>
              <a:schemeClr val="bg2"/>
            </a:solidFill>
            <a:prstDash val="solid"/>
          </a:ln>
        </p:spPr>
      </p:sp>
      <p:sp>
        <p:nvSpPr>
          <p:cNvPr id="12" name="Text 9"/>
          <p:cNvSpPr txBox="1"/>
          <p:nvPr/>
        </p:nvSpPr>
        <p:spPr>
          <a:xfrm>
            <a:off x="7589520" y="4343400"/>
            <a:ext cx="3870655" cy="320040"/>
          </a:xfrm>
          <a:prstGeom prst="rect">
            <a:avLst/>
          </a:prstGeom>
          <a:noFill/>
          <a:ln/>
        </p:spPr>
        <p:txBody>
          <a:bodyPr wrap="square" lIns="0" tIns="0" rIns="0" bIns="0" rtlCol="0" anchor="t"/>
          <a:lstStyle/>
          <a:p>
            <a:pPr indent="0" marL="0">
              <a:spcAft>
                <a:spcPts val="400"/>
              </a:spcAft>
              <a:buNone/>
            </a:pPr>
            <a:r>
              <a:rPr lang="en-US" sz="1500" b="1" dirty="0">
                <a:solidFill>
                  <a:schemeClr val="accent4"/>
                </a:solidFill>
              </a:rPr>
              <a:t>Остановить</a:t>
            </a:r>
            <a:endParaRPr lang="en-US" sz="1500" dirty="0"/>
          </a:p>
        </p:txBody>
      </p:sp>
      <p:sp>
        <p:nvSpPr>
          <p:cNvPr id="13" name="Text 10"/>
          <p:cNvSpPr txBox="1"/>
          <p:nvPr/>
        </p:nvSpPr>
        <p:spPr>
          <a:xfrm>
            <a:off x="7589520" y="4663440"/>
            <a:ext cx="3870655" cy="59436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FN_A2 &gt; FN_A1, или проба не пройдена у двух клиентов подряд</a:t>
            </a:r>
            <a:endParaRPr lang="en-US" sz="1250" dirty="0"/>
          </a:p>
        </p:txBody>
      </p:sp>
      <p:sp>
        <p:nvSpPr>
          <p:cNvPr id="14" name="Text 11"/>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100" dirty="0">
                <a:solidFill>
                  <a:schemeClr val="accent5"/>
                </a:solidFill>
              </a:rPr>
              <a:t>Невыполненный критерий нельзя заменить другой метрикой после просмотра результатов. Порог 20% выбран заранее как ориентир, а не как найденный эффект. Источник: PROTOCOL.md §1, §6, §8; критерии из roast v4 §3.</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П3. Проба покрытия отвечает, видит ли инструмент ваш код, до любых обещаний</a:t>
            </a:r>
            <a:endParaRPr lang="en-US" sz="2800" dirty="0"/>
          </a:p>
        </p:txBody>
      </p:sp>
      <p:sp>
        <p:nvSpPr>
          <p:cNvPr id="3" name="chip-plan"/>
          <p:cNvSpPr/>
          <p:nvPr/>
        </p:nvSpPr>
        <p:spPr>
          <a:xfrm>
            <a:off x="548640" y="1463040"/>
            <a:ext cx="3895344" cy="274320"/>
          </a:xfrm>
          <a:prstGeom prst="roundRect">
            <a:avLst>
              <a:gd name="adj" fmla="val 26667"/>
            </a:avLst>
          </a:prstGeom>
          <a:solidFill>
            <a:schemeClr val="accent3">
              <a:alpha val="14000"/>
            </a:schemeClr>
          </a:solidFill>
          <a:ln w="9525">
            <a:solidFill>
              <a:schemeClr val="accent3"/>
            </a:solidFill>
            <a:prstDash val="solid"/>
          </a:ln>
        </p:spPr>
      </p:sp>
      <p:sp>
        <p:nvSpPr>
          <p:cNvPr id="4" name="Text 2"/>
          <p:cNvSpPr txBox="1"/>
          <p:nvPr/>
        </p:nvSpPr>
        <p:spPr>
          <a:xfrm>
            <a:off x="548640" y="1463040"/>
            <a:ext cx="3895344"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 · порог 0,5 предложен, утверждается до пробы</a:t>
            </a:r>
            <a:endParaRPr lang="en-US" sz="1050" dirty="0"/>
          </a:p>
        </p:txBody>
      </p:sp>
      <p:sp>
        <p:nvSpPr>
          <p:cNvPr id="5" name="num-1"/>
          <p:cNvSpPr/>
          <p:nvPr/>
        </p:nvSpPr>
        <p:spPr>
          <a:xfrm>
            <a:off x="548640" y="1965960"/>
            <a:ext cx="347472" cy="347472"/>
          </a:xfrm>
          <a:prstGeom prst="ellipse">
            <a:avLst/>
          </a:prstGeom>
          <a:solidFill>
            <a:schemeClr val="accent1"/>
          </a:solidFill>
          <a:ln w="19050">
            <a:solidFill>
              <a:schemeClr val="bg1"/>
            </a:solidFill>
            <a:prstDash val="solid"/>
          </a:ln>
        </p:spPr>
      </p:sp>
      <p:sp>
        <p:nvSpPr>
          <p:cNvPr id="6" name="Text 4"/>
          <p:cNvSpPr txBox="1"/>
          <p:nvPr/>
        </p:nvSpPr>
        <p:spPr>
          <a:xfrm>
            <a:off x="548640" y="1965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51560" y="1947672"/>
            <a:ext cx="603504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Перечислить все места в репозиториях потребителей, которые обращаются к API: поиск по адресам, хосту, путям операций и именам переменных окружения. Разметить форму вызова. Это множество C</a:t>
            </a:r>
            <a:endParaRPr lang="en-US" sz="1400" dirty="0"/>
          </a:p>
        </p:txBody>
      </p:sp>
      <p:sp>
        <p:nvSpPr>
          <p:cNvPr id="8" name="num-2"/>
          <p:cNvSpPr/>
          <p:nvPr/>
        </p:nvSpPr>
        <p:spPr>
          <a:xfrm>
            <a:off x="548640" y="2743200"/>
            <a:ext cx="347472" cy="347472"/>
          </a:xfrm>
          <a:prstGeom prst="ellipse">
            <a:avLst/>
          </a:prstGeom>
          <a:solidFill>
            <a:schemeClr val="accent1"/>
          </a:solidFill>
          <a:ln w="19050">
            <a:solidFill>
              <a:schemeClr val="bg1"/>
            </a:solidFill>
            <a:prstDash val="solid"/>
          </a:ln>
        </p:spPr>
      </p:sp>
      <p:sp>
        <p:nvSpPr>
          <p:cNvPr id="9" name="Text 7"/>
          <p:cNvSpPr txBox="1"/>
          <p:nvPr/>
        </p:nvSpPr>
        <p:spPr>
          <a:xfrm>
            <a:off x="548640" y="27432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724912"/>
            <a:ext cx="603504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Запустить подготовку контекста на тех же коммитах</a:t>
            </a:r>
            <a:endParaRPr lang="en-US" sz="1400" dirty="0"/>
          </a:p>
        </p:txBody>
      </p:sp>
      <p:sp>
        <p:nvSpPr>
          <p:cNvPr id="11" name="num-3"/>
          <p:cNvSpPr/>
          <p:nvPr/>
        </p:nvSpPr>
        <p:spPr>
          <a:xfrm>
            <a:off x="548640" y="3520440"/>
            <a:ext cx="347472" cy="347472"/>
          </a:xfrm>
          <a:prstGeom prst="ellipse">
            <a:avLst/>
          </a:prstGeom>
          <a:solidFill>
            <a:schemeClr val="accent1"/>
          </a:solidFill>
          <a:ln w="19050">
            <a:solidFill>
              <a:schemeClr val="bg1"/>
            </a:solidFill>
            <a:prstDash val="solid"/>
          </a:ln>
        </p:spPr>
      </p:sp>
      <p:sp>
        <p:nvSpPr>
          <p:cNvPr id="12" name="Text 10"/>
          <p:cNvSpPr txBox="1"/>
          <p:nvPr/>
        </p:nvSpPr>
        <p:spPr>
          <a:xfrm>
            <a:off x="548640" y="35204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3502152"/>
            <a:ext cx="603504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Посчитать R: места из C, которые ядро связало с правильной операцией. Покрытие R / |C|</a:t>
            </a:r>
            <a:endParaRPr lang="en-US" sz="1400" dirty="0"/>
          </a:p>
        </p:txBody>
      </p:sp>
      <p:sp>
        <p:nvSpPr>
          <p:cNvPr id="14" name="num-4"/>
          <p:cNvSpPr/>
          <p:nvPr/>
        </p:nvSpPr>
        <p:spPr>
          <a:xfrm>
            <a:off x="548640" y="4297680"/>
            <a:ext cx="347472" cy="347472"/>
          </a:xfrm>
          <a:prstGeom prst="ellipse">
            <a:avLst/>
          </a:prstGeom>
          <a:solidFill>
            <a:schemeClr val="accent1"/>
          </a:solidFill>
          <a:ln w="19050">
            <a:solidFill>
              <a:schemeClr val="bg1"/>
            </a:solidFill>
            <a:prstDash val="solid"/>
          </a:ln>
        </p:spPr>
      </p:sp>
      <p:sp>
        <p:nvSpPr>
          <p:cNvPr id="15" name="Text 13"/>
          <p:cNvSpPr txBox="1"/>
          <p:nvPr/>
        </p:nvSpPr>
        <p:spPr>
          <a:xfrm>
            <a:off x="548640" y="42976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051560" y="4279392"/>
            <a:ext cx="603504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Отдельно посчитать пробелы в файлах из C и в остальных файлах</a:t>
            </a:r>
            <a:endParaRPr lang="en-US" sz="1400" dirty="0"/>
          </a:p>
        </p:txBody>
      </p:sp>
      <p:sp>
        <p:nvSpPr>
          <p:cNvPr id="17" name="threshold"/>
          <p:cNvSpPr/>
          <p:nvPr/>
        </p:nvSpPr>
        <p:spPr>
          <a:xfrm>
            <a:off x="7269480" y="1965960"/>
            <a:ext cx="4373575" cy="1463040"/>
          </a:xfrm>
          <a:prstGeom prst="roundRect">
            <a:avLst>
              <a:gd name="adj" fmla="val 6250"/>
            </a:avLst>
          </a:prstGeom>
          <a:solidFill>
            <a:schemeClr val="bg2"/>
          </a:solidFill>
          <a:ln w="6350">
            <a:solidFill>
              <a:schemeClr val="bg2"/>
            </a:solidFill>
            <a:prstDash val="solid"/>
          </a:ln>
        </p:spPr>
      </p:sp>
      <p:sp>
        <p:nvSpPr>
          <p:cNvPr id="18" name="Text 16"/>
          <p:cNvSpPr txBox="1"/>
          <p:nvPr/>
        </p:nvSpPr>
        <p:spPr>
          <a:xfrm>
            <a:off x="7498080" y="2057400"/>
            <a:ext cx="3916375" cy="640080"/>
          </a:xfrm>
          <a:prstGeom prst="rect">
            <a:avLst/>
          </a:prstGeom>
          <a:noFill/>
          <a:ln/>
        </p:spPr>
        <p:txBody>
          <a:bodyPr wrap="square" lIns="0" tIns="0" rIns="0" bIns="0" rtlCol="0" anchor="t"/>
          <a:lstStyle/>
          <a:p>
            <a:pPr indent="0" marL="0">
              <a:spcAft>
                <a:spcPts val="400"/>
              </a:spcAft>
              <a:buNone/>
            </a:pPr>
            <a:r>
              <a:rPr lang="en-US" sz="3200" b="1" dirty="0">
                <a:solidFill>
                  <a:schemeClr val="accent1"/>
                </a:solidFill>
              </a:rPr>
              <a:t>R / |C| ≥ 0,5</a:t>
            </a:r>
            <a:endParaRPr lang="en-US" sz="3200" dirty="0"/>
          </a:p>
        </p:txBody>
      </p:sp>
      <p:sp>
        <p:nvSpPr>
          <p:cNvPr id="19" name="Text 17"/>
          <p:cNvSpPr txBox="1"/>
          <p:nvPr/>
        </p:nvSpPr>
        <p:spPr>
          <a:xfrm>
            <a:off x="7498080" y="2697480"/>
            <a:ext cx="3916375"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после не более двух новых форм вызова, не дольше недели работы</a:t>
            </a:r>
            <a:endParaRPr lang="en-US" sz="1300" dirty="0"/>
          </a:p>
        </p:txBody>
      </p:sp>
      <p:sp>
        <p:nvSpPr>
          <p:cNvPr id="20" name="Text 18"/>
          <p:cNvSpPr txBox="1"/>
          <p:nvPr/>
        </p:nvSpPr>
        <p:spPr>
          <a:xfrm>
            <a:off x="7269480" y="3611880"/>
            <a:ext cx="4373575" cy="21945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Ниже половины основную работу делает агент или человек, а модуль добавляет подготовку</a:t>
            </a:r>
            <a:endParaRPr lang="en-US" sz="1500" dirty="0"/>
          </a:p>
          <a:p>
            <a:pPr marL="203200" indent="-203200">
              <a:spcAft>
                <a:spcPts val="600"/>
              </a:spcAft>
              <a:buSzPct val="100000"/>
              <a:buChar char="•"/>
            </a:pPr>
            <a:r>
              <a:rPr lang="en-US" sz="1300" dirty="0">
                <a:solidFill>
                  <a:schemeClr val="tx1"/>
                </a:solidFill>
              </a:rPr>
              <a:t>Если проба не пройдена, пилот не начинается; распределение форм вызова остаётся как данные</a:t>
            </a:r>
            <a:endParaRPr lang="en-US" sz="1500" dirty="0"/>
          </a:p>
          <a:p>
            <a:pPr marL="203200" indent="-203200">
              <a:spcAft>
                <a:spcPts val="600"/>
              </a:spcAft>
              <a:buSzPct val="100000"/>
              <a:buChar char="•"/>
            </a:pPr>
            <a:r>
              <a:rPr lang="en-US" sz="1300" dirty="0">
                <a:solidFill>
                  <a:schemeClr val="tx1"/>
                </a:solidFill>
              </a:rPr>
              <a:t>Покрытие на пробе это верхняя оценка: поиск по строкам пропускает совсем динамические адреса</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5120640"/>
          <a:ext cx="6537960" cy="914400"/>
        </p:xfrm>
        <a:graphic>
          <a:graphicData uri="http://schemas.openxmlformats.org/drawingml/2006/table">
            <a:tbl>
              <a:tblPr/>
              <a:tblGrid>
                <a:gridCol w="3794760"/>
                <a:gridCol w="1371600"/>
                <a:gridCol w="1371600"/>
              </a:tblGrid>
              <a:tr h="0">
                <a:tc>
                  <a:txBody>
                    <a:bodyPr/>
                    <a:lstStyle/>
                    <a:p>
                      <a:pPr indent="0" marL="0">
                        <a:buNone/>
                      </a:pPr>
                      <a:r>
                        <a:rPr lang="en-US" sz="1200" b="1" dirty="0">
                          <a:solidFill>
                            <a:schemeClr val="bg1"/>
                          </a:solidFill>
                        </a:rPr>
                        <a:t>Работа</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200" b="1" dirty="0">
                          <a:solidFill>
                            <a:schemeClr val="bg1"/>
                          </a:solidFill>
                        </a:rPr>
                        <a:t>У нас</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200" b="1" dirty="0">
                          <a:solidFill>
                            <a:schemeClr val="bg1"/>
                          </a:solidFill>
                        </a:rPr>
                        <a:t>У клиента</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r>
              <a:tr h="0">
                <a:tc>
                  <a:txBody>
                    <a:bodyPr/>
                    <a:lstStyle/>
                    <a:p>
                      <a:pPr indent="0" marL="0">
                        <a:buNone/>
                      </a:pPr>
                      <a:r>
                        <a:rPr lang="en-US" sz="1200" dirty="0">
                          <a:solidFill>
                            <a:schemeClr val="tx1"/>
                          </a:solidFill>
                        </a:rPr>
                        <a:t>Проба покрытия</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00" dirty="0">
                          <a:solidFill>
                            <a:schemeClr val="tx1"/>
                          </a:solidFill>
                        </a:rPr>
                        <a:t>6-8 ч</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00" dirty="0">
                          <a:solidFill>
                            <a:schemeClr val="tx1"/>
                          </a:solidFill>
                        </a:rPr>
                        <a:t>1 ч</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00" dirty="0">
                          <a:solidFill>
                            <a:schemeClr val="tx1"/>
                          </a:solidFill>
                        </a:rPr>
                        <a:t>Настройка: репозитории, адреса, сервисы</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00" dirty="0">
                          <a:solidFill>
                            <a:schemeClr val="tx1"/>
                          </a:solidFill>
                        </a:rPr>
                        <a:t>8-12 ч</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00" dirty="0">
                          <a:solidFill>
                            <a:schemeClr val="tx1"/>
                          </a:solidFill>
                        </a:rPr>
                        <a:t>1 ч</a:t>
                      </a:r>
                      <a:endParaRPr lang="en-US" sz="1200" dirty="0"/>
                    </a:p>
                  </a:txBody>
                  <a:tcPr marL="91440" marR="91440"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22" name="Text 19"/>
          <p:cNvSpPr txBox="1"/>
          <p:nvPr/>
        </p:nvSpPr>
        <p:spPr>
          <a:xfrm>
            <a:off x="7269480" y="6053328"/>
            <a:ext cx="4373575" cy="320040"/>
          </a:xfrm>
          <a:prstGeom prst="rect">
            <a:avLst/>
          </a:prstGeom>
          <a:noFill/>
          <a:ln/>
        </p:spPr>
        <p:txBody>
          <a:bodyPr wrap="square" lIns="0" tIns="0" rIns="0" bIns="0" rtlCol="0" anchor="t"/>
          <a:lstStyle/>
          <a:p>
            <a:pPr indent="0" marL="0">
              <a:buNone/>
            </a:pPr>
            <a:r>
              <a:rPr lang="en-US" sz="1100" dirty="0">
                <a:solidFill>
                  <a:schemeClr val="accent5"/>
                </a:solidFill>
              </a:rPr>
              <a:t>Оценки до замера. Источник: PROTOCOL.md §2, OFFER.md "Труд подключения".</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П4. Синтетический стенд: что в нём есть и как читать его результаты</a:t>
            </a:r>
            <a:endParaRPr lang="en-US" sz="2800" dirty="0"/>
          </a:p>
        </p:txBody>
      </p:sp>
      <p:sp>
        <p:nvSpPr>
          <p:cNvPr id="3" name="chip-synth"/>
          <p:cNvSpPr/>
          <p:nvPr/>
        </p:nvSpPr>
        <p:spPr>
          <a:xfrm>
            <a:off x="548640" y="1463040"/>
            <a:ext cx="3983126"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3983126"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СИНТЕТИЧЕСКИЙ СТЕНД · приёмка на ВМ 22.10.2026</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035040" cy="914400"/>
        </p:xfrm>
        <a:graphic>
          <a:graphicData uri="http://schemas.openxmlformats.org/drawingml/2006/table">
            <a:tbl>
              <a:tblPr/>
              <a:tblGrid>
                <a:gridCol w="1280160"/>
                <a:gridCol w="1737360"/>
                <a:gridCol w="914400"/>
                <a:gridCol w="914400"/>
                <a:gridCol w="1188720"/>
              </a:tblGrid>
              <a:tr h="0">
                <a:tc>
                  <a:txBody>
                    <a:bodyPr/>
                    <a:lstStyle/>
                    <a:p>
                      <a:pPr algn="ctr" indent="0" marL="0">
                        <a:buNone/>
                      </a:pPr>
                      <a:r>
                        <a:rPr lang="en-US" sz="1300" b="1" dirty="0">
                          <a:solidFill>
                            <a:schemeClr val="bg1"/>
                          </a:solidFill>
                        </a:rPr>
                        <a:t>Версия</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Reporting</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Billing</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Export</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Проверка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0">
                <a:tc>
                  <a:txBody>
                    <a:bodyPr/>
                    <a:lstStyle/>
                    <a:p>
                      <a:pPr algn="ctr" indent="0" marL="0">
                        <a:buNone/>
                      </a:pPr>
                      <a:r>
                        <a:rPr lang="en-US" sz="1300" b="1" dirty="0">
                          <a:solidFill>
                            <a:schemeClr val="tx1"/>
                          </a:solidFill>
                        </a:rPr>
                        <a:t>A исходно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нет</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300" b="1" dirty="0">
                          <a:solidFill>
                            <a:schemeClr val="tx1"/>
                          </a:solidFill>
                        </a:rPr>
                        <a:t>B лимит 100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b="1" dirty="0">
                          <a:solidFill>
                            <a:schemeClr val="accent4"/>
                          </a:solidFill>
                        </a:rPr>
                        <a:t>100, пропущены 101-250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нет</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accent4"/>
                          </a:solidFill>
                        </a:rPr>
                        <a:t>ожидаемый FAIL</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300" b="1" dirty="0">
                          <a:solidFill>
                            <a:schemeClr val="tx1"/>
                          </a:solidFill>
                        </a:rPr>
                        <a:t>D исправлен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нет</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300" b="1" dirty="0">
                          <a:solidFill>
                            <a:schemeClr val="tx1"/>
                          </a:solidFill>
                        </a:rPr>
                        <a:t>E + Export</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300" dirty="0">
                          <a:solidFill>
                            <a:schemeClr val="tx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6" name="Text 3"/>
          <p:cNvSpPr txBox="1"/>
          <p:nvPr/>
        </p:nvSpPr>
        <p:spPr>
          <a:xfrm>
            <a:off x="548640" y="3977640"/>
            <a:ext cx="6035040" cy="21031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Сервисы Orders и Status, потребители Billing, Reporting, Health, Export; 250 синтетических ID</a:t>
            </a:r>
            <a:endParaRPr lang="en-US" sz="1500" dirty="0"/>
          </a:p>
          <a:p>
            <a:pPr marL="203200" indent="-203200">
              <a:spcAft>
                <a:spcPts val="600"/>
              </a:spcAft>
              <a:buSzPct val="100000"/>
              <a:buChar char="•"/>
            </a:pPr>
            <a:r>
              <a:rPr lang="en-US" sz="1300" dirty="0">
                <a:solidFill>
                  <a:schemeClr val="tx1"/>
                </a:solidFill>
              </a:rPr>
              <a:t>5 полных показов подряд, 20 проверок, без дублей и лишних ID, ИИ-модель выключена</a:t>
            </a:r>
            <a:endParaRPr lang="en-US" sz="1500" dirty="0"/>
          </a:p>
          <a:p>
            <a:pPr marL="203200" indent="-203200">
              <a:spcAft>
                <a:spcPts val="600"/>
              </a:spcAft>
              <a:buSzPct val="100000"/>
              <a:buChar char="•"/>
            </a:pPr>
            <a:r>
              <a:rPr lang="en-US" sz="1300" dirty="0">
                <a:solidFill>
                  <a:schemeClr val="tx1"/>
                </a:solidFill>
              </a:rPr>
              <a:t>Запуск выполняет оператор отдельным runner: результат записан как его наблюдение, не независимая проверка</a:t>
            </a:r>
            <a:endParaRPr lang="en-US" sz="1500" dirty="0"/>
          </a:p>
          <a:p>
            <a:pPr marL="203200" indent="-203200">
              <a:spcAft>
                <a:spcPts val="600"/>
              </a:spcAft>
              <a:buSzPct val="100000"/>
              <a:buChar char="•"/>
            </a:pPr>
            <a:r>
              <a:rPr lang="en-US" sz="1300" dirty="0">
                <a:solidFill>
                  <a:schemeClr val="tx1"/>
                </a:solidFill>
              </a:rPr>
              <a:t>Статический анализ всегда помечен "неполные данные" из-за декораторов FastAPI: этот ярлык сигнала не несёт</a:t>
            </a:r>
            <a:endParaRPr lang="en-US" sz="1500" dirty="0"/>
          </a:p>
        </p:txBody>
      </p:sp>
      <p:sp>
        <p:nvSpPr>
          <p:cNvPr id="7" name="Text 4"/>
          <p:cNvSpPr txBox="1"/>
          <p:nvPr/>
        </p:nvSpPr>
        <p:spPr>
          <a:xfrm>
            <a:off x="6949440" y="1920240"/>
            <a:ext cx="4693615" cy="3200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Экран не выдаёт отсутствие проверки за успех</a:t>
            </a:r>
            <a:endParaRPr lang="en-US" sz="1500" dirty="0"/>
          </a:p>
        </p:txBody>
      </p:sp>
      <p:sp>
        <p:nvSpPr>
          <p:cNvPr id="8" name="frame-a-summary"/>
          <p:cNvSpPr/>
          <p:nvPr/>
        </p:nvSpPr>
        <p:spPr>
          <a:xfrm>
            <a:off x="6912864" y="2295144"/>
            <a:ext cx="4766767" cy="790771"/>
          </a:xfrm>
          <a:prstGeom prst="rect">
            <a:avLst/>
          </a:prstGeom>
          <a:solidFill>
            <a:schemeClr val="bg1"/>
          </a:solidFill>
          <a:ln w="12700">
            <a:solidFill>
              <a:srgbClr val="C9D6D1"/>
            </a:solidFill>
            <a:prstDash val="solid"/>
          </a:ln>
        </p:spPr>
      </p:sp>
      <p:pic>
        <p:nvPicPr>
          <p:cNvPr id="9" name="Image 0" descr="Экран приложения: a-summary">    </p:cNvPr>
          <p:cNvPicPr>
            <a:picLocks noChangeAspect="1"/>
          </p:cNvPicPr>
          <p:nvPr/>
        </p:nvPicPr>
        <p:blipFill>
          <a:blip r:embed="rId1"/>
          <a:stretch>
            <a:fillRect/>
          </a:stretch>
        </p:blipFill>
        <p:spPr>
          <a:xfrm>
            <a:off x="6949440" y="2331720"/>
            <a:ext cx="4693615" cy="717619"/>
          </a:xfrm>
          <a:prstGeom prst="rect">
            <a:avLst/>
          </a:prstGeom>
        </p:spPr>
      </p:pic>
      <p:sp>
        <p:nvSpPr>
          <p:cNvPr id="10" name="frame-a-nocheck"/>
          <p:cNvSpPr/>
          <p:nvPr/>
        </p:nvSpPr>
        <p:spPr>
          <a:xfrm>
            <a:off x="6912864" y="3149923"/>
            <a:ext cx="4766767" cy="373200"/>
          </a:xfrm>
          <a:prstGeom prst="rect">
            <a:avLst/>
          </a:prstGeom>
          <a:solidFill>
            <a:schemeClr val="bg1"/>
          </a:solidFill>
          <a:ln w="12700">
            <a:solidFill>
              <a:srgbClr val="C9D6D1"/>
            </a:solidFill>
            <a:prstDash val="solid"/>
          </a:ln>
        </p:spPr>
      </p:sp>
      <p:pic>
        <p:nvPicPr>
          <p:cNvPr id="11" name="Image 1" descr="Экран приложения: a-nocheck">    </p:cNvPr>
          <p:cNvPicPr>
            <a:picLocks noChangeAspect="1"/>
          </p:cNvPicPr>
          <p:nvPr/>
        </p:nvPicPr>
        <p:blipFill>
          <a:blip r:embed="rId2"/>
          <a:stretch>
            <a:fillRect/>
          </a:stretch>
        </p:blipFill>
        <p:spPr>
          <a:xfrm>
            <a:off x="6949440" y="3186499"/>
            <a:ext cx="4693615" cy="300048"/>
          </a:xfrm>
          <a:prstGeom prst="rect">
            <a:avLst/>
          </a:prstGeom>
        </p:spPr>
      </p:pic>
      <p:sp>
        <p:nvSpPr>
          <p:cNvPr id="12" name="Text 7"/>
          <p:cNvSpPr txBox="1"/>
          <p:nvPr/>
        </p:nvSpPr>
        <p:spPr>
          <a:xfrm>
            <a:off x="6949440" y="3623707"/>
            <a:ext cx="4693615" cy="274320"/>
          </a:xfrm>
          <a:prstGeom prst="rect">
            <a:avLst/>
          </a:prstGeom>
          <a:noFill/>
          <a:ln/>
        </p:spPr>
        <p:txBody>
          <a:bodyPr wrap="square" lIns="0" tIns="0" rIns="0" bIns="0" rtlCol="0" anchor="t"/>
          <a:lstStyle/>
          <a:p>
            <a:pPr indent="0" marL="0">
              <a:buNone/>
            </a:pPr>
            <a:r>
              <a:rPr lang="en-US" sz="1100" dirty="0">
                <a:solidFill>
                  <a:schemeClr val="accent5"/>
                </a:solidFill>
              </a:rPr>
              <a:t>Версия A подготовлена, запуска не было</a:t>
            </a:r>
            <a:endParaRPr lang="en-US" sz="1100" dirty="0"/>
          </a:p>
        </p:txBody>
      </p:sp>
      <p:sp>
        <p:nvSpPr>
          <p:cNvPr id="13" name="Text 8"/>
          <p:cNvSpPr txBox="1"/>
          <p:nvPr/>
        </p:nvSpPr>
        <p:spPr>
          <a:xfrm>
            <a:off x="6949440" y="4080907"/>
            <a:ext cx="4693615" cy="3200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Остановленный сервис даёт "Не подтверждено"</a:t>
            </a:r>
            <a:endParaRPr lang="en-US" sz="1500" dirty="0"/>
          </a:p>
        </p:txBody>
      </p:sp>
      <p:sp>
        <p:nvSpPr>
          <p:cNvPr id="14" name="frame-stop-summary"/>
          <p:cNvSpPr/>
          <p:nvPr/>
        </p:nvSpPr>
        <p:spPr>
          <a:xfrm>
            <a:off x="6912864" y="4455811"/>
            <a:ext cx="4766767" cy="648198"/>
          </a:xfrm>
          <a:prstGeom prst="rect">
            <a:avLst/>
          </a:prstGeom>
          <a:solidFill>
            <a:schemeClr val="bg1"/>
          </a:solidFill>
          <a:ln w="12700">
            <a:solidFill>
              <a:srgbClr val="C9D6D1"/>
            </a:solidFill>
            <a:prstDash val="solid"/>
          </a:ln>
        </p:spPr>
      </p:sp>
      <p:pic>
        <p:nvPicPr>
          <p:cNvPr id="15" name="Image 2" descr="Экран приложения: stop-summary">    </p:cNvPr>
          <p:cNvPicPr>
            <a:picLocks noChangeAspect="1"/>
          </p:cNvPicPr>
          <p:nvPr/>
        </p:nvPicPr>
        <p:blipFill>
          <a:blip r:embed="rId3"/>
          <a:stretch>
            <a:fillRect/>
          </a:stretch>
        </p:blipFill>
        <p:spPr>
          <a:xfrm>
            <a:off x="6949440" y="4492387"/>
            <a:ext cx="4693615" cy="575046"/>
          </a:xfrm>
          <a:prstGeom prst="rect">
            <a:avLst/>
          </a:prstGeom>
        </p:spPr>
      </p:pic>
      <p:sp>
        <p:nvSpPr>
          <p:cNvPr id="16" name="Text 10"/>
          <p:cNvSpPr txBox="1"/>
          <p:nvPr/>
        </p:nvSpPr>
        <p:spPr>
          <a:xfrm>
            <a:off x="6949440" y="5158873"/>
            <a:ext cx="4693615" cy="411480"/>
          </a:xfrm>
          <a:prstGeom prst="rect">
            <a:avLst/>
          </a:prstGeom>
          <a:noFill/>
          <a:ln/>
        </p:spPr>
        <p:txBody>
          <a:bodyPr wrap="square" lIns="0" tIns="0" rIns="0" bIns="0" rtlCol="0" anchor="t"/>
          <a:lstStyle/>
          <a:p>
            <a:pPr indent="0" marL="0">
              <a:buNone/>
            </a:pPr>
            <a:r>
              <a:rPr lang="en-US" sz="1100" dirty="0">
                <a:solidFill>
                  <a:schemeClr val="accent5"/>
                </a:solidFill>
              </a:rPr>
              <a:t>Status остановлен: текущий запуск не подтверждён, прошлый PASS остаётся историей</a:t>
            </a:r>
            <a:endParaRPr lang="en-US" sz="1100" dirty="0"/>
          </a:p>
        </p:txBody>
      </p:sp>
      <p:sp>
        <p:nvSpPr>
          <p:cNvPr id="17" name="Text 11"/>
          <p:cNvSpPr txBox="1"/>
          <p:nvPr/>
        </p:nvSpPr>
        <p:spPr>
          <a:xfrm>
            <a:off x="548640" y="6108192"/>
            <a:ext cx="6035040" cy="274320"/>
          </a:xfrm>
          <a:prstGeom prst="rect">
            <a:avLst/>
          </a:prstGeom>
          <a:noFill/>
          <a:ln/>
        </p:spPr>
        <p:txBody>
          <a:bodyPr wrap="square" lIns="0" tIns="0" rIns="0" bIns="0" rtlCol="0" anchor="t"/>
          <a:lstStyle/>
          <a:p>
            <a:pPr indent="0" marL="0">
              <a:buNone/>
            </a:pPr>
            <a:r>
              <a:rPr lang="en-US" sz="1100" dirty="0">
                <a:solidFill>
                  <a:schemeClr val="accent5"/>
                </a:solidFill>
              </a:rPr>
              <a:t>Источник: docs/agent-graph-demo/deployments/2026-10-22/README.md; FINDINGS F2, L1.</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П5. Модельная серия 22.10.2026: шесть случаев, два полных цикла, контроль не пройден</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2103120"/>
                <a:gridCol w="914400"/>
                <a:gridCol w="2514600"/>
                <a:gridCol w="2377440"/>
                <a:gridCol w="1353312"/>
              </a:tblGrid>
              <a:tr h="0">
                <a:tc>
                  <a:txBody>
                    <a:bodyPr/>
                    <a:lstStyle/>
                    <a:p>
                      <a:pPr indent="0" marL="0">
                        <a:buNone/>
                      </a:pPr>
                      <a:r>
                        <a:rPr lang="en-US" sz="1300" b="1" dirty="0">
                          <a:solidFill>
                            <a:schemeClr val="bg1"/>
                          </a:solidFill>
                        </a:rPr>
                        <a:t>Модель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Случай</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Запросы</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Протокол действий</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Связь и основание</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Полный цикл</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0">
                <a:tc>
                  <a:txBody>
                    <a:bodyPr/>
                    <a:lstStyle/>
                    <a:p>
                      <a:pPr indent="0" marL="0">
                        <a:buNone/>
                      </a:pPr>
                      <a:r>
                        <a:rPr lang="en-US" sz="1300" dirty="0">
                          <a:solidFill>
                            <a:schemeClr val="tx1"/>
                          </a:solidFill>
                        </a:rPr>
                        <a:t>Qwen3-Coder-Next</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Reporting → Orders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3</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Ответ отклонён при предложении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Не оценивались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4"/>
                          </a:solidFill>
                        </a:rPr>
                        <a:t>FAIL</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GPT OSS 120B</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Reporting → Orders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5</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PASS, кандидат не утверждён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Qwen3-Coder-Next</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Export → Orders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3</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Ответ отклонён при предложении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Не оценивались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4"/>
                          </a:solidFill>
                        </a:rPr>
                        <a:t>FAIL</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GPT OSS 120B</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Export → Orders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PASS, кандидат не утверждён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PASS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Qwen3-Coder-Next</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Status, ложная подсказка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Ответ отклонён при предложении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Не оценивались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4"/>
                          </a:solidFill>
                        </a:rPr>
                        <a:t>FAIL</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GPT OSS 120B</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Status, ложная подсказка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Ответ отклонён при предложении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Не оценивались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4"/>
                          </a:solidFill>
                        </a:rPr>
                        <a:t>FAIL</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4" name="Text 1"/>
          <p:cNvSpPr txBox="1"/>
          <p:nvPr/>
        </p:nvSpPr>
        <p:spPr>
          <a:xfrm>
            <a:off x="548640" y="4343400"/>
            <a:ext cx="5364328" cy="17373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Один протокол для обеих моделей, temperature 0, до 5 шагов на случай, без повторов; серия не повторялась и не исправлялась</a:t>
            </a:r>
            <a:endParaRPr lang="en-US" sz="1500" dirty="0"/>
          </a:p>
          <a:p>
            <a:pPr marL="203200" indent="-203200">
              <a:spcAft>
                <a:spcPts val="600"/>
              </a:spcAft>
              <a:buSzPct val="100000"/>
              <a:buChar char="•"/>
            </a:pPr>
            <a:r>
              <a:rPr lang="en-US" sz="1300" dirty="0">
                <a:solidFill>
                  <a:schemeClr val="tx1"/>
                </a:solidFill>
              </a:rPr>
              <a:t>Все 23 ответа HTTP 200 и прошли разбор JSON; четыре случая остановились на проверке действия до оценки по существу</a:t>
            </a:r>
            <a:endParaRPr lang="en-US" sz="1500" dirty="0"/>
          </a:p>
          <a:p>
            <a:pPr marL="203200" indent="-203200">
              <a:spcAft>
                <a:spcPts val="600"/>
              </a:spcAft>
              <a:buSzPct val="100000"/>
              <a:buChar char="•"/>
            </a:pPr>
            <a:r>
              <a:rPr lang="en-US" sz="1300" dirty="0">
                <a:solidFill>
                  <a:schemeClr val="tx1"/>
                </a:solidFill>
              </a:rPr>
              <a:t>Принятый кандидат совпадает со связью статического анализа по устройству проверки: модель не находит связи сверх него</a:t>
            </a:r>
            <a:endParaRPr lang="en-US" sz="1500" dirty="0"/>
          </a:p>
        </p:txBody>
      </p:sp>
      <p:sp>
        <p:nvSpPr>
          <p:cNvPr id="5" name="Text 2"/>
          <p:cNvSpPr txBox="1"/>
          <p:nvPr/>
        </p:nvSpPr>
        <p:spPr>
          <a:xfrm>
            <a:off x="6278728" y="4343400"/>
            <a:ext cx="5364328" cy="17373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23 запроса, 29 593 входных и 6 674 выходных токенов</a:t>
            </a:r>
            <a:endParaRPr lang="en-US" sz="1500" dirty="0"/>
          </a:p>
          <a:p>
            <a:pPr marL="203200" indent="-203200">
              <a:spcAft>
                <a:spcPts val="600"/>
              </a:spcAft>
              <a:buSzPct val="100000"/>
              <a:buChar char="•"/>
            </a:pPr>
            <a:r>
              <a:rPr lang="en-US" sz="1300" dirty="0">
                <a:solidFill>
                  <a:schemeClr val="tx1"/>
                </a:solidFill>
              </a:rPr>
              <a:t>Оценка стоимости около 2,58 ₽ по опубликованным ставкам Cloud.ru; фактический биллинг не измерялся</a:t>
            </a:r>
            <a:endParaRPr lang="en-US" sz="1500" dirty="0"/>
          </a:p>
          <a:p>
            <a:pPr marL="203200" indent="-203200">
              <a:spcAft>
                <a:spcPts val="600"/>
              </a:spcAft>
              <a:buSzPct val="100000"/>
              <a:buChar char="•"/>
            </a:pPr>
            <a:r>
              <a:rPr lang="en-US" sz="1300" dirty="0">
                <a:solidFill>
                  <a:schemeClr val="tx1"/>
                </a:solidFill>
              </a:rPr>
              <a:t>Вывод о преимуществе над coding agent по шести синтетическим случаям не делается</a:t>
            </a:r>
            <a:endParaRPr lang="en-US" sz="1500" dirty="0"/>
          </a:p>
        </p:txBody>
      </p:sp>
      <p:sp>
        <p:nvSpPr>
          <p:cNvPr id="6" name="Text 3"/>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Источник: experiments/evidence_refs_v2/runs/2026-10-22-batch1/README.md; FINDINGS F7, L2.</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П6. Замеры: анализ растёт линейно с корпусом, на реальном коде почти все пробелы шумовые</a:t>
            </a:r>
            <a:endParaRPr lang="en-US" sz="2800" dirty="0"/>
          </a:p>
        </p:txBody>
      </p:sp>
      <p:sp>
        <p:nvSpPr>
          <p:cNvPr id="3" name="chip-ok"/>
          <p:cNvSpPr/>
          <p:nvPr/>
        </p:nvSpPr>
        <p:spPr>
          <a:xfrm>
            <a:off x="548640" y="1463040"/>
            <a:ext cx="4412894" cy="274320"/>
          </a:xfrm>
          <a:prstGeom prst="roundRect">
            <a:avLst>
              <a:gd name="adj" fmla="val 26667"/>
            </a:avLst>
          </a:prstGeom>
          <a:solidFill>
            <a:schemeClr val="accent1">
              <a:alpha val="14000"/>
            </a:schemeClr>
          </a:solidFill>
          <a:ln w="9525">
            <a:solidFill>
              <a:schemeClr val="accent1"/>
            </a:solidFill>
            <a:prstDash val="solid"/>
          </a:ln>
        </p:spPr>
      </p:sp>
      <p:sp>
        <p:nvSpPr>
          <p:cNvPr id="4" name="Text 2"/>
          <p:cNvSpPr txBox="1"/>
          <p:nvPr/>
        </p:nvSpPr>
        <p:spPr>
          <a:xfrm>
            <a:off x="548640" y="1463040"/>
            <a:ext cx="4412894" cy="274320"/>
          </a:xfrm>
          <a:prstGeom prst="rect">
            <a:avLst/>
          </a:prstGeom>
          <a:noFill/>
          <a:ln/>
        </p:spPr>
        <p:txBody>
          <a:bodyPr wrap="square" lIns="0" tIns="0" rIns="0" bIns="0" rtlCol="0" anchor="ctr"/>
          <a:lstStyle/>
          <a:p>
            <a:pPr algn="ctr" indent="0" marL="0">
              <a:buNone/>
            </a:pPr>
            <a:r>
              <a:rPr lang="en-US" sz="1050" b="1" spc="50" kern="0" dirty="0">
                <a:solidFill>
                  <a:schemeClr val="accent1"/>
                </a:solidFill>
              </a:rPr>
              <a:t>ПОДТВЕРЖДЕНО · Windows 11 через shim, Linux не замерен</a:t>
            </a:r>
            <a:endParaRPr lang="en-US" sz="1050" dirty="0"/>
          </a:p>
        </p:txBody>
      </p:sp>
      <p:sp>
        <p:nvSpPr>
          <p:cNvPr id="5" name="Text 3"/>
          <p:cNvSpPr txBox="1"/>
          <p:nvPr/>
        </p:nvSpPr>
        <p:spPr>
          <a:xfrm>
            <a:off x="548640" y="1874520"/>
            <a:ext cx="5303520" cy="29260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Синтетический корпус, секунды</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5303520" cy="914400"/>
        </p:xfrm>
        <a:graphic>
          <a:graphicData uri="http://schemas.openxmlformats.org/drawingml/2006/table">
            <a:tbl>
              <a:tblPr/>
              <a:tblGrid>
                <a:gridCol w="914400"/>
                <a:gridCol w="731520"/>
                <a:gridCol w="1097280"/>
                <a:gridCol w="1371600"/>
                <a:gridCol w="1188720"/>
              </a:tblGrid>
              <a:tr h="0">
                <a:tc>
                  <a:txBody>
                    <a:bodyPr/>
                    <a:lstStyle/>
                    <a:p>
                      <a:pPr algn="ctr" indent="0" marL="0">
                        <a:buNone/>
                      </a:pPr>
                      <a:r>
                        <a:rPr lang="en-US" sz="1200" b="1" dirty="0">
                          <a:solidFill>
                            <a:schemeClr val="bg1"/>
                          </a:solidFill>
                        </a:rPr>
                        <a:t>Файлов</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МБ</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Подготовка</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Анализ изменения</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Пик памяти, МБ</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0">
                <a:tc>
                  <a:txBody>
                    <a:bodyPr/>
                    <a:lstStyle/>
                    <a:p>
                      <a:pPr algn="ctr" indent="0" marL="0">
                        <a:buNone/>
                      </a:pPr>
                      <a:r>
                        <a:rPr lang="en-US" sz="1200" dirty="0">
                          <a:solidFill>
                            <a:schemeClr val="tx1"/>
                          </a:solidFill>
                        </a:rPr>
                        <a:t>20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0,05</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0,08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0,09</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38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200" dirty="0">
                          <a:solidFill>
                            <a:schemeClr val="tx1"/>
                          </a:solidFill>
                        </a:rPr>
                        <a:t>1 010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1,1</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2,91</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3,18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104</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200" dirty="0">
                          <a:solidFill>
                            <a:schemeClr val="tx1"/>
                          </a:solidFill>
                        </a:rPr>
                        <a:t>3 010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3,3</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8,20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9,31</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235</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200" dirty="0">
                          <a:solidFill>
                            <a:schemeClr val="tx1"/>
                          </a:solidFill>
                        </a:rPr>
                        <a:t>9 010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9,8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25,08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28,48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619</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7" name="Text 4"/>
          <p:cNvSpPr txBox="1"/>
          <p:nvPr/>
        </p:nvSpPr>
        <p:spPr>
          <a:xfrm>
            <a:off x="6217920" y="1874520"/>
            <a:ext cx="5425135" cy="29260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Публичные репозитории</a:t>
            </a:r>
            <a:endParaRPr lang="en-US" sz="15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17920" y="2240280"/>
          <a:ext cx="5425135" cy="914400"/>
        </p:xfrm>
        <a:graphic>
          <a:graphicData uri="http://schemas.openxmlformats.org/drawingml/2006/table">
            <a:tbl>
              <a:tblPr/>
              <a:tblGrid>
                <a:gridCol w="1325880"/>
                <a:gridCol w="777240"/>
                <a:gridCol w="731520"/>
                <a:gridCol w="868680"/>
                <a:gridCol w="914400"/>
                <a:gridCol w="807415"/>
              </a:tblGrid>
              <a:tr h="0">
                <a:tc>
                  <a:txBody>
                    <a:bodyPr/>
                    <a:lstStyle/>
                    <a:p>
                      <a:pPr algn="ctr" indent="0" marL="0">
                        <a:buNone/>
                      </a:pPr>
                      <a:r>
                        <a:rPr lang="en-US" sz="1200" b="1" dirty="0">
                          <a:solidFill>
                            <a:schemeClr val="bg1"/>
                          </a:solidFill>
                        </a:rPr>
                        <a:t>Корпус</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Файлов</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Связей</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Пробелов</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Из них шум</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Анализ, с</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1"/>
                    </a:solidFill>
                  </a:tcPr>
                </a:tc>
              </a:tr>
              <a:tr h="0">
                <a:tc>
                  <a:txBody>
                    <a:bodyPr/>
                    <a:lstStyle/>
                    <a:p>
                      <a:pPr algn="ctr" indent="0" marL="0">
                        <a:buNone/>
                      </a:pPr>
                      <a:r>
                        <a:rPr lang="en-US" sz="1200" dirty="0">
                          <a:solidFill>
                            <a:schemeClr val="tx1"/>
                          </a:solidFill>
                        </a:rPr>
                        <a:t>requests 2.32.5</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41</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375</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106</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0,38</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200" dirty="0">
                          <a:solidFill>
                            <a:schemeClr val="tx1"/>
                          </a:solidFill>
                        </a:rPr>
                        <a:t>fastapi 0.115.0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2 113</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3 181</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3 120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5,13</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algn="ctr" indent="0" marL="0">
                        <a:buNone/>
                      </a:pPr>
                      <a:r>
                        <a:rPr lang="en-US" sz="1200" dirty="0">
                          <a:solidFill>
                            <a:schemeClr val="tx1"/>
                          </a:solidFill>
                        </a:rPr>
                        <a:t>django 5.1</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2 842</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4 190</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4 163</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algn="ctr" indent="0" marL="0">
                        <a:buNone/>
                      </a:pPr>
                      <a:r>
                        <a:rPr lang="en-US" sz="1200" dirty="0">
                          <a:solidFill>
                            <a:schemeClr val="tx1"/>
                          </a:solidFill>
                        </a:rPr>
                        <a:t>17,57</a:t>
                      </a:r>
                      <a:endParaRPr lang="en-US" sz="1200" dirty="0"/>
                    </a:p>
                  </a:txBody>
                  <a:tcPr marL="54864" marR="54864" marT="36576" marB="36576">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9" name="Text 5"/>
          <p:cNvSpPr txBox="1"/>
          <p:nvPr/>
        </p:nvSpPr>
        <p:spPr>
          <a:xfrm>
            <a:off x="6217920" y="3703320"/>
            <a:ext cx="5425135" cy="640080"/>
          </a:xfrm>
          <a:prstGeom prst="rect">
            <a:avLst/>
          </a:prstGeom>
          <a:noFill/>
          <a:ln/>
        </p:spPr>
        <p:txBody>
          <a:bodyPr wrap="square" lIns="0" tIns="0" rIns="0" bIns="0" rtlCol="0" anchor="t"/>
          <a:lstStyle/>
          <a:p>
            <a:pPr indent="0" marL="0">
              <a:buNone/>
            </a:pPr>
            <a:r>
              <a:rPr lang="en-US" sz="1100" dirty="0">
                <a:solidFill>
                  <a:schemeClr val="accent5"/>
                </a:solidFill>
              </a:rPr>
              <a:t>"Шум" это пробелы unknown_http_client, в том числе на dict.get и декораторах @app.get. Связей 0, потому что адреса в настройках не совпадали с кодом этих проектов.</a:t>
            </a:r>
            <a:endParaRPr lang="en-US" sz="1100" dirty="0"/>
          </a:p>
        </p:txBody>
      </p:sp>
      <p:sp>
        <p:nvSpPr>
          <p:cNvPr id="10" name="Text 6"/>
          <p:cNvSpPr txBox="1"/>
          <p:nvPr/>
        </p:nvSpPr>
        <p:spPr>
          <a:xfrm>
            <a:off x="548640" y="4434840"/>
            <a:ext cx="11094415" cy="15544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Оборудование: AMD Ryzen 5 9600X, 31 ГБ, NVMe, Windows 11 с включённым Defender, CPython 3.12.15</a:t>
            </a:r>
            <a:endParaRPr lang="en-US" sz="1500" dirty="0"/>
          </a:p>
          <a:p>
            <a:pPr marL="203200" indent="-203200">
              <a:spcAft>
                <a:spcPts val="600"/>
              </a:spcAft>
              <a:buSzPct val="100000"/>
              <a:buChar char="•"/>
            </a:pPr>
            <a:r>
              <a:rPr lang="en-US" sz="1300" dirty="0">
                <a:solidFill>
                  <a:schemeClr val="tx1"/>
                </a:solidFill>
              </a:rPr>
              <a:t>Shim заменяет только чтение файла и блокировку: ядро опирается на Linux-вызовы. Остальной код исполняется как есть</a:t>
            </a:r>
            <a:endParaRPr lang="en-US" sz="1500" dirty="0"/>
          </a:p>
          <a:p>
            <a:pPr marL="203200" indent="-203200">
              <a:spcAft>
                <a:spcPts val="600"/>
              </a:spcAft>
              <a:buSzPct val="100000"/>
              <a:buChar char="•"/>
            </a:pPr>
            <a:r>
              <a:rPr lang="en-US" sz="1300" dirty="0">
                <a:solidFill>
                  <a:schemeClr val="tx1"/>
                </a:solidFill>
              </a:rPr>
              <a:t>Синтетика: медиана трёх повторов; реальные корпуса: медиана двух прогонов</a:t>
            </a:r>
            <a:endParaRPr lang="en-US" sz="1500" dirty="0"/>
          </a:p>
          <a:p>
            <a:pPr marL="203200" indent="-203200">
              <a:spcAft>
                <a:spcPts val="600"/>
              </a:spcAft>
              <a:buSzPct val="100000"/>
              <a:buChar char="•"/>
            </a:pPr>
            <a:r>
              <a:rPr lang="en-US" sz="1300" dirty="0">
                <a:solidFill>
                  <a:schemeClr val="tx1"/>
                </a:solidFill>
              </a:rPr>
              <a:t>Лимит ядра 20 МБ на корпус: django в 17,3 МБ уже близок к нему</a:t>
            </a:r>
            <a:endParaRPr lang="en-US" sz="1500" dirty="0"/>
          </a:p>
        </p:txBody>
      </p:sp>
      <p:sp>
        <p:nvSpPr>
          <p:cNvPr id="11" name="Text 7"/>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Источник: docs/audits/architecture/MEASUREMENTS.md на ветке docs/architecture-audit (PR #44, открыт).</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П7. До старта делаем только то, без чего пилот измерил бы известные дефекты</a:t>
            </a:r>
            <a:endParaRPr lang="en-US" sz="2800" dirty="0"/>
          </a:p>
        </p:txBody>
      </p:sp>
      <p:sp>
        <p:nvSpPr>
          <p:cNvPr id="3" name="chip-plan"/>
          <p:cNvSpPr/>
          <p:nvPr/>
        </p:nvSpPr>
        <p:spPr>
          <a:xfrm>
            <a:off x="548640" y="1463040"/>
            <a:ext cx="4394606" cy="274320"/>
          </a:xfrm>
          <a:prstGeom prst="roundRect">
            <a:avLst>
              <a:gd name="adj" fmla="val 26667"/>
            </a:avLst>
          </a:prstGeom>
          <a:solidFill>
            <a:schemeClr val="accent3">
              <a:alpha val="14000"/>
            </a:schemeClr>
          </a:solidFill>
          <a:ln w="9525">
            <a:solidFill>
              <a:schemeClr val="accent3"/>
            </a:solidFill>
            <a:prstDash val="solid"/>
          </a:ln>
        </p:spPr>
      </p:sp>
      <p:sp>
        <p:nvSpPr>
          <p:cNvPr id="4" name="Text 2"/>
          <p:cNvSpPr txBox="1"/>
          <p:nvPr/>
        </p:nvSpPr>
        <p:spPr>
          <a:xfrm>
            <a:off x="548640" y="1463040"/>
            <a:ext cx="4394606" cy="274320"/>
          </a:xfrm>
          <a:prstGeom prst="rect">
            <a:avLst/>
          </a:prstGeom>
          <a:noFill/>
          <a:ln/>
        </p:spPr>
        <p:txBody>
          <a:bodyPr wrap="square" lIns="0" tIns="0" rIns="0" bIns="0" rtlCol="0" anchor="ctr"/>
          <a:lstStyle/>
          <a:p>
            <a:pPr algn="ctr" indent="0" marL="0">
              <a:buNone/>
            </a:pPr>
            <a:r>
              <a:rPr lang="en-US" sz="1050" b="1" spc="50" kern="0" dirty="0">
                <a:solidFill>
                  <a:schemeClr val="accent3"/>
                </a:solidFill>
              </a:rPr>
              <a:t>ПЛАН · оценки для одного разработчика, знакомого с кодом</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548640"/>
                <a:gridCol w="4023360"/>
                <a:gridCol w="3840480"/>
                <a:gridCol w="1645920"/>
                <a:gridCol w="1033272"/>
              </a:tblGrid>
              <a:tr h="0">
                <a:tc>
                  <a:txBody>
                    <a:bodyPr/>
                    <a:lstStyle/>
                    <a:p>
                      <a:pPr indent="0" marL="0">
                        <a:buNone/>
                      </a:pPr>
                      <a:r>
                        <a:rPr lang="en-US" sz="1300" b="1" dirty="0">
                          <a:solidFill>
                            <a:schemeClr val="bg1"/>
                          </a:solidFill>
                        </a:rPr>
                        <a:t>ID</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rPr>
                        <a:t>Что меняем</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rPr>
                        <a:t>Зачем пилоту</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rPr>
                        <a:t>Когда</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rPr>
                        <a:t>Оценка</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3"/>
                    </a:solidFill>
                  </a:tcPr>
                </a:tc>
              </a:tr>
              <a:tr h="0">
                <a:tc>
                  <a:txBody>
                    <a:bodyPr/>
                    <a:lstStyle/>
                    <a:p>
                      <a:pPr indent="0" marL="0">
                        <a:buNone/>
                      </a:pPr>
                      <a:r>
                        <a:rPr lang="en-US" sz="1300" b="1" dirty="0">
                          <a:solidFill>
                            <a:schemeClr val="tx1"/>
                          </a:solidFill>
                        </a:rPr>
                        <a:t>B8</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Слить готовое исправление для $ref в OpenAPI (PR #45)</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Иначе смена default у такого API пройдёт молча</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Сразу</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0,5 дня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B7</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Скрипт пробы покрытия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Иначе ворота 0 нечем мерить</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Сразу</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2 дня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B2</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"Перепроверить" для любого изменения операции</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Сегодня вне трёх классов тишина</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После согласия на пробу</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3-4 дня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B3</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Анализ по двум коммитам Git</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Основание должно вести на строку в коммите</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После согласия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2-3 дня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B1</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Отделить шумовые пробелы</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Тысячи пробелов не прочитать</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После согласия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2-3 дня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B5</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Отчёт в Markdown для PR</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Автору нужен текст, а не JSON</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После согласия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2-3 дня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B4</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Исправления людей не устаревают от чужих правок</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Иначе каждый коммит обесценивает исправления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После согласия</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3-5 дней</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b="1" dirty="0">
                          <a:solidFill>
                            <a:schemeClr val="tx1"/>
                          </a:solidFill>
                        </a:rPr>
                        <a:t>B6</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До двух форм вызова по итогам пробы</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Если клиент не проходит порог из-за формы вызова</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После пробы</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до недели</a:t>
                      </a:r>
                      <a:endParaRPr lang="en-US" sz="13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6" name="Text 3"/>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100" dirty="0">
                <a:solidFill>
                  <a:schemeClr val="accent5"/>
                </a:solidFill>
              </a:rPr>
              <a:t>Не делаем до итогов пилота: UI, ИИ-модель, MCP-адаптер, httpx, Session, другие языки, RabbitMQ, многопользовательский режим. Источник: BACKLOG.md.</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П8. Цены пока нет: её посчитаем из измерений пилота</a:t>
            </a:r>
            <a:endParaRPr lang="en-US" sz="2800" dirty="0"/>
          </a:p>
        </p:txBody>
      </p:sp>
      <p:sp>
        <p:nvSpPr>
          <p:cNvPr id="3" name="chip-hyp"/>
          <p:cNvSpPr/>
          <p:nvPr/>
        </p:nvSpPr>
        <p:spPr>
          <a:xfrm>
            <a:off x="548640" y="1463040"/>
            <a:ext cx="3761842" cy="274320"/>
          </a:xfrm>
          <a:prstGeom prst="roundRect">
            <a:avLst>
              <a:gd name="adj" fmla="val 26667"/>
            </a:avLst>
          </a:prstGeom>
          <a:solidFill>
            <a:schemeClr val="accent2">
              <a:alpha val="14000"/>
            </a:schemeClr>
          </a:solidFill>
          <a:ln w="9525">
            <a:solidFill>
              <a:schemeClr val="accent2"/>
            </a:solidFill>
            <a:prstDash val="solid"/>
          </a:ln>
        </p:spPr>
      </p:sp>
      <p:sp>
        <p:nvSpPr>
          <p:cNvPr id="4" name="Text 2"/>
          <p:cNvSpPr txBox="1"/>
          <p:nvPr/>
        </p:nvSpPr>
        <p:spPr>
          <a:xfrm>
            <a:off x="548640" y="1463040"/>
            <a:ext cx="3761842" cy="274320"/>
          </a:xfrm>
          <a:prstGeom prst="rect">
            <a:avLst/>
          </a:prstGeom>
          <a:noFill/>
          <a:ln/>
        </p:spPr>
        <p:txBody>
          <a:bodyPr wrap="square" lIns="0" tIns="0" rIns="0" bIns="0" rtlCol="0" anchor="ctr"/>
          <a:lstStyle/>
          <a:p>
            <a:pPr algn="ctr" indent="0" marL="0">
              <a:buNone/>
            </a:pPr>
            <a:r>
              <a:rPr lang="en-US" sz="1050" b="1" spc="50" kern="0" dirty="0">
                <a:solidFill>
                  <a:schemeClr val="accent2"/>
                </a:solidFill>
              </a:rPr>
              <a:t>ГИПОТЕЗА · оценки до замера; цена не назначена</a:t>
            </a:r>
            <a:endParaRPr lang="en-US" sz="1050" dirty="0"/>
          </a:p>
        </p:txBody>
      </p:sp>
      <p:sp>
        <p:nvSpPr>
          <p:cNvPr id="5" name="cost"/>
          <p:cNvSpPr/>
          <p:nvPr/>
        </p:nvSpPr>
        <p:spPr>
          <a:xfrm>
            <a:off x="548640" y="1965960"/>
            <a:ext cx="5364328" cy="1828800"/>
          </a:xfrm>
          <a:prstGeom prst="roundRect">
            <a:avLst>
              <a:gd name="adj" fmla="val 5000"/>
            </a:avLst>
          </a:prstGeom>
          <a:solidFill>
            <a:schemeClr val="bg2"/>
          </a:solidFill>
          <a:ln w="6350">
            <a:solidFill>
              <a:schemeClr val="bg2"/>
            </a:solidFill>
            <a:prstDash val="solid"/>
          </a:ln>
        </p:spPr>
      </p:sp>
      <p:sp>
        <p:nvSpPr>
          <p:cNvPr id="6" name="Text 4"/>
          <p:cNvSpPr txBox="1"/>
          <p:nvPr/>
        </p:nvSpPr>
        <p:spPr>
          <a:xfrm>
            <a:off x="777240" y="2103120"/>
            <a:ext cx="4907128" cy="54864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около 50-75 ч</a:t>
            </a:r>
            <a:endParaRPr lang="en-US" sz="3000" dirty="0"/>
          </a:p>
        </p:txBody>
      </p:sp>
      <p:sp>
        <p:nvSpPr>
          <p:cNvPr id="7" name="Text 5"/>
          <p:cNvSpPr txBox="1"/>
          <p:nvPr/>
        </p:nvSpPr>
        <p:spPr>
          <a:xfrm>
            <a:off x="777240" y="2697480"/>
            <a:ext cx="4907128" cy="1005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нашей стороны на один пилот: проба, настройка, анализ 12 изменений, координация, итог. GPU и токены не нужны</a:t>
            </a:r>
            <a:endParaRPr lang="en-US" sz="1400" dirty="0"/>
          </a:p>
        </p:txBody>
      </p:sp>
      <p:sp>
        <p:nvSpPr>
          <p:cNvPr id="8" name="free"/>
          <p:cNvSpPr/>
          <p:nvPr/>
        </p:nvSpPr>
        <p:spPr>
          <a:xfrm>
            <a:off x="6278728" y="1965960"/>
            <a:ext cx="5364328" cy="1828800"/>
          </a:xfrm>
          <a:prstGeom prst="roundRect">
            <a:avLst>
              <a:gd name="adj" fmla="val 5000"/>
            </a:avLst>
          </a:prstGeom>
          <a:solidFill>
            <a:schemeClr val="bg2"/>
          </a:solidFill>
          <a:ln w="6350">
            <a:solidFill>
              <a:schemeClr val="bg2"/>
            </a:solidFill>
            <a:prstDash val="solid"/>
          </a:ln>
        </p:spPr>
      </p:sp>
      <p:sp>
        <p:nvSpPr>
          <p:cNvPr id="9" name="Text 7"/>
          <p:cNvSpPr txBox="1"/>
          <p:nvPr/>
        </p:nvSpPr>
        <p:spPr>
          <a:xfrm>
            <a:off x="6507328" y="2103120"/>
            <a:ext cx="4907128" cy="54864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бесплатно</a:t>
            </a:r>
            <a:endParaRPr lang="en-US" sz="3000" dirty="0"/>
          </a:p>
        </p:txBody>
      </p:sp>
      <p:sp>
        <p:nvSpPr>
          <p:cNvPr id="10" name="Text 8"/>
          <p:cNvSpPr txBox="1"/>
          <p:nvPr/>
        </p:nvSpPr>
        <p:spPr>
          <a:xfrm>
            <a:off x="6507328" y="2697480"/>
            <a:ext cx="4907128" cy="10058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для клиента. Плата это время команды и доступ к материалам. Прежняя цена 100-150 тыс. руб. отозвана</a:t>
            </a:r>
            <a:endParaRPr lang="en-US" sz="1400" dirty="0"/>
          </a:p>
        </p:txBody>
      </p:sp>
      <p:sp>
        <p:nvSpPr>
          <p:cNvPr id="11" name="Text 9"/>
          <p:cNvSpPr txBox="1"/>
          <p:nvPr/>
        </p:nvSpPr>
        <p:spPr>
          <a:xfrm>
            <a:off x="548640" y="4023360"/>
            <a:ext cx="11094415"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Как проверим цену после пилота</a:t>
            </a:r>
            <a:endParaRPr lang="en-US" sz="1600" dirty="0"/>
          </a:p>
        </p:txBody>
      </p:sp>
      <p:sp>
        <p:nvSpPr>
          <p:cNvPr id="12" name="Text 10"/>
          <p:cNvSpPr txBox="1"/>
          <p:nvPr/>
        </p:nvSpPr>
        <p:spPr>
          <a:xfrm>
            <a:off x="548640" y="4389120"/>
            <a:ext cx="11094415" cy="16459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Нижняя граница: наши тёплые часы на изменение × изменений в месяц × ставка, плюс доля подключения</a:t>
            </a:r>
            <a:endParaRPr lang="en-US" sz="1500" dirty="0"/>
          </a:p>
          <a:p>
            <a:pPr marL="203200" indent="-203200">
              <a:spcAft>
                <a:spcPts val="600"/>
              </a:spcAft>
              <a:buSzPct val="100000"/>
              <a:buChar char="•"/>
            </a:pPr>
            <a:r>
              <a:rPr lang="en-US" sz="1300" dirty="0">
                <a:solidFill>
                  <a:schemeClr val="tx1"/>
                </a:solidFill>
              </a:rPr>
              <a:t>Верхний ориентир: измеренная экономия труда клиента, (T_A1 − T_A2) × изменений в месяц × ставка клиента</a:t>
            </a:r>
            <a:endParaRPr lang="en-US" sz="1500" dirty="0"/>
          </a:p>
          <a:p>
            <a:pPr marL="203200" indent="-203200">
              <a:spcAft>
                <a:spcPts val="600"/>
              </a:spcAft>
              <a:buSzPct val="100000"/>
              <a:buChar char="•"/>
            </a:pPr>
            <a:r>
              <a:rPr lang="en-US" sz="1300" dirty="0">
                <a:solidFill>
                  <a:schemeClr val="tx1"/>
                </a:solidFill>
              </a:rPr>
              <a:t>Рабочая единица: API под наблюдением в месяц с включённым сопровождением инженером; запасная: за изменение</a:t>
            </a:r>
            <a:endParaRPr lang="en-US" sz="1500" dirty="0"/>
          </a:p>
          <a:p>
            <a:pPr marL="203200" indent="-203200">
              <a:spcAft>
                <a:spcPts val="600"/>
              </a:spcAft>
              <a:buSzPct val="100000"/>
              <a:buChar char="•"/>
            </a:pPr>
            <a:r>
              <a:rPr lang="en-US" sz="1300" dirty="0">
                <a:solidFill>
                  <a:schemeClr val="tx1"/>
                </a:solidFill>
              </a:rPr>
              <a:t>Если верхний ориентир ниже нижней границы, цену ниже затрат не ставим: автоматизируем подключение или останавливаемся</a:t>
            </a:r>
            <a:endParaRPr lang="en-US" sz="1500" dirty="0"/>
          </a:p>
        </p:txBody>
      </p:sp>
      <p:sp>
        <p:nvSpPr>
          <p:cNvPr id="13" name="Text 11"/>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Источник: ECONOMICS.md, DECISIONS.md D12.</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П9. Реестр утверждений: что подтверждено</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5760720"/>
                <a:gridCol w="1371600"/>
                <a:gridCol w="3108960"/>
                <a:gridCol w="850392"/>
              </a:tblGrid>
              <a:tr h="0">
                <a:tc>
                  <a:txBody>
                    <a:bodyPr/>
                    <a:lstStyle/>
                    <a:p>
                      <a:pPr indent="0" marL="0">
                        <a:buNone/>
                      </a:pPr>
                      <a:r>
                        <a:rPr lang="en-US" sz="1300" b="1" dirty="0">
                          <a:solidFill>
                            <a:schemeClr val="bg1"/>
                          </a:solidFill>
                        </a:rPr>
                        <a:t>Утверждение в презентации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Статус</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Источник</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ID</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r>
              <a:tr h="0">
                <a:tc>
                  <a:txBody>
                    <a:bodyPr/>
                    <a:lstStyle/>
                    <a:p>
                      <a:pPr indent="0" marL="0">
                        <a:buNone/>
                      </a:pPr>
                      <a:r>
                        <a:rPr lang="en-US" sz="1300" dirty="0">
                          <a:solidFill>
                            <a:schemeClr val="tx1"/>
                          </a:solidFill>
                        </a:rPr>
                        <a:t>Механизм на стенде: 250 → 100 → 250, 5 показов, 20 проверок</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DEPLOY 22.10, приёмка ВМ</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C10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Проверку запускает оператор, это не независимое подтверждение</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DEPLOY; FINDINGS F2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C11</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Основание: SHA-256 файла и строки, сверка при чтении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tests/graph; EVIDENCE O13</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C13</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Неизвестный default даёт "перепроверить", а не тишину</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FINDINGS F1, 5d7ee0f</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C15</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Анализ: 3,2 с на 1000 файлов, 28 с на 9000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ARCH MEASUREMENTS §2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C17</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Модель: 2 из 6 полных циклов, контроль не пройден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BATCH1</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C20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Модель не добавляет связей сверх статического анализа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FINDINGS F7, L2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C21</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Распознаёт только requests с адресом строкой или константой</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discovery.py; EVIDENCE O1-O2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C25-26</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Классифицирует три вида изменений</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engine.py; EVIDENCE O3</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C27</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На реальных репозиториях 0 связей, почти все пробелы шум</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ARCH MEASUREMENTS §4</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C28-29</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Внешних пользователей и интервью нет</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1"/>
                          </a:solidFill>
                        </a:rPr>
                        <a:t>Подтверждено</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EVIDENCE O15</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C32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4" name="Text 1"/>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Полный реестр из 52 утверждений с допустимым способом использования: docs/product/pilot/presentation/CLAIMS.md.</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П10. Реестр утверждений: гипотезы и план</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5760720"/>
                <a:gridCol w="1371600"/>
                <a:gridCol w="3108960"/>
                <a:gridCol w="850392"/>
              </a:tblGrid>
              <a:tr h="0">
                <a:tc>
                  <a:txBody>
                    <a:bodyPr/>
                    <a:lstStyle/>
                    <a:p>
                      <a:pPr indent="0" marL="0">
                        <a:buNone/>
                      </a:pPr>
                      <a:r>
                        <a:rPr lang="en-US" sz="1300" b="1" dirty="0">
                          <a:solidFill>
                            <a:schemeClr val="bg1"/>
                          </a:solidFill>
                        </a:rPr>
                        <a:t>Утверждение в презентации</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Статус</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Источник</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ID</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r>
              <a:tr h="0">
                <a:tc>
                  <a:txBody>
                    <a:bodyPr/>
                    <a:lstStyle/>
                    <a:p>
                      <a:pPr indent="0" marL="0">
                        <a:buNone/>
                      </a:pPr>
                      <a:r>
                        <a:rPr lang="en-US" sz="1300" dirty="0">
                          <a:solidFill>
                            <a:schemeClr val="tx1"/>
                          </a:solidFill>
                        </a:rPr>
                        <a:t>Ситуация и способы поиска у клиента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2"/>
                          </a:solidFill>
                        </a:rPr>
                        <a:t>Гипотеза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OFFER "Рабочая ситуация"</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C01-02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Ответ агента не воспроизводим и не ограничен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2"/>
                          </a:solidFill>
                        </a:rPr>
                        <a:t>Гипотеза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EVIDENCE I1, I2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C07</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Молчаливый пропуск дороже ложного предупреждения</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2"/>
                          </a:solidFill>
                        </a:rPr>
                        <a:t>Гипотеза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PROTOCOL §7</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C04</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Вклад клиента 12-16 ч, наш 50-75 ч</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2"/>
                          </a:solidFill>
                        </a:rPr>
                        <a:t>Гипотеза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OFFER; ECONOMICS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C44-45</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Интерфейс трудно понять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2"/>
                          </a:solidFill>
                        </a:rPr>
                        <a:t>Гипотеза</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EVIDENCE I3, UX-аудит</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C31</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Отчёт в Markdown, привязка к коммитам, "перепроверить" для любого изменения</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3"/>
                          </a:solidFill>
                        </a:rPr>
                        <a:t>План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BACKLOG B2, B3, B5</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C35-37</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12 изменений, 3 ветки, слепой эталон, 6 недель</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3"/>
                          </a:solidFill>
                        </a:rPr>
                        <a:t>План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OFFER; PROTOCOL</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C39-40</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Проба покрытия с порогом 0,5</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3"/>
                          </a:solidFill>
                        </a:rPr>
                        <a:t>План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PROTOCOL §2; D7</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C41</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Критерии: FN_A2 ≤ FN_A1, T_A2 ≤ 0,8 × T_A1</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3"/>
                          </a:solidFill>
                        </a:rPr>
                        <a:t>План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PROTOCOL §8; D8</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C42</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Модель выключена, код не покидает контур</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3"/>
                          </a:solidFill>
                        </a:rPr>
                        <a:t>План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D5, D13</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C24</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300" dirty="0">
                          <a:solidFill>
                            <a:schemeClr val="tx1"/>
                          </a:solidFill>
                        </a:rPr>
                        <a:t>Пилот бесплатный, цена после измерений</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b="1" dirty="0">
                          <a:solidFill>
                            <a:schemeClr val="accent3"/>
                          </a:solidFill>
                        </a:rPr>
                        <a:t>План</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tx1"/>
                          </a:solidFill>
                        </a:rPr>
                        <a:t>D12; ECONOMICS</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300" dirty="0">
                          <a:solidFill>
                            <a:schemeClr val="accent5"/>
                          </a:solidFill>
                        </a:rPr>
                        <a:t>C46</a:t>
                      </a:r>
                      <a:endParaRPr lang="en-US" sz="1300" dirty="0"/>
                    </a:p>
                  </a:txBody>
                  <a:tcPr marL="73152" marR="73152" marT="45720" marB="45720"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4" name="Text 1"/>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Полный реестр из 52 утверждений с допустимым способом использования: docs/product/pilot/presentation/CLAIMS.md.</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1005840"/>
          </a:xfrm>
          <a:prstGeom prst="rect">
            <a:avLst/>
          </a:prstGeom>
          <a:noFill/>
          <a:ln/>
        </p:spPr>
        <p:txBody>
          <a:bodyPr wrap="square" lIns="0" tIns="0" rIns="0" bIns="0" rtlCol="0" anchor="t"/>
          <a:lstStyle/>
          <a:p>
            <a:pPr algn="l" indent="0" marL="0">
              <a:buNone/>
            </a:pPr>
            <a:r>
              <a:rPr lang="en-US" sz="2800" b="1" dirty="0">
                <a:solidFill>
                  <a:schemeClr val="tx2"/>
                </a:solidFill>
              </a:rPr>
              <a:t>П11. Источники и их состояние на 24.10.2026</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291840"/>
                <a:gridCol w="4023360"/>
                <a:gridCol w="3776472"/>
              </a:tblGrid>
              <a:tr h="0">
                <a:tc>
                  <a:txBody>
                    <a:bodyPr/>
                    <a:lstStyle/>
                    <a:p>
                      <a:pPr indent="0" marL="0">
                        <a:buNone/>
                      </a:pPr>
                      <a:r>
                        <a:rPr lang="en-US" sz="1200" b="1" dirty="0">
                          <a:solidFill>
                            <a:schemeClr val="bg1"/>
                          </a:solidFill>
                        </a:rPr>
                        <a:t>Материал</a:t>
                      </a:r>
                      <a:endParaRPr lang="en-US" sz="12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200" b="1" dirty="0">
                          <a:solidFill>
                            <a:schemeClr val="bg1"/>
                          </a:solidFill>
                        </a:rPr>
                        <a:t>Где лежит</a:t>
                      </a:r>
                      <a:endParaRPr lang="en-US" sz="12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c>
                  <a:txBody>
                    <a:bodyPr/>
                    <a:lstStyle/>
                    <a:p>
                      <a:pPr indent="0" marL="0">
                        <a:buNone/>
                      </a:pPr>
                      <a:r>
                        <a:rPr lang="en-US" sz="1200" b="1" dirty="0">
                          <a:solidFill>
                            <a:schemeClr val="bg1"/>
                          </a:solidFill>
                        </a:rPr>
                        <a:t>Состояние</a:t>
                      </a:r>
                      <a:endParaRPr lang="en-US" sz="120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solidFill>
                      <a:schemeClr val="accent5"/>
                    </a:solidFill>
                  </a:tcPr>
                </a:tc>
              </a:tr>
              <a:tr h="0">
                <a:tc>
                  <a:txBody>
                    <a:bodyPr/>
                    <a:lstStyle/>
                    <a:p>
                      <a:pPr indent="0" marL="0">
                        <a:buNone/>
                      </a:pPr>
                      <a:r>
                        <a:rPr lang="en-US" sz="1250" dirty="0">
                          <a:solidFill>
                            <a:schemeClr val="tx1"/>
                          </a:solidFill>
                        </a:rPr>
                        <a:t>Предложение пилота, протокол, решения, экономика, backlog</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docs/product/pilot/</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tx1"/>
                          </a:solidFill>
                        </a:rPr>
                        <a:t>Ветка docs/pilot-proposal, PR #47 открыт; решения в статусе "Предложено"</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Отчёт установки демо и скриншоты</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docs/agent-graph-demo/deployments/2026-10-22/</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tx1"/>
                          </a:solidFill>
                        </a:rPr>
                        <a:t>main, PR #38 слит</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Аудит интеграции PR (F1-F9, L1-L8)</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docs/audits/pr-integration/</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tx1"/>
                          </a:solidFill>
                        </a:rPr>
                        <a:t>main, PR #43 слит</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Модельная серия, пачка 1</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experiments/evidence_refs_v2/runs/2026-10-22-batch1/</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tx1"/>
                          </a:solidFill>
                        </a:rPr>
                        <a:t>main, PR #35 слит</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Технический аудит архитектуры и замеры</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docs/audits/architecture/</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tx1"/>
                          </a:solidFill>
                        </a:rPr>
                        <a:t>Ветка docs/architecture-audit, PR #44 открыт</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UX-аудит</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docs/audits/ux/</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accent4"/>
                          </a:solidFill>
                        </a:rPr>
                        <a:t>В удалённом репозитории нет; вывод взят из пересказа в EVIDENCE.md (I3)</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Исследование Ontonet</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docs/research/ontonet/</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accent4"/>
                          </a:solidFill>
                        </a:rPr>
                        <a:t>Не опубликовано; выводы взяты из пересказа в EVIDENCE.md (I1, I2, I5)</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r h="0">
                <a:tc>
                  <a:txBody>
                    <a:bodyPr/>
                    <a:lstStyle/>
                    <a:p>
                      <a:pPr indent="0" marL="0">
                        <a:buNone/>
                      </a:pPr>
                      <a:r>
                        <a:rPr lang="en-US" sz="1250" dirty="0">
                          <a:solidFill>
                            <a:schemeClr val="tx1"/>
                          </a:solidFill>
                        </a:rPr>
                        <a:t>Код ядра</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src/agent_graph/discovery.py, engine.py</a:t>
                      </a:r>
                      <a:endParaRPr lang="en-US" sz="1050" dirty="0">
                        <a:latin typeface="Consolas" charset="0"/>
                        <a:ea typeface="Consolas" charset="0"/>
                        <a:cs typeface="Consolas" charset="0"/>
                      </a:endParaRPr>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c>
                  <a:txBody>
                    <a:bodyPr/>
                    <a:lstStyle/>
                    <a:p>
                      <a:pPr indent="0" marL="0">
                        <a:buNone/>
                      </a:pPr>
                      <a:r>
                        <a:rPr lang="en-US" sz="1250" dirty="0">
                          <a:solidFill>
                            <a:schemeClr val="tx1"/>
                          </a:solidFill>
                        </a:rPr>
                        <a:t>main 8f010cf</a:t>
                      </a:r>
                      <a:endParaRPr lang="en-US" sz="1250" dirty="0"/>
                    </a:p>
                  </a:txBody>
                  <a:tcPr marL="73152" marR="73152" marT="36576" marB="36576" anchor="ctr">
                    <a:lnL w="9525" cap="flat" cmpd="sng" algn="ctr">
                      <a:solidFill>
                        <a:srgbClr val="C9D6D1"/>
                      </a:solidFill>
                      <a:prstDash val="solid"/>
                      <a:round/>
                      <a:headEnd type="none" w="med" len="med"/>
                      <a:tailEnd type="none" w="med" len="med"/>
                    </a:lnL>
                    <a:lnR w="9525" cap="flat" cmpd="sng" algn="ctr">
                      <a:solidFill>
                        <a:srgbClr val="C9D6D1"/>
                      </a:solidFill>
                      <a:prstDash val="solid"/>
                      <a:round/>
                      <a:headEnd type="none" w="med" len="med"/>
                      <a:tailEnd type="none" w="med" len="med"/>
                    </a:lnR>
                    <a:lnT w="9525" cap="flat" cmpd="sng" algn="ctr">
                      <a:solidFill>
                        <a:srgbClr val="C9D6D1"/>
                      </a:solidFill>
                      <a:prstDash val="solid"/>
                      <a:round/>
                      <a:headEnd type="none" w="med" len="med"/>
                      <a:tailEnd type="none" w="med" len="med"/>
                    </a:lnT>
                    <a:lnB w="9525" cap="flat" cmpd="sng" algn="ctr">
                      <a:solidFill>
                        <a:srgbClr val="C9D6D1"/>
                      </a:solidFill>
                      <a:prstDash val="solid"/>
                      <a:round/>
                      <a:headEnd type="none" w="med" len="med"/>
                      <a:tailEnd type="none" w="med" len="med"/>
                    </a:lnB>
                  </a:tcPr>
                </a:tc>
              </a:tr>
            </a:tbl>
          </a:graphicData>
        </a:graphic>
      </p:graphicFrame>
      <p:sp>
        <p:nvSpPr>
          <p:cNvPr id="4" name="Text 1"/>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Подробнее, с командами для проверки чисел: docs/product/pilot/presentation/SOURCES.md.</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Pilot proof">
      <a:dk1>
        <a:srgbClr val="1E2B28"/>
      </a:dk1>
      <a:lt1>
        <a:srgbClr val="FFFFFF"/>
      </a:lt1>
      <a:dk2>
        <a:srgbClr val="12352E"/>
      </a:dk2>
      <a:lt2>
        <a:srgbClr val="EEF3F1"/>
      </a:lt2>
      <a:accent1>
        <a:srgbClr val="1F6B57"/>
      </a:accent1>
      <a:accent2>
        <a:srgbClr val="9A5B0F"/>
      </a:accent2>
      <a:accent3>
        <a:srgbClr val="34557A"/>
      </a:accent3>
      <a:accent4>
        <a:srgbClr val="B42318"/>
      </a:accent4>
      <a:accent5>
        <a:srgbClr val="5E6E6A"/>
      </a:accent5>
      <a:accent6>
        <a:srgbClr val="9CC5B5"/>
      </a:accent6>
      <a:hlink>
        <a:srgbClr val="1F6B57"/>
      </a:hlink>
      <a:folHlink>
        <a:srgbClr val="34557A"/>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Проверяемый список потребителей для изменений внутреннего API</dc:title>
  <dc:subject>Предложение сопровождаемого пилота</dc:subject>
  <dc:creator>rengalaxies/agent</dc:creator>
  <cp:lastModifiedBy>rengalaxies/agent</cp:lastModifiedBy>
  <cp:revision>1</cp:revision>
  <dcterms:created xsi:type="dcterms:W3CDTF">2026-10-24T11:09:13Z</dcterms:created>
  <dcterms:modified xsi:type="dcterms:W3CDTF">2026-10-24T11:09:13Z</dcterms:modified>
</cp:coreProperties>
</file>